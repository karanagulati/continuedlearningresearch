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3514887-1105-4c14-f003-faba63215831}">
          <p14:sldIdLst>
            <p14:sldId id="256"/>
            <p14:sldId id="257"/>
            <p14:sldId id="258"/>
            <p14:sldId id="259"/>
            <p14:sldId id="260"/>
          </p14:sldIdLst>
        </p14:section>
        <p14:section name="Research questions" id="{f74b0310-9fa5-36a5-e1d7-375f363f8a32}">
          <p14:sldIdLst>
            <p14:sldId id="261"/>
          </p14:sldIdLst>
        </p14:section>
        <p14:section name="Methods" id="{2f4a84d8-1b54-f17a-aefc-37bdc7172b06}">
          <p14:sldIdLst>
            <p14:sldId id="262"/>
            <p14:sldId id="263"/>
            <p14:sldId id="264"/>
          </p14:sldIdLst>
        </p14:section>
        <p14:section name="Expected results" id="{924af267-9f26-bc19-cd10-ea1203a54561}">
          <p14:sldIdLst>
            <p14:sldId id="265"/>
          </p14:sldIdLst>
        </p14:section>
        <p14:section name="Conclusions" id="{6b5b7992-69fe-9aff-7573-674e3a955a81}">
          <p14:sldIdLst>
            <p14:sldId id="266"/>
          </p14:sldIdLst>
        </p14:section>
        <p14:section name="Backup" id="{95ae57a8-d189-541c-36fd-3019c8f197c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777777"/>
                </a:solidFill>
                <a:latin typeface="+mn-lt"/>
              </a:defRPr>
            </a:pPr>
            <a:r>
              <a:rPr sz="1400" b="0" i="0" u="none" strike="noStrike">
                <a:solidFill>
                  <a:srgbClr val="777777"/>
                </a:solidFill>
                <a:latin typeface="+mn-lt"/>
              </a:rPr>
              <a:t>Share of decisive rapid games (%)</a:t>
            </a:r>
          </a:p>
        </c:rich>
      </c:tx>
      <c:layout/>
      <c:overlay val="0"/>
    </c:title>
    <c:autoTitleDeleted val="0"/>
    <c:plotArea>
      <c:layout/>
      <c:barChart>
        <c:barDir val="col"/>
        <c:grouping val="clustered"/>
        <c:varyColors val="0"/>
        <c:ser>
          <c:idx val="0"/>
          <c:order val="0"/>
          <c:tx>
            <c:strRef>
              <c:f>Sheet1!$B$1</c:f>
              <c:strCache>
                <c:ptCount val="1"/>
                <c:pt idx="0">
                  <c:v>Share of decisive rapid games</c:v>
                </c:pt>
              </c:strCache>
            </c:strRef>
          </c:tx>
          <c:spPr>
            <a:solidFill>
              <a:srgbClr val="C27C0E"/>
            </a:solidFill>
            <a:effectLst/>
          </c:spPr>
          <c:invertIfNegative val="0"/>
          <c:dLbls>
            <c:numFmt formatCode="0&quot;%&quot;" sourceLinked="0"/>
            <c:txPr>
              <a:bodyPr/>
              <a:lstStyle/>
              <a:p>
                <a:pPr>
                  <a:defRPr b="0" i="0" strike="noStrike" sz="1600" u="none">
                    <a:solidFill>
                      <a:srgbClr val="2D2D2D"/>
                    </a:solidFill>
                    <a:latin typeface="+mn-lt"/>
                  </a:defRPr>
                </a:pPr>
              </a:p>
            </c:txPr>
            <c:showLegendKey val="0"/>
            <c:showVal val="1"/>
            <c:showCatName val="0"/>
            <c:showSerName val="0"/>
            <c:showPercent val="0"/>
            <c:showBubbleSize val="0"/>
            <c:showLeaderLines val="0"/>
          </c:dLbls>
          <c:dPt>
            <c:idx val="0"/>
            <c:invertIfNegative val="0"/>
            <c:bubble3D val="0"/>
            <c:spPr>
              <a:solidFill>
                <a:srgbClr val="C27C0E"/>
              </a:solidFill>
              <a:effectLst/>
            </c:spPr>
          </c:dPt>
          <c:dPt>
            <c:idx val="1"/>
            <c:invertIfNegative val="0"/>
            <c:bubble3D val="0"/>
            <c:spPr>
              <a:solidFill>
                <a:srgbClr val="2E75B6"/>
              </a:solidFill>
              <a:effectLst/>
            </c:spPr>
          </c:dPt>
          <c:dPt>
            <c:idx val="2"/>
            <c:invertIfNegative val="0"/>
            <c:bubble3D val="0"/>
            <c:spPr>
              <a:solidFill>
                <a:srgbClr val="2E75B6"/>
              </a:solidFill>
              <a:effectLst/>
            </c:spPr>
          </c:dPt>
          <c:cat>
            <c:multiLvlStrRef>
              <c:f>Sheet1!$A$2:$A$4</c:f>
              <c:multiLvlStrCache>
                <c:ptCount val="3"/>
                <c:lvl>
                  <c:pt idx="0">
                    <c:v>On time</c:v>
                  </c:pt>
                  <c:pt idx="1">
                    <c:v>Checkmate</c:v>
                  </c:pt>
                  <c:pt idx="2">
                    <c:v>Resignation</c:v>
                  </c:pt>
                </c:lvl>
              </c:multiLvlStrCache>
            </c:multiLvlStrRef>
          </c:cat>
          <c:val>
            <c:numRef>
              <c:f>Sheet1!$B$2:$B$4</c:f>
              <c:numCache>
                <c:formatCode>General</c:formatCode>
                <c:ptCount val="3"/>
                <c:pt idx="0">
                  <c:v>11.4</c:v>
                </c:pt>
                <c:pt idx="1">
                  <c:v>30</c:v>
                </c:pt>
                <c:pt idx="2">
                  <c:v>58.6</c:v>
                </c:pt>
              </c:numCache>
            </c:numRef>
          </c:val>
        </c:ser>
        <c:dLbls>
          <c:numFmt formatCode="0&quot;%&quot;" sourceLinked="0"/>
          <c:txPr>
            <a:bodyPr/>
            <a:lstStyle/>
            <a:p>
              <a:pPr>
                <a:defRPr b="0" i="0" strike="noStrike" sz="1600" u="none">
                  <a:solidFill>
                    <a:srgbClr val="2D2D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2D2D2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has two parts. First, a study I have already run on how the way you win a chess game affects your next game. Second, a proposal for a sharper follow-up study, which is what I would like approval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player's profile all three kinds of win look identical. But about one win in nine comes on time, and in one in five of those, Stockfish says the winner was actually losing on the board when the opponent's clock ran out. That is a very different experience from delivering checkmate.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recent studies are closest. Gee and colleagues found almost no winner effect on the chance of winning the next game, and in their own future-work section they point out that wins on time might affect later play differently. Chowdhary and colleagues found that wins and losses come in streaks. Neither looked at how well the next game was actually played, or separated the kinds of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about six thousand next games after each kind of win, matched on rating and time control, and adjusted for opponent strength and colour. Every difference is under one centipawn, which is a hundredth of a pawn per move. All three confidence intervals sit inside the plus or minus 3 centipawn zone I fixed in advance, so the preregistered prediction, that a win is a win, is supported. None of the seven robustness checks found a significant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main analysis I split the time wins by whether the winner was losing on the board. The lucky winners played about 2.2 centipawns worse next game. But the interval includes zero, the group is small, and I only looked because of the main result. So this is a hint, not a finding, and it needs a proper test on fresh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The first repeats study 1 on new data, to see whether the null result replicates. The second is new: compare winners on time who were losing on the board with winners on time who were not. I predict the lucky ones play worse, based on the hint, but the test is two-tailed, so better play would also be detected and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already built and tested from study 1. The main change is the data: the rest of August and September 2026, leaving out the nine days study 1 used, so the new study is fully independent. For the lucky-escape test, Stockfish also scores the final position of every winning game, to see whether the winner was losing when the clock ran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comparison is lucky against deserved time wins. Both are wins on time, so the clock situation is the same, and the only difference is whether the winner deserved it. Checkmate and resignation stay in as reference groups for RQ1. Every group is drawn to have the same mix of ratings and time controls, so skill differences cannot explain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is the same as study 1: a regression that compares groups while holding rating, opponent strength, colour and time control fixed. Both hypotheses and the decision rules will be written down and committed before any game is scored. The noise level measured in study 1 says 13,000 pairs per group are needed to detect a 2 centipawn difference, which is about nine and a half hours of engine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test where every outcome is useful. If lucky winners play worse, luck has an after-effect. If they play better, a near-loss sharpens players. If there is no difference, the most intuitive story about lucky wins is ruled out on a large sample. For RQ1, study 1 suggests the null result should replicate.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first study found that the way you win does not change how accurately you play next. The open question is luck, and I have a plan to test it properly on fresh data. I would like approval to go ahead. Questions and feedback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7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863840" cy="15544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640080" y="2834640"/>
            <a:ext cx="7863840" cy="109728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F4E7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4572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7863840" cy="1554480"/>
          </a:xfrm>
          <a:prstGeom prst="rect">
            <a:avLst/>
          </a:prstGeom>
          <a:noFill/>
          <a:ln/>
        </p:spPr>
        <p:txBody>
          <a:bodyPr wrap="square" lIns="0" tIns="0" rIns="0" bIns="0" rtlCol="0" anchor="t"/>
          <a:lstStyle/>
          <a:p>
            <a:pPr algn="l" indent="0" marL="0">
              <a:buNone/>
            </a:pPr>
            <a:r>
              <a:rPr lang="en-US" sz="3400" b="1" dirty="0">
                <a:solidFill>
                  <a:schemeClr val="bg1"/>
                </a:solidFill>
              </a:rPr>
              <a:t>Does how you win change how you play next?</a:t>
            </a:r>
            <a:endParaRPr lang="en-US" sz="3400" dirty="0"/>
          </a:p>
        </p:txBody>
      </p:sp>
      <p:sp>
        <p:nvSpPr>
          <p:cNvPr id="3" name="Text 0"/>
          <p:cNvSpPr/>
          <p:nvPr>
            <p:ph idx="101" type="body" hasCustomPrompt="1"/>
          </p:nvPr>
        </p:nvSpPr>
        <p:spPr>
          <a:xfrm>
            <a:off x="640080" y="2834640"/>
            <a:ext cx="7863840" cy="1097280"/>
          </a:xfrm>
          <a:prstGeom prst="rect">
            <a:avLst/>
          </a:prstGeom>
          <a:noFill/>
          <a:ln/>
        </p:spPr>
        <p:txBody>
          <a:bodyPr wrap="square" lIns="0" tIns="0" rIns="0" bIns="0" rtlCol="0" anchor="t"/>
          <a:lstStyle/>
          <a:p>
            <a:pPr algn="l" indent="0" marL="0">
              <a:buNone/>
            </a:pPr>
            <a:r>
              <a:rPr lang="en-US" sz="1800" dirty="0">
                <a:solidFill>
                  <a:schemeClr val="accent5"/>
                </a:solidFill>
              </a:rPr>
              <a:t>Evidence from 18,002 online chess games, and a proposal to test undeserved wins</a:t>
            </a:r>
            <a:endParaRPr lang="en-US" sz="1800" dirty="0"/>
          </a:p>
          <a:p>
            <a:pPr algn="l" indent="0" marL="0">
              <a:buNone/>
            </a:pPr>
            <a:r>
              <a:rPr lang="en-US" sz="1800" dirty="0">
                <a:solidFill>
                  <a:schemeClr val="accent5"/>
                </a:solidFill>
              </a:rPr>
              <a:t> </a:t>
            </a:r>
            <a:endParaRPr lang="en-US" sz="1800" dirty="0"/>
          </a:p>
          <a:p>
            <a:pPr algn="l" indent="0" marL="0">
              <a:buNone/>
            </a:pPr>
            <a:r>
              <a:rPr lang="en-US" sz="1800" dirty="0">
                <a:solidFill>
                  <a:srgbClr val="A0BBDD"/>
                </a:solidFill>
              </a:rPr>
              <a:t>Karana Gulati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Wins on time, by checkmate and by resignation count the same, but they are different events</a:t>
            </a:r>
            <a:endParaRPr lang="en-US" sz="2600" dirty="0"/>
          </a:p>
        </p:txBody>
      </p:sp>
      <p:graphicFrame>
        <p:nvGraphicFramePr>
          <p:cNvPr id="3" name="Chart 0" descr=""/>
          <p:cNvGraphicFramePr/>
          <p:nvPr/>
        </p:nvGraphicFramePr>
        <p:xfrm>
          <a:off x="457200" y="1188720"/>
          <a:ext cx="4754880" cy="3291840"/>
        </p:xfrm>
        <a:graphic xmlns:a="http://schemas.openxmlformats.org/drawingml/2006/main">
          <a:graphicData uri="http://schemas.openxmlformats.org/drawingml/2006/chart">
            <c:chart xmlns:c="http://schemas.openxmlformats.org/drawingml/2006/chart" r:id="rId1"/>
          </a:graphicData>
        </a:graphic>
      </p:graphicFrame>
      <p:sp>
        <p:nvSpPr>
          <p:cNvPr id="4" name="callout lucky"/>
          <p:cNvSpPr/>
          <p:nvPr/>
        </p:nvSpPr>
        <p:spPr>
          <a:xfrm>
            <a:off x="5486400" y="1371600"/>
            <a:ext cx="3200400" cy="1600200"/>
          </a:xfrm>
          <a:prstGeom prst="roundRect">
            <a:avLst>
              <a:gd name="adj" fmla="val 4571"/>
            </a:avLst>
          </a:prstGeom>
          <a:solidFill>
            <a:srgbClr val="FFF2CC"/>
          </a:solidFill>
          <a:ln w="12700">
            <a:solidFill>
              <a:srgbClr val="C27C0E"/>
            </a:solidFill>
            <a:prstDash val="solid"/>
          </a:ln>
        </p:spPr>
      </p:sp>
      <p:sp>
        <p:nvSpPr>
          <p:cNvPr id="5" name="Text 2"/>
          <p:cNvSpPr txBox="1"/>
          <p:nvPr/>
        </p:nvSpPr>
        <p:spPr>
          <a:xfrm>
            <a:off x="5669280" y="1481328"/>
            <a:ext cx="2834640" cy="1417320"/>
          </a:xfrm>
          <a:prstGeom prst="rect">
            <a:avLst/>
          </a:prstGeom>
          <a:noFill/>
          <a:ln/>
        </p:spPr>
        <p:txBody>
          <a:bodyPr wrap="square" lIns="0" tIns="0" rIns="0" bIns="0" rtlCol="0" anchor="t"/>
          <a:lstStyle/>
          <a:p>
            <a:pPr indent="0" marL="0">
              <a:buNone/>
            </a:pPr>
            <a:r>
              <a:rPr lang="en-US" sz="3600" b="1" dirty="0">
                <a:solidFill>
                  <a:srgbClr val="C27C0E"/>
                </a:solidFill>
                <a:latin typeface="Arial" pitchFamily="34" charset="0"/>
                <a:ea typeface="Arial" pitchFamily="34" charset="-122"/>
                <a:cs typeface="Arial" pitchFamily="34" charset="-120"/>
              </a:rPr>
              <a:t>21%</a:t>
            </a:r>
            <a:endParaRPr lang="en-US" sz="3600" dirty="0"/>
          </a:p>
          <a:p>
            <a:pPr indent="0" marL="0">
              <a:buNone/>
            </a:pPr>
            <a:r>
              <a:rPr lang="en-US" sz="1600" dirty="0">
                <a:solidFill>
                  <a:schemeClr val="tx1"/>
                </a:solidFill>
                <a:latin typeface="Arial" pitchFamily="34" charset="0"/>
                <a:ea typeface="Arial" pitchFamily="34" charset="-122"/>
                <a:cs typeface="Arial" pitchFamily="34" charset="-120"/>
              </a:rPr>
              <a:t>of winners on time were losing on the board when the clock ran out</a:t>
            </a:r>
            <a:endParaRPr lang="en-US" sz="3600" dirty="0"/>
          </a:p>
        </p:txBody>
      </p:sp>
      <p:sp>
        <p:nvSpPr>
          <p:cNvPr id="6" name="Text 3"/>
          <p:cNvSpPr txBox="1"/>
          <p:nvPr/>
        </p:nvSpPr>
        <p:spPr>
          <a:xfrm>
            <a:off x="5486400" y="3200400"/>
            <a:ext cx="3200400" cy="109728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A win on time can be a lucky escape. Checkmate never is.</a:t>
            </a:r>
            <a:endParaRPr lang="en-US" sz="2000" dirty="0"/>
          </a:p>
        </p:txBody>
      </p:sp>
      <p:sp>
        <p:nvSpPr>
          <p:cNvPr id="7" name="Text 4"/>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Lichess rated rapid. Shares: first 2M games of Sep 2026. 21%: 6,500 time wins from study 1, final positions scored with Stockfish 16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Earlier studies looked at results after a win, but never split wins by type or measured move quality</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377440"/>
                <a:gridCol w="4023360"/>
                <a:gridCol w="1828800"/>
              </a:tblGrid>
              <a:tr h="502920">
                <a:tc>
                  <a:txBody>
                    <a:bodyPr/>
                    <a:lstStyle/>
                    <a:p>
                      <a:pPr indent="0" marL="0">
                        <a:buNone/>
                      </a:pPr>
                      <a:r>
                        <a:rPr lang="en-US" sz="1600" b="1" dirty="0">
                          <a:solidFill>
                            <a:srgbClr val="FFFFFF"/>
                          </a:solidFill>
                          <a:latin typeface="Arial" pitchFamily="34" charset="0"/>
                          <a:ea typeface="Arial" pitchFamily="34" charset="-122"/>
                          <a:cs typeface="Arial" pitchFamily="34" charset="-120"/>
                        </a:rPr>
                        <a:t>Study</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What it measured</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Splits kinds of win?</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502920">
                <a:tc>
                  <a:txBody>
                    <a:bodyPr/>
                    <a:lstStyle/>
                    <a:p>
                      <a:pPr indent="0" marL="0">
                        <a:buNone/>
                      </a:pPr>
                      <a:r>
                        <a:rPr lang="en-US" sz="1600" dirty="0">
                          <a:solidFill>
                            <a:srgbClr val="2D2D2D"/>
                          </a:solidFill>
                          <a:latin typeface="Arial" pitchFamily="34" charset="0"/>
                          <a:ea typeface="Arial" pitchFamily="34" charset="-122"/>
                          <a:cs typeface="Arial" pitchFamily="34" charset="-120"/>
                        </a:rPr>
                        <a:t>Gee et al. (2025)</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Chance of winning the next game</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No</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600" dirty="0">
                          <a:solidFill>
                            <a:srgbClr val="2D2D2D"/>
                          </a:solidFill>
                          <a:latin typeface="Arial" pitchFamily="34" charset="0"/>
                          <a:ea typeface="Arial" pitchFamily="34" charset="-122"/>
                          <a:cs typeface="Arial" pitchFamily="34" charset="-120"/>
                        </a:rPr>
                        <a:t>Chowdhary et al. (2023)</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Streaks of wins and losses</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No</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600" b="1" dirty="0">
                          <a:solidFill>
                            <a:srgbClr val="C27C0E"/>
                          </a:solidFill>
                          <a:latin typeface="Arial" pitchFamily="34" charset="0"/>
                          <a:ea typeface="Arial" pitchFamily="34" charset="-122"/>
                          <a:cs typeface="Arial" pitchFamily="34" charset="-120"/>
                        </a:rPr>
                        <a:t>This project</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b="1" dirty="0">
                          <a:solidFill>
                            <a:srgbClr val="2D2D2D"/>
                          </a:solidFill>
                          <a:latin typeface="Arial" pitchFamily="34" charset="0"/>
                          <a:ea typeface="Arial" pitchFamily="34" charset="-122"/>
                          <a:cs typeface="Arial" pitchFamily="34" charset="-120"/>
                        </a:rPr>
                        <a:t>Engine-measured move quality in the next game</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b="1" dirty="0">
                          <a:solidFill>
                            <a:srgbClr val="C27C0E"/>
                          </a:solidFill>
                          <a:latin typeface="Arial" pitchFamily="34" charset="0"/>
                          <a:ea typeface="Arial" pitchFamily="34" charset="-122"/>
                          <a:cs typeface="Arial" pitchFamily="34" charset="-120"/>
                        </a:rPr>
                        <a:t>Yes</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3749040"/>
            <a:ext cx="8229600" cy="82296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Gee et al. found next-game effects between -0.02 and 0.03, and named wins on time as an open question.</a:t>
            </a:r>
            <a:endParaRPr lang="en-US" sz="2000" dirty="0"/>
          </a:p>
        </p:txBody>
      </p:sp>
      <p:sp>
        <p:nvSpPr>
          <p:cNvPr id="5" name="Text 2"/>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Gee, Seese, Curley &amp; Ward (2025), arXiv:2503.21713; Chowdhary, Iacopini &amp; Battiston (2023), Sci. Rep. 13:2113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Study 1: across 18,002 games, win type changed next-game accuracy by under 1 cp</a:t>
            </a:r>
            <a:endParaRPr lang="en-US" sz="2600" dirty="0"/>
          </a:p>
        </p:txBody>
      </p:sp>
      <p:sp>
        <p:nvSpPr>
          <p:cNvPr id="3" name="equivalence band"/>
          <p:cNvSpPr/>
          <p:nvPr/>
        </p:nvSpPr>
        <p:spPr>
          <a:xfrm>
            <a:off x="2937510" y="1417320"/>
            <a:ext cx="2263140" cy="1975104"/>
          </a:xfrm>
          <a:prstGeom prst="rect">
            <a:avLst/>
          </a:prstGeom>
          <a:solidFill>
            <a:srgbClr val="EBF3FA"/>
          </a:solidFill>
          <a:ln w="12700">
            <a:solidFill>
              <a:srgbClr val="EBF3FA"/>
            </a:solidFill>
            <a:prstDash val="solid"/>
          </a:ln>
        </p:spPr>
      </p:sp>
      <p:sp>
        <p:nvSpPr>
          <p:cNvPr id="4" name="Text 2"/>
          <p:cNvSpPr txBox="1"/>
          <p:nvPr/>
        </p:nvSpPr>
        <p:spPr>
          <a:xfrm>
            <a:off x="2937510" y="3739896"/>
            <a:ext cx="2263140" cy="274320"/>
          </a:xfrm>
          <a:prstGeom prst="rect">
            <a:avLst/>
          </a:prstGeom>
          <a:noFill/>
          <a:ln/>
        </p:spPr>
        <p:txBody>
          <a:bodyPr wrap="square" lIns="0" tIns="0" rIns="0" bIns="0" rtlCol="0" anchor="t"/>
          <a:lstStyle/>
          <a:p>
            <a:pPr algn="ctr" indent="0" marL="0">
              <a:buNone/>
            </a:pPr>
            <a:r>
              <a:rPr lang="en-US" sz="1300" dirty="0">
                <a:solidFill>
                  <a:srgbClr val="2E75B6"/>
                </a:solidFill>
                <a:latin typeface="Arial" pitchFamily="34" charset="0"/>
                <a:ea typeface="Arial" pitchFamily="34" charset="-122"/>
                <a:cs typeface="Arial" pitchFamily="34" charset="-120"/>
              </a:rPr>
              <a:t>equivalence zone ±3 cp</a:t>
            </a:r>
            <a:endParaRPr lang="en-US" sz="1300" dirty="0"/>
          </a:p>
        </p:txBody>
      </p:sp>
      <p:sp>
        <p:nvSpPr>
          <p:cNvPr id="5" name="zero line"/>
          <p:cNvSpPr/>
          <p:nvPr/>
        </p:nvSpPr>
        <p:spPr>
          <a:xfrm>
            <a:off x="4069080" y="1371600"/>
            <a:ext cx="0" cy="2066544"/>
          </a:xfrm>
          <a:prstGeom prst="line">
            <a:avLst/>
          </a:prstGeom>
          <a:noFill/>
          <a:ln w="12700">
            <a:solidFill>
              <a:srgbClr val="777777"/>
            </a:solidFill>
            <a:prstDash val="dash"/>
          </a:ln>
        </p:spPr>
      </p:sp>
      <p:sp>
        <p:nvSpPr>
          <p:cNvPr id="6" name="Text 4"/>
          <p:cNvSpPr txBox="1"/>
          <p:nvPr/>
        </p:nvSpPr>
        <p:spPr>
          <a:xfrm>
            <a:off x="457200" y="1563624"/>
            <a:ext cx="1965960" cy="36576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Time minus checkmate</a:t>
            </a:r>
            <a:endParaRPr lang="en-US" sz="1600" dirty="0"/>
          </a:p>
        </p:txBody>
      </p:sp>
      <p:sp>
        <p:nvSpPr>
          <p:cNvPr id="7" name="ci Time minus checkmate"/>
          <p:cNvSpPr/>
          <p:nvPr/>
        </p:nvSpPr>
        <p:spPr>
          <a:xfrm>
            <a:off x="3835222" y="1746504"/>
            <a:ext cx="1131570" cy="0"/>
          </a:xfrm>
          <a:prstGeom prst="line">
            <a:avLst/>
          </a:prstGeom>
          <a:noFill/>
          <a:ln w="31750">
            <a:solidFill>
              <a:srgbClr val="1F4E79"/>
            </a:solidFill>
            <a:prstDash val="solid"/>
          </a:ln>
        </p:spPr>
      </p:sp>
      <p:sp>
        <p:nvSpPr>
          <p:cNvPr id="8" name="estimate Time minus checkmate"/>
          <p:cNvSpPr/>
          <p:nvPr/>
        </p:nvSpPr>
        <p:spPr>
          <a:xfrm>
            <a:off x="4327855" y="1673352"/>
            <a:ext cx="146304" cy="146304"/>
          </a:xfrm>
          <a:prstGeom prst="ellipse">
            <a:avLst/>
          </a:prstGeom>
          <a:solidFill>
            <a:srgbClr val="1F4E79"/>
          </a:solidFill>
          <a:ln w="12700">
            <a:solidFill>
              <a:srgbClr val="1F4E79"/>
            </a:solidFill>
            <a:prstDash val="solid"/>
          </a:ln>
        </p:spPr>
      </p:sp>
      <p:sp>
        <p:nvSpPr>
          <p:cNvPr id="9" name="Text 7"/>
          <p:cNvSpPr txBox="1"/>
          <p:nvPr/>
        </p:nvSpPr>
        <p:spPr>
          <a:xfrm>
            <a:off x="5039944" y="1618488"/>
            <a:ext cx="548640" cy="256032"/>
          </a:xfrm>
          <a:prstGeom prst="rect">
            <a:avLst/>
          </a:prstGeom>
          <a:noFill/>
          <a:ln/>
        </p:spPr>
        <p:txBody>
          <a:bodyPr wrap="square" lIns="0" tIns="0" rIns="0" bIns="0" rtlCol="0" anchor="ctr"/>
          <a:lstStyle/>
          <a:p>
            <a:pPr algn="l" indent="0" marL="0">
              <a:buNone/>
            </a:pPr>
            <a:r>
              <a:rPr lang="en-US" sz="1300" b="1" dirty="0">
                <a:solidFill>
                  <a:srgbClr val="1F4E79"/>
                </a:solidFill>
                <a:latin typeface="Arial" pitchFamily="34" charset="0"/>
                <a:ea typeface="Arial" pitchFamily="34" charset="-122"/>
                <a:cs typeface="Arial" pitchFamily="34" charset="-120"/>
              </a:rPr>
              <a:t>+0.88</a:t>
            </a:r>
            <a:endParaRPr lang="en-US" sz="1300" dirty="0"/>
          </a:p>
        </p:txBody>
      </p:sp>
      <p:sp>
        <p:nvSpPr>
          <p:cNvPr id="10" name="Text 8"/>
          <p:cNvSpPr txBox="1"/>
          <p:nvPr/>
        </p:nvSpPr>
        <p:spPr>
          <a:xfrm>
            <a:off x="457200" y="2221992"/>
            <a:ext cx="1965960" cy="36576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Resignation minus checkmate</a:t>
            </a:r>
            <a:endParaRPr lang="en-US" sz="1600" dirty="0"/>
          </a:p>
        </p:txBody>
      </p:sp>
      <p:sp>
        <p:nvSpPr>
          <p:cNvPr id="11" name="ci Resignation minus checkmate"/>
          <p:cNvSpPr/>
          <p:nvPr/>
        </p:nvSpPr>
        <p:spPr>
          <a:xfrm>
            <a:off x="3710749" y="2404872"/>
            <a:ext cx="1139114" cy="0"/>
          </a:xfrm>
          <a:prstGeom prst="line">
            <a:avLst/>
          </a:prstGeom>
          <a:noFill/>
          <a:ln w="31750">
            <a:solidFill>
              <a:srgbClr val="1F4E79"/>
            </a:solidFill>
            <a:prstDash val="solid"/>
          </a:ln>
        </p:spPr>
      </p:sp>
      <p:sp>
        <p:nvSpPr>
          <p:cNvPr id="12" name="estimate Resignation minus checkmate"/>
          <p:cNvSpPr/>
          <p:nvPr/>
        </p:nvSpPr>
        <p:spPr>
          <a:xfrm>
            <a:off x="4207154" y="2331720"/>
            <a:ext cx="146304" cy="146304"/>
          </a:xfrm>
          <a:prstGeom prst="ellipse">
            <a:avLst/>
          </a:prstGeom>
          <a:solidFill>
            <a:srgbClr val="1F4E79"/>
          </a:solidFill>
          <a:ln w="12700">
            <a:solidFill>
              <a:srgbClr val="1F4E79"/>
            </a:solidFill>
            <a:prstDash val="solid"/>
          </a:ln>
        </p:spPr>
      </p:sp>
      <p:sp>
        <p:nvSpPr>
          <p:cNvPr id="13" name="Text 11"/>
          <p:cNvSpPr txBox="1"/>
          <p:nvPr/>
        </p:nvSpPr>
        <p:spPr>
          <a:xfrm>
            <a:off x="4923015" y="2276856"/>
            <a:ext cx="548640" cy="256032"/>
          </a:xfrm>
          <a:prstGeom prst="rect">
            <a:avLst/>
          </a:prstGeom>
          <a:noFill/>
          <a:ln/>
        </p:spPr>
        <p:txBody>
          <a:bodyPr wrap="square" lIns="0" tIns="0" rIns="0" bIns="0" rtlCol="0" anchor="ctr"/>
          <a:lstStyle/>
          <a:p>
            <a:pPr algn="l" indent="0" marL="0">
              <a:buNone/>
            </a:pPr>
            <a:r>
              <a:rPr lang="en-US" sz="1300" b="1" dirty="0">
                <a:solidFill>
                  <a:srgbClr val="1F4E79"/>
                </a:solidFill>
                <a:latin typeface="Arial" pitchFamily="34" charset="0"/>
                <a:ea typeface="Arial" pitchFamily="34" charset="-122"/>
                <a:cs typeface="Arial" pitchFamily="34" charset="-120"/>
              </a:rPr>
              <a:t>+0.56</a:t>
            </a:r>
            <a:endParaRPr lang="en-US" sz="1300" dirty="0"/>
          </a:p>
        </p:txBody>
      </p:sp>
      <p:sp>
        <p:nvSpPr>
          <p:cNvPr id="14" name="Text 12"/>
          <p:cNvSpPr txBox="1"/>
          <p:nvPr/>
        </p:nvSpPr>
        <p:spPr>
          <a:xfrm>
            <a:off x="457200" y="2880360"/>
            <a:ext cx="1965960" cy="36576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Time minus resignation</a:t>
            </a:r>
            <a:endParaRPr lang="en-US" sz="1600" dirty="0"/>
          </a:p>
        </p:txBody>
      </p:sp>
      <p:sp>
        <p:nvSpPr>
          <p:cNvPr id="15" name="ci Time minus resignation"/>
          <p:cNvSpPr/>
          <p:nvPr/>
        </p:nvSpPr>
        <p:spPr>
          <a:xfrm>
            <a:off x="3623996" y="3063240"/>
            <a:ext cx="1127798" cy="0"/>
          </a:xfrm>
          <a:prstGeom prst="line">
            <a:avLst/>
          </a:prstGeom>
          <a:noFill/>
          <a:ln w="31750">
            <a:solidFill>
              <a:srgbClr val="1F4E79"/>
            </a:solidFill>
            <a:prstDash val="solid"/>
          </a:ln>
        </p:spPr>
      </p:sp>
      <p:sp>
        <p:nvSpPr>
          <p:cNvPr id="16" name="estimate Time minus resignation"/>
          <p:cNvSpPr/>
          <p:nvPr/>
        </p:nvSpPr>
        <p:spPr>
          <a:xfrm>
            <a:off x="4112857" y="2990088"/>
            <a:ext cx="146304" cy="146304"/>
          </a:xfrm>
          <a:prstGeom prst="ellipse">
            <a:avLst/>
          </a:prstGeom>
          <a:solidFill>
            <a:srgbClr val="1F4E79"/>
          </a:solidFill>
          <a:ln w="12700">
            <a:solidFill>
              <a:srgbClr val="1F4E79"/>
            </a:solidFill>
            <a:prstDash val="solid"/>
          </a:ln>
        </p:spPr>
      </p:sp>
      <p:sp>
        <p:nvSpPr>
          <p:cNvPr id="17" name="Text 15"/>
          <p:cNvSpPr txBox="1"/>
          <p:nvPr/>
        </p:nvSpPr>
        <p:spPr>
          <a:xfrm>
            <a:off x="4824946" y="2935224"/>
            <a:ext cx="548640" cy="256032"/>
          </a:xfrm>
          <a:prstGeom prst="rect">
            <a:avLst/>
          </a:prstGeom>
          <a:noFill/>
          <a:ln/>
        </p:spPr>
        <p:txBody>
          <a:bodyPr wrap="square" lIns="0" tIns="0" rIns="0" bIns="0" rtlCol="0" anchor="ctr"/>
          <a:lstStyle/>
          <a:p>
            <a:pPr algn="l" indent="0" marL="0">
              <a:buNone/>
            </a:pPr>
            <a:r>
              <a:rPr lang="en-US" sz="1300" b="1" dirty="0">
                <a:solidFill>
                  <a:srgbClr val="1F4E79"/>
                </a:solidFill>
                <a:latin typeface="Arial" pitchFamily="34" charset="0"/>
                <a:ea typeface="Arial" pitchFamily="34" charset="-122"/>
                <a:cs typeface="Arial" pitchFamily="34" charset="-120"/>
              </a:rPr>
              <a:t>+0.31</a:t>
            </a:r>
            <a:endParaRPr lang="en-US" sz="1300" dirty="0"/>
          </a:p>
        </p:txBody>
      </p:sp>
      <p:sp>
        <p:nvSpPr>
          <p:cNvPr id="18" name="axis"/>
          <p:cNvSpPr/>
          <p:nvPr/>
        </p:nvSpPr>
        <p:spPr>
          <a:xfrm>
            <a:off x="2560320" y="3438144"/>
            <a:ext cx="3017520" cy="0"/>
          </a:xfrm>
          <a:prstGeom prst="line">
            <a:avLst/>
          </a:prstGeom>
          <a:noFill/>
          <a:ln w="12700">
            <a:solidFill>
              <a:srgbClr val="777777"/>
            </a:solidFill>
            <a:prstDash val="solid"/>
          </a:ln>
        </p:spPr>
      </p:sp>
      <p:sp>
        <p:nvSpPr>
          <p:cNvPr id="19" name="Text 17"/>
          <p:cNvSpPr txBox="1"/>
          <p:nvPr/>
        </p:nvSpPr>
        <p:spPr>
          <a:xfrm>
            <a:off x="228600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20" name="Text 18"/>
          <p:cNvSpPr txBox="1"/>
          <p:nvPr/>
        </p:nvSpPr>
        <p:spPr>
          <a:xfrm>
            <a:off x="304038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21" name="Text 19"/>
          <p:cNvSpPr txBox="1"/>
          <p:nvPr/>
        </p:nvSpPr>
        <p:spPr>
          <a:xfrm>
            <a:off x="379476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22" name="Text 20"/>
          <p:cNvSpPr txBox="1"/>
          <p:nvPr/>
        </p:nvSpPr>
        <p:spPr>
          <a:xfrm>
            <a:off x="454914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23" name="Text 21"/>
          <p:cNvSpPr txBox="1"/>
          <p:nvPr/>
        </p:nvSpPr>
        <p:spPr>
          <a:xfrm>
            <a:off x="530352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2560320" y="4005072"/>
            <a:ext cx="3017520" cy="256032"/>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Adjusted difference in next-game ACPL, cp (90% CI)</a:t>
            </a:r>
            <a:endParaRPr lang="en-US" sz="1300" dirty="0"/>
          </a:p>
        </p:txBody>
      </p:sp>
      <p:sp>
        <p:nvSpPr>
          <p:cNvPr id="25" name="Text 23"/>
          <p:cNvSpPr txBox="1"/>
          <p:nvPr/>
        </p:nvSpPr>
        <p:spPr>
          <a:xfrm>
            <a:off x="5897880" y="1234440"/>
            <a:ext cx="278892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What to take away</a:t>
            </a:r>
            <a:endParaRPr lang="en-US" sz="2000" dirty="0"/>
          </a:p>
        </p:txBody>
      </p:sp>
      <p:sp>
        <p:nvSpPr>
          <p:cNvPr id="26" name="Text 24"/>
          <p:cNvSpPr txBox="1"/>
          <p:nvPr/>
        </p:nvSpPr>
        <p:spPr>
          <a:xfrm>
            <a:off x="5897880" y="1691640"/>
            <a:ext cx="2788920" cy="26517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All three intervals sit inside ±3 cp</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Largest gap ≈ 1% of typical loss</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Preregistered prediction supported</a:t>
            </a:r>
            <a:endParaRPr lang="en-US" sz="2000" dirty="0"/>
          </a:p>
        </p:txBody>
      </p:sp>
      <p:sp>
        <p:nvSpPr>
          <p:cNvPr id="27" name="Text 25"/>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Lichess rated rapid, 1–5 Aug and 1–5 Sep 2026; Stockfish 16, depth 15, moves 15–30; ACPL = average centipawn loss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Exploratory hint: winners who were losing on the board played 2.2 cp worse in their next game</a:t>
            </a:r>
            <a:endParaRPr lang="en-US" sz="2600" dirty="0"/>
          </a:p>
        </p:txBody>
      </p:sp>
      <p:sp>
        <p:nvSpPr>
          <p:cNvPr id="3" name="zero line"/>
          <p:cNvSpPr/>
          <p:nvPr/>
        </p:nvSpPr>
        <p:spPr>
          <a:xfrm>
            <a:off x="3314700" y="1371600"/>
            <a:ext cx="0" cy="2066544"/>
          </a:xfrm>
          <a:prstGeom prst="line">
            <a:avLst/>
          </a:prstGeom>
          <a:noFill/>
          <a:ln w="12700">
            <a:solidFill>
              <a:srgbClr val="777777"/>
            </a:solidFill>
            <a:prstDash val="dash"/>
          </a:ln>
        </p:spPr>
      </p:sp>
      <p:sp>
        <p:nvSpPr>
          <p:cNvPr id="4" name="Text 2"/>
          <p:cNvSpPr txBox="1"/>
          <p:nvPr/>
        </p:nvSpPr>
        <p:spPr>
          <a:xfrm>
            <a:off x="457200" y="1563624"/>
            <a:ext cx="1965960" cy="36576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Resignation</a:t>
            </a:r>
            <a:endParaRPr lang="en-US" sz="1600" dirty="0"/>
          </a:p>
        </p:txBody>
      </p:sp>
      <p:sp>
        <p:nvSpPr>
          <p:cNvPr id="5" name="ci Resignation"/>
          <p:cNvSpPr/>
          <p:nvPr/>
        </p:nvSpPr>
        <p:spPr>
          <a:xfrm>
            <a:off x="2850756" y="1746504"/>
            <a:ext cx="1354112" cy="0"/>
          </a:xfrm>
          <a:prstGeom prst="line">
            <a:avLst/>
          </a:prstGeom>
          <a:noFill/>
          <a:ln w="31750">
            <a:solidFill>
              <a:srgbClr val="1F4E79"/>
            </a:solidFill>
            <a:prstDash val="solid"/>
          </a:ln>
        </p:spPr>
      </p:sp>
      <p:sp>
        <p:nvSpPr>
          <p:cNvPr id="6" name="estimate Resignation"/>
          <p:cNvSpPr/>
          <p:nvPr/>
        </p:nvSpPr>
        <p:spPr>
          <a:xfrm>
            <a:off x="3452774" y="1673352"/>
            <a:ext cx="146304" cy="146304"/>
          </a:xfrm>
          <a:prstGeom prst="ellipse">
            <a:avLst/>
          </a:prstGeom>
          <a:solidFill>
            <a:srgbClr val="1F4E79"/>
          </a:solidFill>
          <a:ln w="12700">
            <a:solidFill>
              <a:srgbClr val="1F4E79"/>
            </a:solidFill>
            <a:prstDash val="solid"/>
          </a:ln>
        </p:spPr>
      </p:sp>
      <p:sp>
        <p:nvSpPr>
          <p:cNvPr id="7" name="Text 5"/>
          <p:cNvSpPr txBox="1"/>
          <p:nvPr/>
        </p:nvSpPr>
        <p:spPr>
          <a:xfrm>
            <a:off x="4278020" y="1618488"/>
            <a:ext cx="548640" cy="256032"/>
          </a:xfrm>
          <a:prstGeom prst="rect">
            <a:avLst/>
          </a:prstGeom>
          <a:noFill/>
          <a:ln/>
        </p:spPr>
        <p:txBody>
          <a:bodyPr wrap="square" lIns="0" tIns="0" rIns="0" bIns="0" rtlCol="0" anchor="ctr"/>
          <a:lstStyle/>
          <a:p>
            <a:pPr algn="l" indent="0" marL="0">
              <a:buNone/>
            </a:pPr>
            <a:r>
              <a:rPr lang="en-US" sz="1300" b="1" dirty="0">
                <a:solidFill>
                  <a:srgbClr val="1F4E79"/>
                </a:solidFill>
                <a:latin typeface="Arial" pitchFamily="34" charset="0"/>
                <a:ea typeface="Arial" pitchFamily="34" charset="-122"/>
                <a:cs typeface="Arial" pitchFamily="34" charset="-120"/>
              </a:rPr>
              <a:t>+0.56</a:t>
            </a:r>
            <a:endParaRPr lang="en-US" sz="1300" dirty="0"/>
          </a:p>
        </p:txBody>
      </p:sp>
      <p:sp>
        <p:nvSpPr>
          <p:cNvPr id="8" name="Text 6"/>
          <p:cNvSpPr txBox="1"/>
          <p:nvPr/>
        </p:nvSpPr>
        <p:spPr>
          <a:xfrm>
            <a:off x="457200" y="2221992"/>
            <a:ext cx="1965960" cy="365760"/>
          </a:xfrm>
          <a:prstGeom prst="rect">
            <a:avLst/>
          </a:prstGeom>
          <a:noFill/>
          <a:ln/>
        </p:spPr>
        <p:txBody>
          <a:bodyPr wrap="square" lIns="0" tIns="0" rIns="0" bIns="0" rtlCol="0" anchor="ctr"/>
          <a:lstStyle/>
          <a:p>
            <a:pPr indent="0" marL="0">
              <a:buNone/>
            </a:pPr>
            <a:r>
              <a:rPr lang="en-US" sz="1600" dirty="0">
                <a:solidFill>
                  <a:schemeClr val="tx1"/>
                </a:solidFill>
                <a:latin typeface="Arial" pitchFamily="34" charset="0"/>
                <a:ea typeface="Arial" pitchFamily="34" charset="-122"/>
                <a:cs typeface="Arial" pitchFamily="34" charset="-120"/>
              </a:rPr>
              <a:t>Time, winner not losing</a:t>
            </a:r>
            <a:endParaRPr lang="en-US" sz="1600" dirty="0"/>
          </a:p>
        </p:txBody>
      </p:sp>
      <p:sp>
        <p:nvSpPr>
          <p:cNvPr id="9" name="ci Time, winner not losing"/>
          <p:cNvSpPr/>
          <p:nvPr/>
        </p:nvSpPr>
        <p:spPr>
          <a:xfrm>
            <a:off x="2794178" y="2404872"/>
            <a:ext cx="1425778" cy="0"/>
          </a:xfrm>
          <a:prstGeom prst="line">
            <a:avLst/>
          </a:prstGeom>
          <a:noFill/>
          <a:ln w="31750">
            <a:solidFill>
              <a:srgbClr val="1F4E79"/>
            </a:solidFill>
            <a:prstDash val="solid"/>
          </a:ln>
        </p:spPr>
      </p:sp>
      <p:sp>
        <p:nvSpPr>
          <p:cNvPr id="10" name="estimate Time, winner not losing"/>
          <p:cNvSpPr/>
          <p:nvPr/>
        </p:nvSpPr>
        <p:spPr>
          <a:xfrm>
            <a:off x="3433915" y="2331720"/>
            <a:ext cx="146304" cy="146304"/>
          </a:xfrm>
          <a:prstGeom prst="ellipse">
            <a:avLst/>
          </a:prstGeom>
          <a:solidFill>
            <a:srgbClr val="1F4E79"/>
          </a:solidFill>
          <a:ln w="12700">
            <a:solidFill>
              <a:srgbClr val="1F4E79"/>
            </a:solidFill>
            <a:prstDash val="solid"/>
          </a:ln>
        </p:spPr>
      </p:sp>
      <p:sp>
        <p:nvSpPr>
          <p:cNvPr id="11" name="Text 9"/>
          <p:cNvSpPr txBox="1"/>
          <p:nvPr/>
        </p:nvSpPr>
        <p:spPr>
          <a:xfrm>
            <a:off x="4293108" y="2276856"/>
            <a:ext cx="548640" cy="256032"/>
          </a:xfrm>
          <a:prstGeom prst="rect">
            <a:avLst/>
          </a:prstGeom>
          <a:noFill/>
          <a:ln/>
        </p:spPr>
        <p:txBody>
          <a:bodyPr wrap="square" lIns="0" tIns="0" rIns="0" bIns="0" rtlCol="0" anchor="ctr"/>
          <a:lstStyle/>
          <a:p>
            <a:pPr algn="l" indent="0" marL="0">
              <a:buNone/>
            </a:pPr>
            <a:r>
              <a:rPr lang="en-US" sz="1300" b="1" dirty="0">
                <a:solidFill>
                  <a:srgbClr val="1F4E79"/>
                </a:solidFill>
                <a:latin typeface="Arial" pitchFamily="34" charset="0"/>
                <a:ea typeface="Arial" pitchFamily="34" charset="-122"/>
                <a:cs typeface="Arial" pitchFamily="34" charset="-120"/>
              </a:rPr>
              <a:t>+0.51</a:t>
            </a:r>
            <a:endParaRPr lang="en-US" sz="1300" dirty="0"/>
          </a:p>
        </p:txBody>
      </p:sp>
      <p:sp>
        <p:nvSpPr>
          <p:cNvPr id="12" name="Text 10"/>
          <p:cNvSpPr txBox="1"/>
          <p:nvPr/>
        </p:nvSpPr>
        <p:spPr>
          <a:xfrm>
            <a:off x="457200" y="2880360"/>
            <a:ext cx="1965960" cy="365760"/>
          </a:xfrm>
          <a:prstGeom prst="rect">
            <a:avLst/>
          </a:prstGeom>
          <a:noFill/>
          <a:ln/>
        </p:spPr>
        <p:txBody>
          <a:bodyPr wrap="square" lIns="0" tIns="0" rIns="0" bIns="0" rtlCol="0" anchor="ctr"/>
          <a:lstStyle/>
          <a:p>
            <a:pPr indent="0" marL="0">
              <a:buNone/>
            </a:pPr>
            <a:r>
              <a:rPr lang="en-US" sz="1600" b="1" dirty="0">
                <a:solidFill>
                  <a:srgbClr val="C27C0E"/>
                </a:solidFill>
                <a:latin typeface="Arial" pitchFamily="34" charset="0"/>
                <a:ea typeface="Arial" pitchFamily="34" charset="-122"/>
                <a:cs typeface="Arial" pitchFamily="34" charset="-120"/>
              </a:rPr>
              <a:t>Time, winner losing (n = 1,288)</a:t>
            </a:r>
            <a:endParaRPr lang="en-US" sz="1600" dirty="0"/>
          </a:p>
        </p:txBody>
      </p:sp>
      <p:sp>
        <p:nvSpPr>
          <p:cNvPr id="13" name="ci Time, winner losing (n = 1,288)"/>
          <p:cNvSpPr/>
          <p:nvPr/>
        </p:nvSpPr>
        <p:spPr>
          <a:xfrm>
            <a:off x="3001632" y="3063240"/>
            <a:ext cx="2304631" cy="0"/>
          </a:xfrm>
          <a:prstGeom prst="line">
            <a:avLst/>
          </a:prstGeom>
          <a:noFill/>
          <a:ln w="31750">
            <a:solidFill>
              <a:srgbClr val="C27C0E"/>
            </a:solidFill>
            <a:prstDash val="solid"/>
          </a:ln>
        </p:spPr>
      </p:sp>
      <p:sp>
        <p:nvSpPr>
          <p:cNvPr id="14" name="estimate Time, winner losing (n = 1,288)"/>
          <p:cNvSpPr/>
          <p:nvPr/>
        </p:nvSpPr>
        <p:spPr>
          <a:xfrm>
            <a:off x="4082682" y="2990088"/>
            <a:ext cx="146304" cy="146304"/>
          </a:xfrm>
          <a:prstGeom prst="ellipse">
            <a:avLst/>
          </a:prstGeom>
          <a:solidFill>
            <a:srgbClr val="C27C0E"/>
          </a:solidFill>
          <a:ln w="12700">
            <a:solidFill>
              <a:srgbClr val="C27C0E"/>
            </a:solidFill>
            <a:prstDash val="solid"/>
          </a:ln>
        </p:spPr>
      </p:sp>
      <p:sp>
        <p:nvSpPr>
          <p:cNvPr id="15" name="Text 13"/>
          <p:cNvSpPr txBox="1"/>
          <p:nvPr/>
        </p:nvSpPr>
        <p:spPr>
          <a:xfrm>
            <a:off x="5379415" y="2935224"/>
            <a:ext cx="548640" cy="256032"/>
          </a:xfrm>
          <a:prstGeom prst="rect">
            <a:avLst/>
          </a:prstGeom>
          <a:noFill/>
          <a:ln/>
        </p:spPr>
        <p:txBody>
          <a:bodyPr wrap="square" lIns="0" tIns="0" rIns="0" bIns="0" rtlCol="0" anchor="ctr"/>
          <a:lstStyle/>
          <a:p>
            <a:pPr algn="l" indent="0" marL="0">
              <a:buNone/>
            </a:pPr>
            <a:r>
              <a:rPr lang="en-US" sz="1300" b="1" dirty="0">
                <a:solidFill>
                  <a:srgbClr val="C27C0E"/>
                </a:solidFill>
                <a:latin typeface="Arial" pitchFamily="34" charset="0"/>
                <a:ea typeface="Arial" pitchFamily="34" charset="-122"/>
                <a:cs typeface="Arial" pitchFamily="34" charset="-120"/>
              </a:rPr>
              <a:t>+2.23</a:t>
            </a:r>
            <a:endParaRPr lang="en-US" sz="1300" dirty="0"/>
          </a:p>
        </p:txBody>
      </p:sp>
      <p:sp>
        <p:nvSpPr>
          <p:cNvPr id="16" name="axis"/>
          <p:cNvSpPr/>
          <p:nvPr/>
        </p:nvSpPr>
        <p:spPr>
          <a:xfrm>
            <a:off x="2560320" y="3438144"/>
            <a:ext cx="3017520" cy="0"/>
          </a:xfrm>
          <a:prstGeom prst="line">
            <a:avLst/>
          </a:prstGeom>
          <a:noFill/>
          <a:ln w="12700">
            <a:solidFill>
              <a:srgbClr val="777777"/>
            </a:solidFill>
            <a:prstDash val="solid"/>
          </a:ln>
        </p:spPr>
      </p:sp>
      <p:sp>
        <p:nvSpPr>
          <p:cNvPr id="17" name="Text 15"/>
          <p:cNvSpPr txBox="1"/>
          <p:nvPr/>
        </p:nvSpPr>
        <p:spPr>
          <a:xfrm>
            <a:off x="228600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18" name="Text 16"/>
          <p:cNvSpPr txBox="1"/>
          <p:nvPr/>
        </p:nvSpPr>
        <p:spPr>
          <a:xfrm>
            <a:off x="304038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0</a:t>
            </a:r>
            <a:endParaRPr lang="en-US" sz="1300" dirty="0"/>
          </a:p>
        </p:txBody>
      </p:sp>
      <p:sp>
        <p:nvSpPr>
          <p:cNvPr id="19" name="Text 17"/>
          <p:cNvSpPr txBox="1"/>
          <p:nvPr/>
        </p:nvSpPr>
        <p:spPr>
          <a:xfrm>
            <a:off x="379476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+2</a:t>
            </a:r>
            <a:endParaRPr lang="en-US" sz="1300" dirty="0"/>
          </a:p>
        </p:txBody>
      </p:sp>
      <p:sp>
        <p:nvSpPr>
          <p:cNvPr id="20" name="Text 18"/>
          <p:cNvSpPr txBox="1"/>
          <p:nvPr/>
        </p:nvSpPr>
        <p:spPr>
          <a:xfrm>
            <a:off x="454914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5303520" y="3474720"/>
            <a:ext cx="548640" cy="228600"/>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+6</a:t>
            </a:r>
            <a:endParaRPr lang="en-US" sz="1300" dirty="0"/>
          </a:p>
        </p:txBody>
      </p:sp>
      <p:sp>
        <p:nvSpPr>
          <p:cNvPr id="22" name="Text 20"/>
          <p:cNvSpPr txBox="1"/>
          <p:nvPr/>
        </p:nvSpPr>
        <p:spPr>
          <a:xfrm>
            <a:off x="2560320" y="4005072"/>
            <a:ext cx="3017520" cy="256032"/>
          </a:xfrm>
          <a:prstGeom prst="rect">
            <a:avLst/>
          </a:prstGeom>
          <a:noFill/>
          <a:ln/>
        </p:spPr>
        <p:txBody>
          <a:bodyPr wrap="square" lIns="0" tIns="0" rIns="0" bIns="0" rtlCol="0" anchor="t"/>
          <a:lstStyle/>
          <a:p>
            <a:pPr algn="ctr" indent="0" marL="0">
              <a:buNone/>
            </a:pPr>
            <a:r>
              <a:rPr lang="en-US" sz="1300" dirty="0">
                <a:solidFill>
                  <a:srgbClr val="777777"/>
                </a:solidFill>
                <a:latin typeface="Arial" pitchFamily="34" charset="0"/>
                <a:ea typeface="Arial" pitchFamily="34" charset="-122"/>
                <a:cs typeface="Arial" pitchFamily="34" charset="-120"/>
              </a:rPr>
              <a:t>Difference from checkmate in next-game ACPL, cp (95% CI)</a:t>
            </a:r>
            <a:endParaRPr lang="en-US" sz="1300" dirty="0"/>
          </a:p>
        </p:txBody>
      </p:sp>
      <p:sp>
        <p:nvSpPr>
          <p:cNvPr id="23" name="Text 21"/>
          <p:cNvSpPr txBox="1"/>
          <p:nvPr/>
        </p:nvSpPr>
        <p:spPr>
          <a:xfrm>
            <a:off x="5897880" y="1234440"/>
            <a:ext cx="278892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Why it matters</a:t>
            </a:r>
            <a:endParaRPr lang="en-US" sz="2000" dirty="0"/>
          </a:p>
        </p:txBody>
      </p:sp>
      <p:sp>
        <p:nvSpPr>
          <p:cNvPr id="24" name="Text 22"/>
          <p:cNvSpPr txBox="1"/>
          <p:nvPr/>
        </p:nvSpPr>
        <p:spPr>
          <a:xfrm>
            <a:off x="5897880" y="1691640"/>
            <a:ext cx="2788920" cy="26517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Not significant: p = 0.15</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Found after looking, so not evidence</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Needs its own preregistered test</a:t>
            </a:r>
            <a:endParaRPr lang="en-US" sz="2000" dirty="0"/>
          </a:p>
        </p:txBody>
      </p:sp>
      <p:sp>
        <p:nvSpPr>
          <p:cNvPr id="25" name="Text 23"/>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Same sample as study 1; split into lucky and not-lucky time wins after the main analysis (exploratory)</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The proposed study asks whether study 1 holds at full scale, and whether an undeserved win matters</a:t>
            </a:r>
            <a:endParaRPr lang="en-US" sz="2600" dirty="0"/>
          </a:p>
        </p:txBody>
      </p:sp>
      <p:sp>
        <p:nvSpPr>
          <p:cNvPr id="3" name="RQ1 box"/>
          <p:cNvSpPr/>
          <p:nvPr/>
        </p:nvSpPr>
        <p:spPr>
          <a:xfrm>
            <a:off x="457200" y="1280160"/>
            <a:ext cx="3977640" cy="2651760"/>
          </a:xfrm>
          <a:prstGeom prst="roundRect">
            <a:avLst>
              <a:gd name="adj" fmla="val 2759"/>
            </a:avLst>
          </a:prstGeom>
          <a:solidFill>
            <a:srgbClr val="EBF3FA"/>
          </a:solidFill>
          <a:ln w="15875">
            <a:solidFill>
              <a:srgbClr val="2E75B6"/>
            </a:solidFill>
            <a:prstDash val="solid"/>
          </a:ln>
        </p:spPr>
      </p:sp>
      <p:sp>
        <p:nvSpPr>
          <p:cNvPr id="4" name="Text 2"/>
          <p:cNvSpPr txBox="1"/>
          <p:nvPr/>
        </p:nvSpPr>
        <p:spPr>
          <a:xfrm>
            <a:off x="685800" y="1417320"/>
            <a:ext cx="356616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RQ1</a:t>
            </a:r>
            <a:endParaRPr lang="en-US" sz="2000" dirty="0"/>
          </a:p>
        </p:txBody>
      </p:sp>
      <p:sp>
        <p:nvSpPr>
          <p:cNvPr id="5" name="Text 3"/>
          <p:cNvSpPr txBox="1"/>
          <p:nvPr/>
        </p:nvSpPr>
        <p:spPr>
          <a:xfrm>
            <a:off x="685800" y="1874520"/>
            <a:ext cx="3566160" cy="1188720"/>
          </a:xfrm>
          <a:prstGeom prst="rect">
            <a:avLst/>
          </a:prstGeom>
          <a:noFill/>
          <a:ln/>
        </p:spPr>
        <p:txBody>
          <a:bodyPr wrap="square" lIns="0" tIns="0" rIns="0" bIns="0" rtlCol="0" anchor="t"/>
          <a:lstStyle/>
          <a:p>
            <a:pPr indent="0" marL="0">
              <a:buNone/>
            </a:pPr>
            <a:r>
              <a:rPr lang="en-US" sz="2000" dirty="0">
                <a:solidFill>
                  <a:schemeClr val="tx2"/>
                </a:solidFill>
                <a:latin typeface="Arial" pitchFamily="34" charset="0"/>
                <a:ea typeface="Arial" pitchFamily="34" charset="-122"/>
                <a:cs typeface="Arial" pitchFamily="34" charset="-120"/>
              </a:rPr>
              <a:t>Does the type of win change next-game accuracy?</a:t>
            </a:r>
            <a:endParaRPr lang="en-US" sz="2000" dirty="0"/>
          </a:p>
        </p:txBody>
      </p:sp>
      <p:sp>
        <p:nvSpPr>
          <p:cNvPr id="6" name="Text 4"/>
          <p:cNvSpPr txBox="1"/>
          <p:nvPr/>
        </p:nvSpPr>
        <p:spPr>
          <a:xfrm>
            <a:off x="685800" y="2743200"/>
            <a:ext cx="3566160" cy="146304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H1: No. Every difference within ±3 cp (replication of study 1).</a:t>
            </a:r>
            <a:endParaRPr lang="en-US" sz="2000" dirty="0"/>
          </a:p>
        </p:txBody>
      </p:sp>
      <p:sp>
        <p:nvSpPr>
          <p:cNvPr id="7" name="RQ2 box"/>
          <p:cNvSpPr/>
          <p:nvPr/>
        </p:nvSpPr>
        <p:spPr>
          <a:xfrm>
            <a:off x="4709160" y="1280160"/>
            <a:ext cx="3977640" cy="2651760"/>
          </a:xfrm>
          <a:prstGeom prst="roundRect">
            <a:avLst>
              <a:gd name="adj" fmla="val 2759"/>
            </a:avLst>
          </a:prstGeom>
          <a:solidFill>
            <a:srgbClr val="EBF3FA"/>
          </a:solidFill>
          <a:ln w="15875">
            <a:solidFill>
              <a:srgbClr val="2E75B6"/>
            </a:solidFill>
            <a:prstDash val="solid"/>
          </a:ln>
        </p:spPr>
      </p:sp>
      <p:sp>
        <p:nvSpPr>
          <p:cNvPr id="8"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RQ2</a:t>
            </a:r>
            <a:endParaRPr lang="en-US" sz="2000" dirty="0"/>
          </a:p>
        </p:txBody>
      </p:sp>
      <p:sp>
        <p:nvSpPr>
          <p:cNvPr id="9" name="Text 7"/>
          <p:cNvSpPr txBox="1"/>
          <p:nvPr/>
        </p:nvSpPr>
        <p:spPr>
          <a:xfrm>
            <a:off x="4937760" y="1874520"/>
            <a:ext cx="3566160" cy="1188720"/>
          </a:xfrm>
          <a:prstGeom prst="rect">
            <a:avLst/>
          </a:prstGeom>
          <a:noFill/>
          <a:ln/>
        </p:spPr>
        <p:txBody>
          <a:bodyPr wrap="square" lIns="0" tIns="0" rIns="0" bIns="0" rtlCol="0" anchor="t"/>
          <a:lstStyle/>
          <a:p>
            <a:pPr indent="0" marL="0">
              <a:buNone/>
            </a:pPr>
            <a:r>
              <a:rPr lang="en-US" sz="2000" dirty="0">
                <a:solidFill>
                  <a:schemeClr val="tx2"/>
                </a:solidFill>
                <a:latin typeface="Arial" pitchFamily="34" charset="0"/>
                <a:ea typeface="Arial" pitchFamily="34" charset="-122"/>
                <a:cs typeface="Arial" pitchFamily="34" charset="-120"/>
              </a:rPr>
              <a:t>Does an undeserved win change the next game?</a:t>
            </a:r>
            <a:endParaRPr lang="en-US" sz="2000" dirty="0"/>
          </a:p>
        </p:txBody>
      </p:sp>
      <p:sp>
        <p:nvSpPr>
          <p:cNvPr id="10" name="Text 8"/>
          <p:cNvSpPr txBox="1"/>
          <p:nvPr/>
        </p:nvSpPr>
        <p:spPr>
          <a:xfrm>
            <a:off x="4937760" y="2743200"/>
            <a:ext cx="3566160" cy="146304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H2: Lucky time winners play worse than deserved time winners. Tested two-tailed.</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Data: about 157 million new Lichess games, turned into win-then-next-game pairs</a:t>
            </a:r>
            <a:endParaRPr lang="en-US" sz="2600" dirty="0"/>
          </a:p>
        </p:txBody>
      </p:sp>
      <p:sp>
        <p:nvSpPr>
          <p:cNvPr id="3" name="step Download"/>
          <p:cNvSpPr/>
          <p:nvPr/>
        </p:nvSpPr>
        <p:spPr>
          <a:xfrm>
            <a:off x="457200" y="1371600"/>
            <a:ext cx="1481328" cy="1874520"/>
          </a:xfrm>
          <a:prstGeom prst="roundRect">
            <a:avLst>
              <a:gd name="adj" fmla="val 3704"/>
            </a:avLst>
          </a:prstGeom>
          <a:solidFill>
            <a:srgbClr val="EBF3FA"/>
          </a:solidFill>
          <a:ln w="12700">
            <a:solidFill>
              <a:srgbClr val="2E75B6"/>
            </a:solidFill>
            <a:prstDash val="solid"/>
          </a:ln>
        </p:spPr>
      </p:sp>
      <p:sp>
        <p:nvSpPr>
          <p:cNvPr id="4" name="Text 2"/>
          <p:cNvSpPr txBox="1"/>
          <p:nvPr/>
        </p:nvSpPr>
        <p:spPr>
          <a:xfrm>
            <a:off x="548640" y="1536192"/>
            <a:ext cx="1298448"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Download</a:t>
            </a:r>
            <a:endParaRPr lang="en-US" sz="1600" dirty="0"/>
          </a:p>
        </p:txBody>
      </p:sp>
      <p:sp>
        <p:nvSpPr>
          <p:cNvPr id="5" name="Text 3"/>
          <p:cNvSpPr txBox="1"/>
          <p:nvPr/>
        </p:nvSpPr>
        <p:spPr>
          <a:xfrm>
            <a:off x="548640" y="1938528"/>
            <a:ext cx="1298448" cy="123444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Lichess, Aug + Sep 2026, days 6–31</a:t>
            </a:r>
            <a:endParaRPr lang="en-US" sz="1600" dirty="0"/>
          </a:p>
        </p:txBody>
      </p:sp>
      <p:sp>
        <p:nvSpPr>
          <p:cNvPr id="6" name="arrow 0"/>
          <p:cNvSpPr/>
          <p:nvPr/>
        </p:nvSpPr>
        <p:spPr>
          <a:xfrm>
            <a:off x="1956816" y="2212848"/>
            <a:ext cx="164592" cy="182880"/>
          </a:xfrm>
          <a:prstGeom prst="rightArrow">
            <a:avLst/>
          </a:prstGeom>
          <a:solidFill>
            <a:srgbClr val="777777"/>
          </a:solidFill>
          <a:ln w="12700">
            <a:solidFill>
              <a:srgbClr val="777777"/>
            </a:solidFill>
            <a:prstDash val="solid"/>
          </a:ln>
        </p:spPr>
      </p:sp>
      <p:sp>
        <p:nvSpPr>
          <p:cNvPr id="7" name="step Filter"/>
          <p:cNvSpPr/>
          <p:nvPr/>
        </p:nvSpPr>
        <p:spPr>
          <a:xfrm>
            <a:off x="2135124" y="1371600"/>
            <a:ext cx="1481328" cy="1874520"/>
          </a:xfrm>
          <a:prstGeom prst="roundRect">
            <a:avLst>
              <a:gd name="adj" fmla="val 3704"/>
            </a:avLst>
          </a:prstGeom>
          <a:solidFill>
            <a:srgbClr val="EBF3FA"/>
          </a:solidFill>
          <a:ln w="12700">
            <a:solidFill>
              <a:srgbClr val="2E75B6"/>
            </a:solidFill>
            <a:prstDash val="solid"/>
          </a:ln>
        </p:spPr>
      </p:sp>
      <p:sp>
        <p:nvSpPr>
          <p:cNvPr id="8" name="Text 6"/>
          <p:cNvSpPr txBox="1"/>
          <p:nvPr/>
        </p:nvSpPr>
        <p:spPr>
          <a:xfrm>
            <a:off x="2226564" y="1536192"/>
            <a:ext cx="1298448"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Filter</a:t>
            </a:r>
            <a:endParaRPr lang="en-US" sz="1600" dirty="0"/>
          </a:p>
        </p:txBody>
      </p:sp>
      <p:sp>
        <p:nvSpPr>
          <p:cNvPr id="9" name="Text 7"/>
          <p:cNvSpPr txBox="1"/>
          <p:nvPr/>
        </p:nvSpPr>
        <p:spPr>
          <a:xfrm>
            <a:off x="2226564" y="1938528"/>
            <a:ext cx="1298448" cy="123444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rated rapid, Elo 1200 to 2000, no bots</a:t>
            </a:r>
            <a:endParaRPr lang="en-US" sz="1600" dirty="0"/>
          </a:p>
        </p:txBody>
      </p:sp>
      <p:sp>
        <p:nvSpPr>
          <p:cNvPr id="10" name="arrow 1"/>
          <p:cNvSpPr/>
          <p:nvPr/>
        </p:nvSpPr>
        <p:spPr>
          <a:xfrm>
            <a:off x="3634740" y="2212848"/>
            <a:ext cx="164592" cy="182880"/>
          </a:xfrm>
          <a:prstGeom prst="rightArrow">
            <a:avLst/>
          </a:prstGeom>
          <a:solidFill>
            <a:srgbClr val="777777"/>
          </a:solidFill>
          <a:ln w="12700">
            <a:solidFill>
              <a:srgbClr val="777777"/>
            </a:solidFill>
            <a:prstDash val="solid"/>
          </a:ln>
        </p:spPr>
      </p:sp>
      <p:sp>
        <p:nvSpPr>
          <p:cNvPr id="11" name="step Pair"/>
          <p:cNvSpPr/>
          <p:nvPr/>
        </p:nvSpPr>
        <p:spPr>
          <a:xfrm>
            <a:off x="3813048" y="1371600"/>
            <a:ext cx="1481328" cy="1874520"/>
          </a:xfrm>
          <a:prstGeom prst="roundRect">
            <a:avLst>
              <a:gd name="adj" fmla="val 3704"/>
            </a:avLst>
          </a:prstGeom>
          <a:solidFill>
            <a:srgbClr val="EBF3FA"/>
          </a:solidFill>
          <a:ln w="12700">
            <a:solidFill>
              <a:srgbClr val="2E75B6"/>
            </a:solidFill>
            <a:prstDash val="solid"/>
          </a:ln>
        </p:spPr>
      </p:sp>
      <p:sp>
        <p:nvSpPr>
          <p:cNvPr id="12" name="Text 10"/>
          <p:cNvSpPr txBox="1"/>
          <p:nvPr/>
        </p:nvSpPr>
        <p:spPr>
          <a:xfrm>
            <a:off x="3904488" y="1536192"/>
            <a:ext cx="1298448"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Pair</a:t>
            </a:r>
            <a:endParaRPr lang="en-US" sz="1600" dirty="0"/>
          </a:p>
        </p:txBody>
      </p:sp>
      <p:sp>
        <p:nvSpPr>
          <p:cNvPr id="13" name="Text 11"/>
          <p:cNvSpPr txBox="1"/>
          <p:nvPr/>
        </p:nvSpPr>
        <p:spPr>
          <a:xfrm>
            <a:off x="3904488" y="1938528"/>
            <a:ext cx="1298448" cy="123444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win → same player's next game within 30 min</a:t>
            </a:r>
            <a:endParaRPr lang="en-US" sz="1600" dirty="0"/>
          </a:p>
        </p:txBody>
      </p:sp>
      <p:sp>
        <p:nvSpPr>
          <p:cNvPr id="14" name="arrow 2"/>
          <p:cNvSpPr/>
          <p:nvPr/>
        </p:nvSpPr>
        <p:spPr>
          <a:xfrm>
            <a:off x="5312664" y="2212848"/>
            <a:ext cx="164592" cy="182880"/>
          </a:xfrm>
          <a:prstGeom prst="rightArrow">
            <a:avLst/>
          </a:prstGeom>
          <a:solidFill>
            <a:srgbClr val="777777"/>
          </a:solidFill>
          <a:ln w="12700">
            <a:solidFill>
              <a:srgbClr val="777777"/>
            </a:solidFill>
            <a:prstDash val="solid"/>
          </a:ln>
        </p:spPr>
      </p:sp>
      <p:sp>
        <p:nvSpPr>
          <p:cNvPr id="15" name="step Classify"/>
          <p:cNvSpPr/>
          <p:nvPr/>
        </p:nvSpPr>
        <p:spPr>
          <a:xfrm>
            <a:off x="5490972" y="1371600"/>
            <a:ext cx="1481328" cy="1874520"/>
          </a:xfrm>
          <a:prstGeom prst="roundRect">
            <a:avLst>
              <a:gd name="adj" fmla="val 3704"/>
            </a:avLst>
          </a:prstGeom>
          <a:solidFill>
            <a:srgbClr val="FFF2CC"/>
          </a:solidFill>
          <a:ln w="12700">
            <a:solidFill>
              <a:srgbClr val="C27C0E"/>
            </a:solidFill>
            <a:prstDash val="solid"/>
          </a:ln>
        </p:spPr>
      </p:sp>
      <p:sp>
        <p:nvSpPr>
          <p:cNvPr id="16" name="Text 14"/>
          <p:cNvSpPr txBox="1"/>
          <p:nvPr/>
        </p:nvSpPr>
        <p:spPr>
          <a:xfrm>
            <a:off x="5582412" y="1536192"/>
            <a:ext cx="1298448" cy="365760"/>
          </a:xfrm>
          <a:prstGeom prst="rect">
            <a:avLst/>
          </a:prstGeom>
          <a:noFill/>
          <a:ln/>
        </p:spPr>
        <p:txBody>
          <a:bodyPr wrap="square" lIns="0" tIns="0" rIns="0" bIns="0" rtlCol="0" anchor="t"/>
          <a:lstStyle/>
          <a:p>
            <a:pPr indent="0" marL="0">
              <a:buNone/>
            </a:pPr>
            <a:r>
              <a:rPr lang="en-US" sz="1600" b="1" dirty="0">
                <a:solidFill>
                  <a:srgbClr val="C27C0E"/>
                </a:solidFill>
                <a:latin typeface="Arial" pitchFamily="34" charset="0"/>
                <a:ea typeface="Arial" pitchFamily="34" charset="-122"/>
                <a:cs typeface="Arial" pitchFamily="34" charset="-120"/>
              </a:rPr>
              <a:t>Classify</a:t>
            </a:r>
            <a:endParaRPr lang="en-US" sz="1600" dirty="0"/>
          </a:p>
        </p:txBody>
      </p:sp>
      <p:sp>
        <p:nvSpPr>
          <p:cNvPr id="17" name="Text 15"/>
          <p:cNvSpPr txBox="1"/>
          <p:nvPr/>
        </p:nvSpPr>
        <p:spPr>
          <a:xfrm>
            <a:off x="5582412" y="1938528"/>
            <a:ext cx="1298448" cy="123444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time / mate / resign; lucky if losing at end</a:t>
            </a:r>
            <a:endParaRPr lang="en-US" sz="1600" dirty="0"/>
          </a:p>
        </p:txBody>
      </p:sp>
      <p:sp>
        <p:nvSpPr>
          <p:cNvPr id="18" name="arrow 3"/>
          <p:cNvSpPr/>
          <p:nvPr/>
        </p:nvSpPr>
        <p:spPr>
          <a:xfrm>
            <a:off x="6990588" y="2212848"/>
            <a:ext cx="164592" cy="182880"/>
          </a:xfrm>
          <a:prstGeom prst="rightArrow">
            <a:avLst/>
          </a:prstGeom>
          <a:solidFill>
            <a:srgbClr val="777777"/>
          </a:solidFill>
          <a:ln w="12700">
            <a:solidFill>
              <a:srgbClr val="777777"/>
            </a:solidFill>
            <a:prstDash val="solid"/>
          </a:ln>
        </p:spPr>
      </p:sp>
      <p:sp>
        <p:nvSpPr>
          <p:cNvPr id="19" name="step Score"/>
          <p:cNvSpPr/>
          <p:nvPr/>
        </p:nvSpPr>
        <p:spPr>
          <a:xfrm>
            <a:off x="7168896" y="1371600"/>
            <a:ext cx="1481328" cy="1874520"/>
          </a:xfrm>
          <a:prstGeom prst="roundRect">
            <a:avLst>
              <a:gd name="adj" fmla="val 3704"/>
            </a:avLst>
          </a:prstGeom>
          <a:solidFill>
            <a:srgbClr val="EBF3FA"/>
          </a:solidFill>
          <a:ln w="12700">
            <a:solidFill>
              <a:srgbClr val="2E75B6"/>
            </a:solidFill>
            <a:prstDash val="solid"/>
          </a:ln>
        </p:spPr>
      </p:sp>
      <p:sp>
        <p:nvSpPr>
          <p:cNvPr id="20" name="Text 18"/>
          <p:cNvSpPr txBox="1"/>
          <p:nvPr/>
        </p:nvSpPr>
        <p:spPr>
          <a:xfrm>
            <a:off x="7260336" y="1536192"/>
            <a:ext cx="1298448"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Score</a:t>
            </a:r>
            <a:endParaRPr lang="en-US" sz="1600" dirty="0"/>
          </a:p>
        </p:txBody>
      </p:sp>
      <p:sp>
        <p:nvSpPr>
          <p:cNvPr id="21" name="Text 19"/>
          <p:cNvSpPr txBox="1"/>
          <p:nvPr/>
        </p:nvSpPr>
        <p:spPr>
          <a:xfrm>
            <a:off x="7260336" y="1938528"/>
            <a:ext cx="1298448" cy="1234440"/>
          </a:xfrm>
          <a:prstGeom prst="rect">
            <a:avLst/>
          </a:prstGeom>
          <a:noFill/>
          <a:ln/>
        </p:spPr>
        <p:txBody>
          <a:bodyPr wrap="square" lIns="0" tIns="0" rIns="0" bIns="0" rtlCol="0" anchor="t"/>
          <a:lstStyle/>
          <a:p>
            <a:pPr indent="0" marL="0">
              <a:buNone/>
            </a:pPr>
            <a:r>
              <a:rPr lang="en-US" sz="1600" dirty="0">
                <a:solidFill>
                  <a:schemeClr val="tx1"/>
                </a:solidFill>
                <a:latin typeface="Arial" pitchFamily="34" charset="0"/>
                <a:ea typeface="Arial" pitchFamily="34" charset="-122"/>
                <a:cs typeface="Arial" pitchFamily="34" charset="-120"/>
              </a:rPr>
              <a:t>Stockfish 16, depth 15, moves 15–30</a:t>
            </a:r>
            <a:endParaRPr lang="en-US" sz="1600" dirty="0"/>
          </a:p>
        </p:txBody>
      </p:sp>
      <p:sp>
        <p:nvSpPr>
          <p:cNvPr id="22" name="Text 20"/>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Days 1–5 of each month are left out: study 1 already used them, so this is an independent test.</a:t>
            </a:r>
            <a:endParaRPr lang="en-US" sz="2000" dirty="0"/>
          </a:p>
        </p:txBody>
      </p:sp>
      <p:sp>
        <p:nvSpPr>
          <p:cNvPr id="23" name="Text 21"/>
          <p:cNvSpPr txBox="1"/>
          <p:nvPr/>
        </p:nvSpPr>
        <p:spPr>
          <a:xfrm>
            <a:off x="457200" y="4709160"/>
            <a:ext cx="7680960" cy="274320"/>
          </a:xfrm>
          <a:prstGeom prst="rect">
            <a:avLst/>
          </a:prstGeom>
          <a:noFill/>
          <a:ln/>
        </p:spPr>
        <p:txBody>
          <a:bodyPr wrap="square" lIns="0" tIns="0" rIns="0" bIns="0" rtlCol="0" anchor="ctr"/>
          <a:lstStyle/>
          <a:p>
            <a:pPr indent="0" marL="0">
              <a:buNone/>
            </a:pPr>
            <a:r>
              <a:rPr lang="en-US" sz="1200" dirty="0">
                <a:solidFill>
                  <a:srgbClr val="777777"/>
                </a:solidFill>
                <a:latin typeface="Arial" pitchFamily="34" charset="0"/>
                <a:ea typeface="Arial" pitchFamily="34" charset="-122"/>
                <a:cs typeface="Arial" pitchFamily="34" charset="-120"/>
              </a:rPr>
              <a:t>Lichess open database (CC0), database.lichess.org; method follows Backus et al. (2023)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Lucky and deserved time wins differ only in who was winning on the board when the clock ran out</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377440"/>
                <a:gridCol w="4480560"/>
                <a:gridCol w="1371600"/>
              </a:tblGrid>
              <a:tr h="457200">
                <a:tc>
                  <a:txBody>
                    <a:bodyPr/>
                    <a:lstStyle/>
                    <a:p>
                      <a:pPr indent="0" marL="0">
                        <a:buNone/>
                      </a:pPr>
                      <a:r>
                        <a:rPr lang="en-US" sz="1600" b="1" dirty="0">
                          <a:solidFill>
                            <a:srgbClr val="FFFFFF"/>
                          </a:solidFill>
                          <a:latin typeface="Arial" pitchFamily="34" charset="0"/>
                          <a:ea typeface="Arial" pitchFamily="34" charset="-122"/>
                          <a:cs typeface="Arial" pitchFamily="34" charset="-120"/>
                        </a:rPr>
                        <a:t>Group</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Definition</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Pairs</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457200">
                <a:tc>
                  <a:txBody>
                    <a:bodyPr/>
                    <a:lstStyle/>
                    <a:p>
                      <a:pPr indent="0" marL="0">
                        <a:buNone/>
                      </a:pPr>
                      <a:r>
                        <a:rPr lang="en-US" sz="1600" b="1" dirty="0">
                          <a:solidFill>
                            <a:srgbClr val="C27C0E"/>
                          </a:solidFill>
                          <a:latin typeface="Arial" pitchFamily="34" charset="0"/>
                          <a:ea typeface="Arial" pitchFamily="34" charset="-122"/>
                          <a:cs typeface="Arial" pitchFamily="34" charset="-120"/>
                        </a:rPr>
                        <a:t>Lucky time win</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Won on time while losing by more than 1 pawn</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13,000</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600" dirty="0">
                          <a:solidFill>
                            <a:srgbClr val="2D2D2D"/>
                          </a:solidFill>
                          <a:latin typeface="Arial" pitchFamily="34" charset="0"/>
                          <a:ea typeface="Arial" pitchFamily="34" charset="-122"/>
                          <a:cs typeface="Arial" pitchFamily="34" charset="-120"/>
                        </a:rPr>
                        <a:t>Deserved time win</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Won on time, not losing at the end</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13,000</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600" dirty="0">
                          <a:solidFill>
                            <a:srgbClr val="2D2D2D"/>
                          </a:solidFill>
                          <a:latin typeface="Arial" pitchFamily="34" charset="0"/>
                          <a:ea typeface="Arial" pitchFamily="34" charset="-122"/>
                          <a:cs typeface="Arial" pitchFamily="34" charset="-120"/>
                        </a:rPr>
                        <a:t>Checkmate</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Won by checkmate</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6,500</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600" dirty="0">
                          <a:solidFill>
                            <a:srgbClr val="2D2D2D"/>
                          </a:solidFill>
                          <a:latin typeface="Arial" pitchFamily="34" charset="0"/>
                          <a:ea typeface="Arial" pitchFamily="34" charset="-122"/>
                          <a:cs typeface="Arial" pitchFamily="34" charset="-120"/>
                        </a:rPr>
                        <a:t>Resignation</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Opponent resigned</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2D2D2D"/>
                          </a:solidFill>
                          <a:latin typeface="Arial" pitchFamily="34" charset="0"/>
                          <a:ea typeface="Arial" pitchFamily="34" charset="-122"/>
                          <a:cs typeface="Arial" pitchFamily="34" charset="-120"/>
                        </a:rPr>
                        <a:t>6,500</a:t>
                      </a:r>
                      <a:endParaRPr lang="en-US" sz="16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3794760"/>
            <a:ext cx="8229600" cy="73152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All groups matched to the same mix of rating and time control, one pair per player per group.</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Analysis is fixed before scoring: regression with equivalence tests, sized to detect 2 cp</a:t>
            </a:r>
            <a:endParaRPr lang="en-US" sz="2600" dirty="0"/>
          </a:p>
        </p:txBody>
      </p:sp>
      <p:sp>
        <p:nvSpPr>
          <p:cNvPr id="3" name="Text 1"/>
          <p:cNvSpPr txBox="1"/>
          <p:nvPr/>
        </p:nvSpPr>
        <p:spPr>
          <a:xfrm>
            <a:off x="457200" y="1234440"/>
            <a:ext cx="393192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Model</a:t>
            </a:r>
            <a:endParaRPr lang="en-US" sz="2000" dirty="0"/>
          </a:p>
        </p:txBody>
      </p:sp>
      <p:sp>
        <p:nvSpPr>
          <p:cNvPr id="4" name="Text 2"/>
          <p:cNvSpPr txBox="1"/>
          <p:nvPr/>
        </p:nvSpPr>
        <p:spPr>
          <a:xfrm>
            <a:off x="457200" y="1691640"/>
            <a:ext cx="3931920" cy="201168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Next-game ACPL by group</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Adjusted: rating, opponent, colour, time control</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Errors clustered by player</a:t>
            </a:r>
            <a:endParaRPr lang="en-US" sz="2000" dirty="0"/>
          </a:p>
        </p:txBody>
      </p:sp>
      <p:sp>
        <p:nvSpPr>
          <p:cNvPr id="5" name="Text 3"/>
          <p:cNvSpPr txBox="1"/>
          <p:nvPr/>
        </p:nvSpPr>
        <p:spPr>
          <a:xfrm>
            <a:off x="4754880" y="1234440"/>
            <a:ext cx="3931920" cy="365760"/>
          </a:xfrm>
          <a:prstGeom prst="rect">
            <a:avLst/>
          </a:prstGeom>
          <a:noFill/>
          <a:ln/>
        </p:spPr>
        <p:txBody>
          <a:bodyPr wrap="square" lIns="0" tIns="0" rIns="0" bIns="0" rtlCol="0" anchor="t"/>
          <a:lstStyle/>
          <a:p>
            <a:pPr indent="0" marL="0">
              <a:buNone/>
            </a:pPr>
            <a:r>
              <a:rPr lang="en-US" sz="2000" b="1" dirty="0">
                <a:solidFill>
                  <a:srgbClr val="2E75B6"/>
                </a:solidFill>
                <a:latin typeface="Arial" pitchFamily="34" charset="0"/>
                <a:ea typeface="Arial" pitchFamily="34" charset="-122"/>
                <a:cs typeface="Arial" pitchFamily="34" charset="-120"/>
              </a:rPr>
              <a:t>Decision rules</a:t>
            </a:r>
            <a:endParaRPr lang="en-US" sz="2000" dirty="0"/>
          </a:p>
        </p:txBody>
      </p:sp>
      <p:sp>
        <p:nvSpPr>
          <p:cNvPr id="6" name="Text 4"/>
          <p:cNvSpPr txBox="1"/>
          <p:nvPr/>
        </p:nvSpPr>
        <p:spPr>
          <a:xfrm>
            <a:off x="4754880" y="1691640"/>
            <a:ext cx="3931920" cy="201168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H1: all 90% CIs within ±3 cp</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H2: two-tailed, α = 0.05</a:t>
            </a:r>
            <a:endParaRPr lang="en-US" sz="2000" dirty="0"/>
          </a:p>
          <a:p>
            <a:pPr marL="342900" indent="-342900">
              <a:spcAft>
                <a:spcPts val="1000"/>
              </a:spcAft>
              <a:buSzPct val="100000"/>
              <a:buChar char="•"/>
            </a:pPr>
            <a:r>
              <a:rPr lang="en-US" sz="2000" dirty="0">
                <a:solidFill>
                  <a:schemeClr val="tx1"/>
                </a:solidFill>
                <a:latin typeface="Arial" pitchFamily="34" charset="0"/>
                <a:ea typeface="Arial" pitchFamily="34" charset="-122"/>
                <a:cs typeface="Arial" pitchFamily="34" charset="-120"/>
              </a:rPr>
              <a:t>Preregistered before any scoring</a:t>
            </a:r>
            <a:endParaRPr lang="en-US" sz="2000" dirty="0"/>
          </a:p>
        </p:txBody>
      </p:sp>
      <p:sp>
        <p:nvSpPr>
          <p:cNvPr id="7" name="power callout"/>
          <p:cNvSpPr/>
          <p:nvPr/>
        </p:nvSpPr>
        <p:spPr>
          <a:xfrm>
            <a:off x="457200" y="3794760"/>
            <a:ext cx="8229600" cy="685800"/>
          </a:xfrm>
          <a:prstGeom prst="roundRect">
            <a:avLst>
              <a:gd name="adj" fmla="val 8000"/>
            </a:avLst>
          </a:prstGeom>
          <a:solidFill>
            <a:srgbClr val="FFF2CC"/>
          </a:solidFill>
          <a:ln w="12700">
            <a:solidFill>
              <a:srgbClr val="C27C0E"/>
            </a:solidFill>
            <a:prstDash val="solid"/>
          </a:ln>
        </p:spPr>
      </p:sp>
      <p:sp>
        <p:nvSpPr>
          <p:cNvPr id="8" name="Text 6"/>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600" b="1" dirty="0">
                <a:solidFill>
                  <a:srgbClr val="C27C0E"/>
                </a:solidFill>
                <a:latin typeface="Arial" pitchFamily="34" charset="0"/>
                <a:ea typeface="Arial" pitchFamily="34" charset="-122"/>
                <a:cs typeface="Arial" pitchFamily="34" charset="-120"/>
              </a:rPr>
              <a:t>13,000 pairs per group: 80% power for a 2 cp gap  ·  about 9.5 h of Stockfish</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Every outcome of the lucky-escape test tells us something new about how players handle luck</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743200"/>
                <a:gridCol w="5486400"/>
              </a:tblGrid>
              <a:tr h="548640">
                <a:tc>
                  <a:txBody>
                    <a:bodyPr/>
                    <a:lstStyle/>
                    <a:p>
                      <a:pPr indent="0" marL="0">
                        <a:buNone/>
                      </a:pPr>
                      <a:r>
                        <a:rPr lang="en-US" sz="1800" b="1" dirty="0">
                          <a:solidFill>
                            <a:srgbClr val="FFFFFF"/>
                          </a:solidFill>
                          <a:latin typeface="Arial" pitchFamily="34" charset="0"/>
                          <a:ea typeface="Arial" pitchFamily="34" charset="-122"/>
                          <a:cs typeface="Arial" pitchFamily="34" charset="-120"/>
                        </a:rPr>
                        <a:t>If lucky winners…</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It would mean</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4E79"/>
                    </a:solidFill>
                  </a:tcPr>
                </a:tc>
              </a:tr>
              <a:tr h="548640">
                <a:tc>
                  <a:txBody>
                    <a:bodyPr/>
                    <a:lstStyle/>
                    <a:p>
                      <a:pPr indent="0" marL="0">
                        <a:buNone/>
                      </a:pPr>
                      <a:r>
                        <a:rPr lang="en-US" sz="1800" b="1" dirty="0">
                          <a:solidFill>
                            <a:srgbClr val="C27C0E"/>
                          </a:solidFill>
                          <a:latin typeface="Arial" pitchFamily="34" charset="0"/>
                          <a:ea typeface="Arial" pitchFamily="34" charset="-122"/>
                          <a:cs typeface="Arial" pitchFamily="34" charset="-120"/>
                        </a:rPr>
                        <a:t>play worse</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800" dirty="0">
                          <a:solidFill>
                            <a:srgbClr val="2D2D2D"/>
                          </a:solidFill>
                          <a:latin typeface="Arial" pitchFamily="34" charset="0"/>
                          <a:ea typeface="Arial" pitchFamily="34" charset="-122"/>
                          <a:cs typeface="Arial" pitchFamily="34" charset="-120"/>
                        </a:rPr>
                        <a:t>An undeserved win disrupts the next game</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800" b="1" dirty="0">
                          <a:solidFill>
                            <a:srgbClr val="2D2D2D"/>
                          </a:solidFill>
                          <a:latin typeface="Arial" pitchFamily="34" charset="0"/>
                          <a:ea typeface="Arial" pitchFamily="34" charset="-122"/>
                          <a:cs typeface="Arial" pitchFamily="34" charset="-120"/>
                        </a:rPr>
                        <a:t>play better</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800" dirty="0">
                          <a:solidFill>
                            <a:srgbClr val="2D2D2D"/>
                          </a:solidFill>
                          <a:latin typeface="Arial" pitchFamily="34" charset="0"/>
                          <a:ea typeface="Arial" pitchFamily="34" charset="-122"/>
                          <a:cs typeface="Arial" pitchFamily="34" charset="-120"/>
                        </a:rPr>
                        <a:t>A near-loss makes players more careful</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800" b="1" dirty="0">
                          <a:solidFill>
                            <a:srgbClr val="2D2D2D"/>
                          </a:solidFill>
                          <a:latin typeface="Arial" pitchFamily="34" charset="0"/>
                          <a:ea typeface="Arial" pitchFamily="34" charset="-122"/>
                          <a:cs typeface="Arial" pitchFamily="34" charset="-120"/>
                        </a:rPr>
                        <a:t>play the same</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800" dirty="0">
                          <a:solidFill>
                            <a:srgbClr val="2D2D2D"/>
                          </a:solidFill>
                          <a:latin typeface="Arial" pitchFamily="34" charset="0"/>
                          <a:ea typeface="Arial" pitchFamily="34" charset="-122"/>
                          <a:cs typeface="Arial" pitchFamily="34" charset="-120"/>
                        </a:rPr>
                        <a:t>Players reset after every game, however they won</a:t>
                      </a:r>
                      <a:endParaRPr lang="en-US" sz="18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3703320"/>
            <a:ext cx="8229600" cy="777240"/>
          </a:xfrm>
          <a:prstGeom prst="rect">
            <a:avLst/>
          </a:prstGeom>
          <a:noFill/>
          <a:ln/>
        </p:spPr>
        <p:txBody>
          <a:bodyPr wrap="square" lIns="0" tIns="0" rIns="0" bIns="0" rtlCol="0" anchor="t"/>
          <a:lstStyle/>
          <a:p>
            <a:pPr indent="0" marL="0">
              <a:buNone/>
            </a:pPr>
            <a:r>
              <a:rPr lang="en-US" sz="2000" dirty="0">
                <a:solidFill>
                  <a:schemeClr val="tx1"/>
                </a:solidFill>
                <a:latin typeface="Arial" pitchFamily="34" charset="0"/>
                <a:ea typeface="Arial" pitchFamily="34" charset="-122"/>
                <a:cs typeface="Arial" pitchFamily="34" charset="-120"/>
              </a:rPr>
              <a:t>First test of whether deserving a win matters, using engine-measured move quality on a large sample.</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457200"/>
          </a:xfrm>
          <a:prstGeom prst="rect">
            <a:avLst/>
          </a:prstGeom>
          <a:noFill/>
          <a:ln/>
        </p:spPr>
        <p:txBody>
          <a:bodyPr wrap="square" lIns="0" tIns="0" rIns="0" bIns="0" rtlCol="0" anchor="t"/>
          <a:lstStyle/>
          <a:p>
            <a:pPr algn="l" indent="0" marL="0">
              <a:buNone/>
            </a:pPr>
            <a:r>
              <a:rPr lang="en-US" sz="2000" dirty="0">
                <a:solidFill>
                  <a:schemeClr val="accent5"/>
                </a:solidFill>
              </a:rPr>
              <a:t>Conclusions</a:t>
            </a:r>
            <a:endParaRPr lang="en-US" sz="2000" dirty="0"/>
          </a:p>
        </p:txBody>
      </p:sp>
      <p:sp>
        <p:nvSpPr>
          <p:cNvPr id="3" name="Text 1"/>
          <p:cNvSpPr txBox="1"/>
          <p:nvPr/>
        </p:nvSpPr>
        <p:spPr>
          <a:xfrm>
            <a:off x="457200" y="868680"/>
            <a:ext cx="8229600" cy="3108960"/>
          </a:xfrm>
          <a:prstGeom prst="rect">
            <a:avLst/>
          </a:prstGeom>
          <a:noFill/>
          <a:ln/>
        </p:spPr>
        <p:txBody>
          <a:bodyPr wrap="square" lIns="0" tIns="0" rIns="0" bIns="0" rtlCol="0" anchor="t"/>
          <a:lstStyle/>
          <a:p>
            <a:pPr indent="0" marL="0">
              <a:spcAft>
                <a:spcPts val="1800"/>
              </a:spcAft>
              <a:buNone/>
            </a:pPr>
            <a:r>
              <a:rPr lang="en-US" sz="2100" b="1" dirty="0">
                <a:solidFill>
                  <a:schemeClr val="bg1"/>
                </a:solidFill>
                <a:latin typeface="Arial" pitchFamily="34" charset="0"/>
                <a:ea typeface="Arial" pitchFamily="34" charset="-122"/>
                <a:cs typeface="Arial" pitchFamily="34" charset="-120"/>
              </a:rPr>
              <a:t>1. A win is a win: </a:t>
            </a:r>
            <a:pPr indent="0" marL="0">
              <a:spcAft>
                <a:spcPts val="1800"/>
              </a:spcAft>
              <a:buNone/>
            </a:pPr>
            <a:r>
              <a:rPr lang="en-US" sz="2100" dirty="0">
                <a:solidFill>
                  <a:schemeClr val="bg1"/>
                </a:solidFill>
                <a:latin typeface="Arial" pitchFamily="34" charset="0"/>
                <a:ea typeface="Arial" pitchFamily="34" charset="-122"/>
                <a:cs typeface="Arial" pitchFamily="34" charset="-120"/>
              </a:rPr>
              <a:t>win type changed next-game accuracy by under 1 cp (18,002 games).</a:t>
            </a:r>
            <a:endParaRPr lang="en-US" sz="2100" dirty="0"/>
          </a:p>
          <a:p>
            <a:pPr indent="0" marL="0">
              <a:spcAft>
                <a:spcPts val="1800"/>
              </a:spcAft>
              <a:buNone/>
            </a:pPr>
            <a:r>
              <a:rPr lang="en-US" sz="2100" b="1" dirty="0">
                <a:solidFill>
                  <a:schemeClr val="bg1"/>
                </a:solidFill>
                <a:latin typeface="Arial" pitchFamily="34" charset="0"/>
                <a:ea typeface="Arial" pitchFamily="34" charset="-122"/>
                <a:cs typeface="Arial" pitchFamily="34" charset="-120"/>
              </a:rPr>
              <a:t>2. Luck is the open question: </a:t>
            </a:r>
            <a:pPr indent="0" marL="0">
              <a:spcAft>
                <a:spcPts val="1800"/>
              </a:spcAft>
              <a:buNone/>
            </a:pPr>
            <a:r>
              <a:rPr lang="en-US" sz="2100" dirty="0">
                <a:solidFill>
                  <a:schemeClr val="bg1"/>
                </a:solidFill>
                <a:latin typeface="Arial" pitchFamily="34" charset="0"/>
                <a:ea typeface="Arial" pitchFamily="34" charset="-122"/>
                <a:cs typeface="Arial" pitchFamily="34" charset="-120"/>
              </a:rPr>
              <a:t>undeserved time wins showed a 2.2 cp hint.</a:t>
            </a:r>
            <a:endParaRPr lang="en-US" sz="2100" dirty="0"/>
          </a:p>
          <a:p>
            <a:pPr indent="0" marL="0">
              <a:spcAft>
                <a:spcPts val="1800"/>
              </a:spcAft>
              <a:buNone/>
            </a:pPr>
            <a:r>
              <a:rPr lang="en-US" sz="2100" b="1" dirty="0">
                <a:solidFill>
                  <a:schemeClr val="bg1"/>
                </a:solidFill>
                <a:latin typeface="Arial" pitchFamily="34" charset="0"/>
                <a:ea typeface="Arial" pitchFamily="34" charset="-122"/>
                <a:cs typeface="Arial" pitchFamily="34" charset="-120"/>
              </a:rPr>
              <a:t>3. The proposal: </a:t>
            </a:r>
            <a:pPr indent="0" marL="0">
              <a:spcAft>
                <a:spcPts val="1800"/>
              </a:spcAft>
              <a:buNone/>
            </a:pPr>
            <a:r>
              <a:rPr lang="en-US" sz="2100" dirty="0">
                <a:solidFill>
                  <a:schemeClr val="bg1"/>
                </a:solidFill>
                <a:latin typeface="Arial" pitchFamily="34" charset="0"/>
                <a:ea typeface="Arial" pitchFamily="34" charset="-122"/>
                <a:cs typeface="Arial" pitchFamily="34" charset="-120"/>
              </a:rPr>
              <a:t>157M fresh games, four matched groups, about 2 days of computing after approval.</a:t>
            </a:r>
            <a:endParaRPr lang="en-US" sz="2100" dirty="0"/>
          </a:p>
        </p:txBody>
      </p:sp>
      <p:sp>
        <p:nvSpPr>
          <p:cNvPr id="4" name="Text 2"/>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400" dirty="0">
                <a:solidFill>
                  <a:srgbClr val="A0BBDD"/>
                </a:solidFill>
                <a:latin typeface="Arial" pitchFamily="34" charset="0"/>
                <a:ea typeface="Arial" pitchFamily="34" charset="-122"/>
                <a:cs typeface="Arial" pitchFamily="34" charset="-120"/>
              </a:rPr>
              <a:t>Code, data pipeline and preregistration: github.com/KaranaGulati/ContinuedLearningResearch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822960"/>
          </a:xfrm>
          <a:prstGeom prst="rect">
            <a:avLst/>
          </a:prstGeom>
          <a:noFill/>
          <a:ln/>
        </p:spPr>
        <p:txBody>
          <a:bodyPr wrap="square" lIns="0" tIns="0" rIns="0" bIns="0" rtlCol="0" anchor="t"/>
          <a:lstStyle/>
          <a:p>
            <a:pPr algn="l" indent="0" marL="0">
              <a:buNone/>
            </a:pPr>
            <a:r>
              <a:rPr lang="en-US" sz="2600" b="1" dirty="0">
                <a:solidFill>
                  <a:schemeClr val="tx2"/>
                </a:solidFill>
              </a:rPr>
              <a:t>References</a:t>
            </a:r>
            <a:endParaRPr lang="en-US" sz="2600" dirty="0"/>
          </a:p>
        </p:txBody>
      </p:sp>
      <p:sp>
        <p:nvSpPr>
          <p:cNvPr id="3" name="Text 1"/>
          <p:cNvSpPr txBox="1"/>
          <p:nvPr/>
        </p:nvSpPr>
        <p:spPr>
          <a:xfrm>
            <a:off x="457200" y="1188720"/>
            <a:ext cx="8229600" cy="3291840"/>
          </a:xfrm>
          <a:prstGeom prst="rect">
            <a:avLst/>
          </a:prstGeom>
          <a:noFill/>
          <a:ln/>
        </p:spPr>
        <p:txBody>
          <a:bodyPr wrap="square" lIns="0" tIns="0" rIns="0" bIns="0" rtlCol="0" anchor="t"/>
          <a:lstStyle/>
          <a:p>
            <a:pPr indent="0" marL="0">
              <a:spcAft>
                <a:spcPts val="1200"/>
              </a:spcAft>
              <a:buNone/>
            </a:pPr>
            <a:r>
              <a:rPr lang="en-US" sz="1400" dirty="0">
                <a:solidFill>
                  <a:schemeClr val="tx1"/>
                </a:solidFill>
                <a:latin typeface="Arial" pitchFamily="34" charset="0"/>
                <a:ea typeface="Arial" pitchFamily="34" charset="-122"/>
                <a:cs typeface="Arial" pitchFamily="34" charset="-120"/>
              </a:rPr>
              <a:t>Backus, Cubel, Guid, Sanchez-Pages &amp; Lopez Manas (2023). Quantitative Economics, 14(1), 349-380.</a:t>
            </a:r>
            <a:endParaRPr lang="en-US" sz="1400" dirty="0"/>
          </a:p>
          <a:p>
            <a:pPr indent="0" marL="0">
              <a:spcAft>
                <a:spcPts val="1200"/>
              </a:spcAft>
              <a:buNone/>
            </a:pPr>
            <a:r>
              <a:rPr lang="en-US" sz="1400" dirty="0">
                <a:solidFill>
                  <a:schemeClr val="tx1"/>
                </a:solidFill>
                <a:latin typeface="Arial" pitchFamily="34" charset="0"/>
                <a:ea typeface="Arial" pitchFamily="34" charset="-122"/>
                <a:cs typeface="Arial" pitchFamily="34" charset="-120"/>
              </a:rPr>
              <a:t>Chowdhary, Iacopini &amp; Battiston (2023). Scientific Reports, 13, 2113.</a:t>
            </a:r>
            <a:endParaRPr lang="en-US" sz="1400" dirty="0"/>
          </a:p>
          <a:p>
            <a:pPr indent="0" marL="0">
              <a:spcAft>
                <a:spcPts val="1200"/>
              </a:spcAft>
              <a:buNone/>
            </a:pPr>
            <a:r>
              <a:rPr lang="en-US" sz="1400" dirty="0">
                <a:solidFill>
                  <a:schemeClr val="tx1"/>
                </a:solidFill>
                <a:latin typeface="Arial" pitchFamily="34" charset="0"/>
                <a:ea typeface="Arial" pitchFamily="34" charset="-122"/>
                <a:cs typeface="Arial" pitchFamily="34" charset="-120"/>
              </a:rPr>
              <a:t>Gee, Seese, Curley &amp; Ward (2025). Journal of Quantitative Analysis in Sports, 22(2), 117-132. Preprint arXiv:2503.21713.</a:t>
            </a:r>
            <a:endParaRPr lang="en-US" sz="1400" dirty="0"/>
          </a:p>
          <a:p>
            <a:pPr indent="0" marL="0">
              <a:spcAft>
                <a:spcPts val="1200"/>
              </a:spcAft>
              <a:buNone/>
            </a:pPr>
            <a:r>
              <a:rPr lang="en-US" sz="1400" dirty="0">
                <a:solidFill>
                  <a:schemeClr val="tx1"/>
                </a:solidFill>
                <a:latin typeface="Arial" pitchFamily="34" charset="0"/>
                <a:ea typeface="Arial" pitchFamily="34" charset="-122"/>
                <a:cs typeface="Arial" pitchFamily="34" charset="-120"/>
              </a:rPr>
              <a:t>Guid &amp; Bratko (2006). Computer analysis of world chess champions. ICGA Journal, 29(2), 65-73.</a:t>
            </a:r>
            <a:endParaRPr lang="en-US" sz="1400" dirty="0"/>
          </a:p>
          <a:p>
            <a:pPr indent="0" marL="0">
              <a:spcAft>
                <a:spcPts val="1200"/>
              </a:spcAft>
              <a:buNone/>
            </a:pPr>
            <a:r>
              <a:rPr lang="en-US" sz="1400" dirty="0">
                <a:solidFill>
                  <a:schemeClr val="tx1"/>
                </a:solidFill>
                <a:latin typeface="Arial" pitchFamily="34" charset="0"/>
                <a:ea typeface="Arial" pitchFamily="34" charset="-122"/>
                <a:cs typeface="Arial" pitchFamily="34" charset="-120"/>
              </a:rPr>
              <a:t>Lichess open database (2026). database.lichess.org, CC0.</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77777"/>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hess Research">
  <a:themeElements>
    <a:clrScheme name="Chess Research">
      <a:dk1>
        <a:srgbClr val="2D2D2D"/>
      </a:dk1>
      <a:lt1>
        <a:srgbClr val="FFFFFF"/>
      </a:lt1>
      <a:dk2>
        <a:srgbClr val="1F4E79"/>
      </a:dk2>
      <a:lt2>
        <a:srgbClr val="EBF3FA"/>
      </a:lt2>
      <a:accent1>
        <a:srgbClr val="2E75B6"/>
      </a:accent1>
      <a:accent2>
        <a:srgbClr val="1F4E79"/>
      </a:accent2>
      <a:accent3>
        <a:srgbClr val="C27C0E"/>
      </a:accent3>
      <a:accent4>
        <a:srgbClr val="777777"/>
      </a:accent4>
      <a:accent5>
        <a:srgbClr val="A0BBDD"/>
      </a:accent5>
      <a:accent6>
        <a:srgbClr val="FFF2CC"/>
      </a:accent6>
      <a:hlink>
        <a:srgbClr val="2E75B6"/>
      </a:hlink>
      <a:folHlink>
        <a:srgbClr val="1F4E79"/>
      </a:folHlink>
    </a:clrScheme>
    <a:fontScheme name="Chess Resear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how you win change how you play next?</dc:title>
  <dc:subject>PptxGenJS Presentation</dc:subject>
  <dc:creator>Karana Gulati</dc:creator>
  <cp:lastModifiedBy>Karana Gulati</cp:lastModifiedBy>
  <cp:revision>1</cp:revision>
  <dcterms:created xsi:type="dcterms:W3CDTF">2026-10-13T03:31:43Z</dcterms:created>
  <dcterms:modified xsi:type="dcterms:W3CDTF">2026-10-13T03:31:43Z</dcterms:modified>
</cp:coreProperties>
</file>