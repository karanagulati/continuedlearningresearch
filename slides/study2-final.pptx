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7b899e5-c9f2-f6b0-d009-dc62bf0770cd}">
          <p14:sldIdLst>
            <p14:sldId id="256"/>
          </p14:sldIdLst>
        </p14:section>
        <p14:section name="The basics, no chess needed" id="{659b28ab-cb93-1255-2e52-9bb194e00127}">
          <p14:sldIdLst>
            <p14:sldId id="257"/>
            <p14:sldId id="258"/>
            <p14:sldId id="259"/>
            <p14:sldId id="260"/>
            <p14:sldId id="261"/>
            <p14:sldId id="262"/>
            <p14:sldId id="263"/>
          </p14:sldIdLst>
        </p14:section>
        <p14:section name="What other researchers have found" id="{9f8785a4-f1d7-9ba6-e0f9-4ca37db19e8d}">
          <p14:sldIdLst>
            <p14:sldId id="264"/>
            <p14:sldId id="265"/>
            <p14:sldId id="266"/>
            <p14:sldId id="267"/>
            <p14:sldId id="268"/>
            <p14:sldId id="269"/>
            <p14:sldId id="270"/>
            <p14:sldId id="271"/>
            <p14:sldId id="272"/>
            <p14:sldId id="273"/>
            <p14:sldId id="274"/>
            <p14:sldId id="275"/>
          </p14:sldIdLst>
        </p14:section>
        <p14:section name="The questions" id="{f4cf7a17-23ba-5323-94bd-fc3f37caa358}">
          <p14:sldIdLst>
            <p14:sldId id="276"/>
            <p14:sldId id="277"/>
          </p14:sldIdLst>
        </p14:section>
        <p14:section name="How it was measured" id="{60711247-aeb8-854d-841f-6910fbc1294d}">
          <p14:sldIdLst>
            <p14:sldId id="278"/>
            <p14:sldId id="279"/>
            <p14:sldId id="280"/>
            <p14:sldId id="281"/>
            <p14:sldId id="282"/>
            <p14:sldId id="283"/>
            <p14:sldId id="284"/>
            <p14:sldId id="285"/>
            <p14:sldId id="286"/>
            <p14:sldId id="287"/>
          </p14:sldIdLst>
        </p14:section>
        <p14:section name="Results" id="{4e5b0b9a-802b-4ade-5eb8-21ea3afc77e6}">
          <p14:sldIdLst>
            <p14:sldId id="288"/>
            <p14:sldId id="289"/>
            <p14:sldId id="290"/>
            <p14:sldId id="291"/>
            <p14:sldId id="292"/>
          </p14:sldIdLst>
        </p14:section>
        <p14:section name="What it means" id="{3227e980-57a6-b102-5a9f-5089a9b7fb0b}">
          <p14:sldIdLst>
            <p14:sldId id="293"/>
            <p14:sldId id="294"/>
          </p14:sldIdLst>
        </p14:section>
        <p14:section name="Conclusions" id="{6cb321e5-a00d-da11-4570-9304d964e8be}">
          <p14:sldIdLst>
            <p14:sldId id="295"/>
          </p14:sldIdLst>
        </p14:section>
        <p14:section name="Backup" id="{ce3fad35-9052-bc36-bbb0-d6a790739985}">
          <p14:sldIdLst>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wins</c:v>
                </c:pt>
              </c:strCache>
            </c:strRef>
          </c:tx>
          <c:spPr>
            <a:solidFill>
              <a:srgbClr val="C27C0E"/>
            </a:solidFill>
            <a:effectLst/>
          </c:spPr>
          <c:invertIfNegative val="0"/>
          <c:dLbls>
            <c:numFmt formatCode="0&quot;%&quot;" sourceLinked="0"/>
            <c:txPr>
              <a:bodyPr/>
              <a:lstStyle/>
              <a:p>
                <a:pPr>
                  <a:defRPr b="0" i="0" strike="noStrike" sz="1600" u="none">
                    <a:solidFill>
                      <a:srgbClr val="2D2D2D"/>
                    </a:solidFill>
                    <a:latin typeface="+mn-lt"/>
                  </a:defRPr>
                </a:pPr>
              </a:p>
            </c:txPr>
            <c:showLegendKey val="0"/>
            <c:showVal val="1"/>
            <c:showCatName val="0"/>
            <c:showSerName val="0"/>
            <c:showPercent val="0"/>
            <c:showBubbleSize val="0"/>
            <c:showLeaderLines val="0"/>
          </c:dLbls>
          <c:dPt>
            <c:idx val="0"/>
            <c:invertIfNegative val="0"/>
            <c:bubble3D val="0"/>
            <c:spPr>
              <a:solidFill>
                <a:srgbClr val="C27C0E"/>
              </a:solidFill>
              <a:effectLst/>
            </c:spPr>
          </c:dPt>
          <c:dPt>
            <c:idx val="1"/>
            <c:invertIfNegative val="0"/>
            <c:bubble3D val="0"/>
            <c:spPr>
              <a:solidFill>
                <a:srgbClr val="2E75B6"/>
              </a:solidFill>
              <a:effectLst/>
            </c:spPr>
          </c:dPt>
          <c:dPt>
            <c:idx val="2"/>
            <c:invertIfNegative val="0"/>
            <c:bubble3D val="0"/>
            <c:spPr>
              <a:solidFill>
                <a:srgbClr val="2E75B6"/>
              </a:solidFill>
              <a:effectLst/>
            </c:spPr>
          </c:dPt>
          <c:cat>
            <c:multiLvlStrRef>
              <c:f>Sheet1!$A$2:$A$4</c:f>
              <c:multiLvlStrCache>
                <c:ptCount val="3"/>
                <c:lvl>
                  <c:pt idx="0">
                    <c:v>Opponent's clock ran out</c:v>
                  </c:pt>
                  <c:pt idx="1">
                    <c:v>Checkmate</c:v>
                  </c:pt>
                  <c:pt idx="2">
                    <c:v>Opponent resigned</c:v>
                  </c:pt>
                </c:lvl>
              </c:multiLvlStrCache>
            </c:multiLvlStrRef>
          </c:cat>
          <c:val>
            <c:numRef>
              <c:f>Sheet1!$B$2:$B$4</c:f>
              <c:numCache>
                <c:formatCode>General</c:formatCode>
                <c:ptCount val="3"/>
                <c:pt idx="0">
                  <c:v>11.4</c:v>
                </c:pt>
                <c:pt idx="1">
                  <c:v>30</c:v>
                </c:pt>
                <c:pt idx="2">
                  <c:v>58.6</c:v>
                </c:pt>
              </c:numCache>
            </c:numRef>
          </c:val>
        </c:ser>
        <c:dLbls>
          <c:numFmt formatCode="0&quot;%&quot;" sourceLinked="0"/>
          <c:txPr>
            <a:bodyPr/>
            <a:lstStyle/>
            <a:p>
              <a:pPr>
                <a:defRPr b="0" i="0" strike="noStrike" sz="1600" u="none">
                  <a:solidFill>
                    <a:srgbClr val="2D2D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D2D2D"/>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one question: if you win a chess game by luck, does it affect how well you play your next game? You do not need to know chess or advanced maths. Every idea is built from the ground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three ideas everything else rests on: how chess games are won, how a computer scores a position, and how we turn that score into a measure of how well someone 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online chess game has a clock for each player, like a timer in a quiz. You can win in three ways: trap the opponent's king, which is checkmate; the opponent gives up, which is resignation; or the opponent's clock runs out. About one win in nine is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of the study. A win on time is recorded as a win, even if you were completely losing the actual game. We checked 70,000 time wins with a chess computer and found that in about one in five, the winner was the one losing on the board. Those are lucky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chess computer, called an engine, can look at any position and give one number for who is better and by how much. The unit is the centipawn, a hundredth of a pawn. Zero means equal. Plus 300 means White is about three pawns ahead. This is the same line you see in the graph after a game on chess.com.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how well someone played, we look at each of their moves. If the score was +40 before a move and -250 after, the move threw away 290 centipawns, almost three pawns. If the score goes up, the loss is zero, because you cannot do better than the engine's best move. 'max of zero and' just means negative losses count as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ACPL is just the average of those losses over the moves we score. A perfect game would be zero. Club players in our data lose about 61 centipawns per move on a typical game. Stronger players lose less: about 3.7 centipawns less for every 100 rating points. That gives us a way to translate centipawns into rating points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study asked whether winning on time, by checkmate or by resignation changes the next game. It barely does. But when we split the time wins afterwards, the lucky ones seemed to play a bit worse. Because we only spotted that after looking, it could have been chance. Study 2 was built to test it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our questions, the studies this project builds on. For each one: what they wanted to know, what they did, and what they found,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studies matter most. Two ask the same kind of question as us: does the last game affect the next one? Four built and tested the tool we use to grade moves with a chess computer. One looks at how the clock affects decisions, which is why we used rapid games. The next slides take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Gee and colleagues are statisticians and psychologists. The idea of a winner-loser effect comes from animal studies, where an animal that just won a fight is more likely to win the next one. They asked whether chess players show the same thing online. They took a few dozen players in each rating group, plus grandmasters, and looked at hundreds of thousands of their fast games. They only counted games played in one sitting, and their model allowed for playing White or Black and for how much stronger the opponent was. The answer: almost no effect for players in general, though a few individual players showed one. Most important for us, at the end of the paper they point out two things they did not do: they did not treat wins on time differently, even though a quarter of grandmaster bullet wins are on time, and they did not separate winning from losing effects. Our studies pick up exactly the first point. Note: the -2 to +3 points is their -0.02 to 0.03 change in win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team studies how success works in many fields, and used chess as a test case. The clever part is the shuffle test. If you shuffle the order of one player's games, you keep their total wins and losses but destroy any real pattern in time. So any streaks left after shuffling are what luck alone produces. Real careers had longer streaks than shuffled ones, so the streaks are real. They checked some explanations: streaks were only slightly linked to facing weaker opponents, and gaps between games hardly mattered. But their outcome is only win, loss or draw, and they did not look at what kind of win came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 and Bratko are computer scientists from Ljubljana. Their idea was simple: if a strong program can judge positions, it can say how much each human move gave away. Averaging that over a player's moves gives a quality score. Their first study surprised people by ranking Capablanca first, and drew criticism that the program was too weak. Their follow-ups showed the rough ranking held with stronger programs, but also that the numbers depend on which program you use and how deep it searches. That is why we fix one program and one depth for every game. We could not download the 2006 paper itself; these details come from the authors' own later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economics paper about gender and competition. Chess is useful because there is a fair, objective measure of how well each person played every game. They chose moves 15 to 30 for two reasons: to save computer time, and because those middle-game moves are less likely to be memorised preparation. They compared each player with themselves, which removes differences in skill between players. Their average mistake of 16.5 is much smaller than our 72, but the two cannot be compared: different program, different players, slower games. Only comparisons made with the same program and settings are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only score moves 15 to 30? We copied this from Backus and colleagues, who took it from Guid and Bratko. On page 359 they write: 'Following Guid and Bratko (2006, 2011), we base our quality of play variable on the analysis of moves n = 15, ..., 30, in each game g with total length N of at least 15 moves. We consider this subset of moves for two reasons. First, to limit the substantial computational burden of calculating so many moves (about 1.5 million in our full sample). Second, because we want to focus on the middle game, which is least likely to follow an established plan as experienced players, like those in our sample, tend to study the opening moves of their opponents and practice endgames in advance.' Their footnote 15 adds that each extra move of search depth roughly doubles the computing time. Their players were experienced tournament players. Ours are club players online, who probably memorise fewer openings, so for us the window mostly skips habitual opening moves and keeps the computing manageable. Either way, the same window is used for every game in every group, and it was fixed before any data was scored, so it cannot favour one group over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economists used chess to study working from home. When lockdown moved top tournaments online, they could compare the same eight elite players at the same time control, online and in person. The engine graded every move after the opening. Players made bigger errors online. Their appendix has the clear example we use to explain a loss: the score goes from -0.13 before a move to -1.09 after, so the move lost 0.96 of a pawn. Their sample is small and very elite, so it says little about club players, but it shows the method works on rapid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Kuenn and colleagues matter to us in four ways. First, their games were rapid, 15 minutes plus 10 seconds, so they show that grading moves with an engine still works when players are short of time. Second, they dropped each player's first 15 moves 'as in Backus et al.', because those are usually memorised preparation, so our window is a convention used by more than one team. Third, their appendix gives the clearest example of how one move's loss is worked out: minus 0.13 before, minus 1.09 after, a loss of 0.96 of a pawn. Fourth, their whole result is that the same players made bigger mistakes online than in person, which is the general idea behind our study: something outside the board can change how well people play. One detail is worth knowing. Playing online did not significantly change how often players made an error, p equals 0.138, but when they did make one it was 16.8 percent bigger. Our measure, ACPL, mixes how often and how big, so a natural follow-up is to ask whether lucky winners make more mistakes or bigger ones. Their sample is small and elite, eight top players, so it says little about club players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 Regan is a computer scientist best known for detecting cheating in chess. This paper compares human and computer play using a very large set of positions, each run through four programs. Two findings matter for us. First, the size of a centipawn depends on the program: in 2014, Stockfish gave numbers about one and a half times bigger than the others. That is why our 72 centipawns cannot be compared with another study's numbers, and why every game in our study is scored with the same program and depth. Second, human mistakes grow when one side is far ahead, which is a reason not to judge a lucky win by the moves inside it, where the winner was losing badly. Their programs were 2014 versions, so the 1.5 figure is not known to hold for Stockfish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study of decision making that uses chess because every decision is timed and can be graded. The puzzle is that more thinking time should help, yet the hardest moves are also the slowest ones. They found that quick moves were usually better, because quick moves are often easy moves. The interesting part for us is the sign flip: if you ignore how long the player thought, having more time on the clock looks bad; once you account for it, more time helps. So the clock affects quality in a tangled way. Their players were grandmasters over the board, not club players online, so we use this as a reason for caution rather than a direct finding about Lichess.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Gee and Chowdhary looked at results, not at how well the moves were played. Backus, Kuenn and Sunde measured move quality, but not in relation to how the previous game ended. So the cell 'how the last game was won, against how well the next game was played' was empty in the work we read. Study 1 filled it for the three ways of winning; study 2 asks the sharper question of lucky against deserved wins. This is a claim about the papers we read, not a full search of everything ever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exactly what study 2 asked, and what was predicted before any of its data was looked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predictions were written down, dated and saved publicly before a single game was scored. Why? If you look at the data first, with dozens of ways to slice it, something will look interesting by pure chance. Writing the prediction first means the result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method: where the games came from, how lucky wins were found, how the comparison was made fair, and how the numbers were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every rated game played on Lichess in September 2026, nearly 90 million. We kept rapid games, which last about 10 to 15 minutes, removed computer accounts, and kept players rated 1200 to 2000. Then we took one time win per player, checked 70,000 of them with the chess computer, and ended with about 12,000 lucky and 12,000 deserved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data point is a pair. Game A is the win. Game B is the same player's next rated game, which must start within 30 minutes with no other game in between. Any after-effect of a lucky win should show up right away, not days later. We only measure accuracy in game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time win, the chess computer scored the final position from the winner's side. If the winner was more than one pawn behind, minus 100 centipawns or worse, the win counts as lucky. Otherwise it is deserved. We also ran a stricter version, losing by more than three pawns, as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fair, the two groups must contain similar players. So for every rating band and game speed, we took exactly as many deserved wins as lucky wins. If lucky winners were, say, weaker players, they would look worse for that reason alone. Matching removes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game goes through the same machine with the same settings. A fixed depth means the computer thinks equally hard about every position, so anyone can rerun this and get the same numbers. We skip the first 14 moves because players often play memorised openings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regression is a line of best fit with several ingredients. It estimates how much each factor pushes ACPL up or down, separately. The one we care about is beta one: the extra mistakes after a lucky win, with rating, opponent strength and colour already accounted for. The other rows are sensible, which tells us the model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estimate is exact. The standard error tells us how much it would change if we had picked different games. Multiply by 1.96 each way and you get the 95 percent confidence interval: the range of values the data can believe. The p-value asks: if lucky wins truly made no difference, how often would we see a gap this large by luck? Here, 3 times in a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written down before the study. If the whole interval sits inside the shaded zone of plus or minus 2 centipawns, the groups are equal for practical purposes, and the 'players reset' prediction is supported. If the interval is clear of zero and the gap is at least 2, the prediction is refuted. Anything else is inconclusive. This test of 'equal within a margin' is called an equivalence test, or TOST.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scoring, we worked out how many games were needed. Games vary a lot, by about 50 centipawns, so to pin down a 2 centipawn difference we need a lot of them: about 10,700 per group. We planned 13,000 because some games end too early to score. We ended with about 12,000 usable per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main result. After a lucky win, players lost 1.96 more centipawns per move. The 90 percent interval pokes out of the plus or minus 2 zone, so we cannot say the groups are equal, and the 'players reset' prediction is not supported. But the rule needed at least 2 centipawns to call it refuted, and 1.96 falls short by 0.04. So the official verdict is inconclusive, right on the line. In rating terms, 1.96 centipawns is about the gap between players 53 points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fixed five checks in advance, each changing one choice: only 10-minute games, removing rematches against the same opponent, each rating band separately, and a stricter definition of lucky. Every one points the same way, between 1.8 and 2.3 centipawns. One band's interval just touches zero because it has half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repeat of study 1's question. None of the differences between time, checkmate and resignation wins was significant. Two comparisons were inside the plus or minus 3 zone; the third missed it by five hundredths of a centipawn. So formally inconclusive, but in practice the same story as study 1: the type of win matters very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1's hint and study 2's planned test used completely different games and found almost the same number: 2.2 and 1.96. Study 2's interval is much narrower because it had nine times as many lucky wins. When an unplanned hint comes back in a planned test, that is how science is supposed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what the result means and what it cannot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means: escaping with an undeserved win seems to leave a small mark on the next game, roughly what you would expect from a player about 53 rating points weaker. What it does not tell us: why. It could be adrenaline, overconfidence or something else. And we only looked at rapid games and the middle part of each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Lucky winners played slightly but clearly worse in their next game. My prediction that players reset was not supported, though the effect landed just under the size we decided in advance would count. Across both studies, how you win barely matters, but whether you deserved the win might. Questions and feedback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definitions for every technical term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E7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7863840" cy="16459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640080" y="2834640"/>
            <a:ext cx="7863840" cy="12801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4E79"/>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7863840" cy="45720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
        <p:nvSpPr>
          <p:cNvPr id="3" name="Text 0"/>
          <p:cNvSpPr/>
          <p:nvPr>
            <p:ph idx="101" type="title" hasCustomPrompt="1"/>
          </p:nvPr>
        </p:nvSpPr>
        <p:spPr>
          <a:xfrm>
            <a:off x="640080" y="2011680"/>
            <a:ext cx="7863840" cy="12801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F4E7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45720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7863840" cy="1645920"/>
          </a:xfrm>
          <a:prstGeom prst="rect">
            <a:avLst/>
          </a:prstGeom>
          <a:noFill/>
          <a:ln/>
        </p:spPr>
        <p:txBody>
          <a:bodyPr wrap="square" lIns="0" tIns="0" rIns="0" bIns="0" rtlCol="0" anchor="t"/>
          <a:lstStyle/>
          <a:p>
            <a:pPr algn="l" indent="0" marL="0">
              <a:buNone/>
            </a:pPr>
            <a:r>
              <a:rPr lang="en-US" sz="3400" b="1" dirty="0">
                <a:solidFill>
                  <a:schemeClr val="bg1"/>
                </a:solidFill>
              </a:rPr>
              <a:t>Do lucky wins make chess players play worse in their next game?</a:t>
            </a:r>
            <a:endParaRPr lang="en-US" sz="3400" dirty="0"/>
          </a:p>
        </p:txBody>
      </p:sp>
      <p:sp>
        <p:nvSpPr>
          <p:cNvPr id="3" name="Text 0"/>
          <p:cNvSpPr/>
          <p:nvPr>
            <p:ph idx="101" type="body" hasCustomPrompt="1"/>
          </p:nvPr>
        </p:nvSpPr>
        <p:spPr>
          <a:xfrm>
            <a:off x="640080" y="2834640"/>
            <a:ext cx="7863840" cy="1280160"/>
          </a:xfrm>
          <a:prstGeom prst="rect">
            <a:avLst/>
          </a:prstGeom>
          <a:noFill/>
          <a:ln/>
        </p:spPr>
        <p:txBody>
          <a:bodyPr wrap="square" lIns="0" tIns="0" rIns="0" bIns="0" rtlCol="0" anchor="t"/>
          <a:lstStyle/>
          <a:p>
            <a:pPr algn="l" indent="0" marL="0">
              <a:buNone/>
            </a:pPr>
            <a:r>
              <a:rPr lang="en-US" sz="1800" dirty="0">
                <a:solidFill>
                  <a:schemeClr val="accent5"/>
                </a:solidFill>
              </a:rPr>
              <a:t>Study 2: 41,957 online games, analysed with a plan fixed before any data was scored</a:t>
            </a:r>
            <a:endParaRPr lang="en-US" sz="1800" dirty="0"/>
          </a:p>
          <a:p>
            <a:pPr algn="l" indent="0" marL="0">
              <a:buNone/>
            </a:pPr>
            <a:r>
              <a:rPr lang="en-US" sz="1800" dirty="0">
                <a:solidFill>
                  <a:schemeClr val="accent5"/>
                </a:solidFill>
              </a:rPr>
              <a:t> </a:t>
            </a:r>
            <a:endParaRPr lang="en-US" sz="1800" dirty="0"/>
          </a:p>
          <a:p>
            <a:pPr algn="l" indent="0" marL="0">
              <a:buNone/>
            </a:pPr>
            <a:r>
              <a:rPr lang="en-US" sz="1800" dirty="0">
                <a:solidFill>
                  <a:srgbClr val="A0BBDD"/>
                </a:solidFill>
              </a:rPr>
              <a:t>Karana Gulati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7863840" cy="457200"/>
          </a:xfrm>
          <a:prstGeom prst="rect">
            <a:avLst/>
          </a:prstGeom>
          <a:noFill/>
          <a:ln/>
        </p:spPr>
        <p:txBody>
          <a:bodyPr wrap="square" lIns="0" tIns="0" rIns="0" bIns="0" rtlCol="0" anchor="t"/>
          <a:lstStyle/>
          <a:p>
            <a:pPr algn="l" indent="0" marL="0">
              <a:buNone/>
            </a:pPr>
            <a:r>
              <a:rPr lang="en-US" sz="1800" dirty="0">
                <a:solidFill>
                  <a:schemeClr val="accent5"/>
                </a:solidFill>
              </a:rPr>
              <a:t>Part 1</a:t>
            </a:r>
            <a:endParaRPr lang="en-US" sz="1800" dirty="0"/>
          </a:p>
        </p:txBody>
      </p:sp>
      <p:sp>
        <p:nvSpPr>
          <p:cNvPr id="3" name="Text 0"/>
          <p:cNvSpPr/>
          <p:nvPr>
            <p:ph idx="101" type="title" hasCustomPrompt="1"/>
          </p:nvPr>
        </p:nvSpPr>
        <p:spPr>
          <a:xfrm>
            <a:off x="640080" y="2011680"/>
            <a:ext cx="7863840" cy="1280160"/>
          </a:xfrm>
          <a:prstGeom prst="rect">
            <a:avLst/>
          </a:prstGeom>
          <a:noFill/>
          <a:ln/>
        </p:spPr>
        <p:txBody>
          <a:bodyPr wrap="square" lIns="0" tIns="0" rIns="0" bIns="0" rtlCol="0" anchor="t"/>
          <a:lstStyle/>
          <a:p>
            <a:pPr algn="l" indent="0" marL="0">
              <a:buNone/>
            </a:pPr>
            <a:r>
              <a:rPr lang="en-US" sz="3600" b="1" dirty="0">
                <a:solidFill>
                  <a:schemeClr val="bg1"/>
                </a:solidFill>
              </a:rPr>
              <a:t>The basics, no chess needed</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 chess game can be won in three ways, and most wins come from the opponent giving up</a:t>
            </a:r>
            <a:endParaRPr lang="en-US" sz="2600" dirty="0"/>
          </a:p>
        </p:txBody>
      </p:sp>
      <p:graphicFrame>
        <p:nvGraphicFramePr>
          <p:cNvPr id="3" name="Chart 0" descr=""/>
          <p:cNvGraphicFramePr/>
          <p:nvPr/>
        </p:nvGraphicFramePr>
        <p:xfrm>
          <a:off x="457200" y="1188720"/>
          <a:ext cx="4846320" cy="3291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577840" y="1234440"/>
            <a:ext cx="310896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How a game ends</a:t>
            </a:r>
            <a:endParaRPr lang="en-US" sz="2000" dirty="0"/>
          </a:p>
        </p:txBody>
      </p:sp>
      <p:sp>
        <p:nvSpPr>
          <p:cNvPr id="5" name="Text 2"/>
          <p:cNvSpPr txBox="1"/>
          <p:nvPr/>
        </p:nvSpPr>
        <p:spPr>
          <a:xfrm>
            <a:off x="5577840" y="1691640"/>
            <a:ext cx="3108960" cy="28346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Checkmate: the king is trapped</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Resignation: the loser gives up</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On time: each player has a clock, and it ran out</a:t>
            </a:r>
            <a:endParaRPr lang="en-US" sz="2000" dirty="0"/>
          </a:p>
        </p:txBody>
      </p:sp>
      <p:sp>
        <p:nvSpPr>
          <p:cNvPr id="6" name="Text 3"/>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Lichess rated rapid games, first 2 million games of September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 win on time can be undeserved: one in five time winners was losing when the clock ran out</a:t>
            </a:r>
            <a:endParaRPr lang="en-US" sz="2600" dirty="0"/>
          </a:p>
        </p:txBody>
      </p:sp>
      <p:sp>
        <p:nvSpPr>
          <p:cNvPr id="3" name="deserved"/>
          <p:cNvSpPr/>
          <p:nvPr/>
        </p:nvSpPr>
        <p:spPr>
          <a:xfrm>
            <a:off x="457200" y="1280160"/>
            <a:ext cx="3931920" cy="2103120"/>
          </a:xfrm>
          <a:prstGeom prst="roundRect">
            <a:avLst>
              <a:gd name="adj" fmla="val 2609"/>
            </a:avLst>
          </a:prstGeom>
          <a:solidFill>
            <a:srgbClr val="EBF3FA"/>
          </a:solidFill>
          <a:ln w="12700">
            <a:solidFill>
              <a:srgbClr val="2E75B6"/>
            </a:solidFill>
            <a:prstDash val="solid"/>
          </a:ln>
        </p:spPr>
      </p:sp>
      <p:sp>
        <p:nvSpPr>
          <p:cNvPr id="4" name="Text 2"/>
          <p:cNvSpPr txBox="1"/>
          <p:nvPr/>
        </p:nvSpPr>
        <p:spPr>
          <a:xfrm>
            <a:off x="685800" y="1417320"/>
            <a:ext cx="3474720" cy="365760"/>
          </a:xfrm>
          <a:prstGeom prst="rect">
            <a:avLst/>
          </a:prstGeom>
          <a:noFill/>
          <a:ln/>
        </p:spPr>
        <p:txBody>
          <a:bodyPr wrap="square" lIns="0" tIns="0" rIns="0" bIns="0" rtlCol="0" anchor="t"/>
          <a:lstStyle/>
          <a:p>
            <a:pPr indent="0" marL="0">
              <a:buNone/>
            </a:pPr>
            <a:r>
              <a:rPr lang="en-US" sz="2000" b="1" dirty="0">
                <a:solidFill>
                  <a:srgbClr val="1F4E79"/>
                </a:solidFill>
                <a:latin typeface="Arial" pitchFamily="34" charset="0"/>
                <a:ea typeface="Arial" pitchFamily="34" charset="-122"/>
                <a:cs typeface="Arial" pitchFamily="34" charset="-120"/>
              </a:rPr>
              <a:t>Deserved time win</a:t>
            </a:r>
            <a:endParaRPr lang="en-US" sz="2000" dirty="0"/>
          </a:p>
        </p:txBody>
      </p:sp>
      <p:sp>
        <p:nvSpPr>
          <p:cNvPr id="5" name="Text 3"/>
          <p:cNvSpPr txBox="1"/>
          <p:nvPr/>
        </p:nvSpPr>
        <p:spPr>
          <a:xfrm>
            <a:off x="685800" y="1874520"/>
            <a:ext cx="3474720" cy="137160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You were ahead on the board, and the opponent also ran out of time.</a:t>
            </a:r>
            <a:endParaRPr lang="en-US" sz="2000" dirty="0"/>
          </a:p>
        </p:txBody>
      </p:sp>
      <p:sp>
        <p:nvSpPr>
          <p:cNvPr id="6" name="lucky"/>
          <p:cNvSpPr/>
          <p:nvPr/>
        </p:nvSpPr>
        <p:spPr>
          <a:xfrm>
            <a:off x="4754880" y="1280160"/>
            <a:ext cx="3931920" cy="2103120"/>
          </a:xfrm>
          <a:prstGeom prst="roundRect">
            <a:avLst>
              <a:gd name="adj" fmla="val 2609"/>
            </a:avLst>
          </a:prstGeom>
          <a:solidFill>
            <a:srgbClr val="FFF2CC"/>
          </a:solidFill>
          <a:ln w="12700">
            <a:solidFill>
              <a:srgbClr val="C27C0E"/>
            </a:solidFill>
            <a:prstDash val="solid"/>
          </a:ln>
        </p:spPr>
      </p:sp>
      <p:sp>
        <p:nvSpPr>
          <p:cNvPr id="7" name="Text 5"/>
          <p:cNvSpPr txBox="1"/>
          <p:nvPr/>
        </p:nvSpPr>
        <p:spPr>
          <a:xfrm>
            <a:off x="4983480" y="1417320"/>
            <a:ext cx="3474720" cy="365760"/>
          </a:xfrm>
          <a:prstGeom prst="rect">
            <a:avLst/>
          </a:prstGeom>
          <a:noFill/>
          <a:ln/>
        </p:spPr>
        <p:txBody>
          <a:bodyPr wrap="square" lIns="0" tIns="0" rIns="0" bIns="0" rtlCol="0" anchor="t"/>
          <a:lstStyle/>
          <a:p>
            <a:pPr indent="0" marL="0">
              <a:buNone/>
            </a:pPr>
            <a:r>
              <a:rPr lang="en-US" sz="2000" b="1" dirty="0">
                <a:solidFill>
                  <a:srgbClr val="C27C0E"/>
                </a:solidFill>
                <a:latin typeface="Arial" pitchFamily="34" charset="0"/>
                <a:ea typeface="Arial" pitchFamily="34" charset="-122"/>
                <a:cs typeface="Arial" pitchFamily="34" charset="-120"/>
              </a:rPr>
              <a:t>Lucky time win</a:t>
            </a:r>
            <a:endParaRPr lang="en-US" sz="2000" dirty="0"/>
          </a:p>
        </p:txBody>
      </p:sp>
      <p:sp>
        <p:nvSpPr>
          <p:cNvPr id="8" name="Text 6"/>
          <p:cNvSpPr txBox="1"/>
          <p:nvPr/>
        </p:nvSpPr>
        <p:spPr>
          <a:xfrm>
            <a:off x="4983480" y="1874520"/>
            <a:ext cx="3474720" cy="137160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You were losing on the board, but the opponent's clock hit zero first.</a:t>
            </a:r>
            <a:endParaRPr lang="en-US" sz="2000" dirty="0"/>
          </a:p>
        </p:txBody>
      </p:sp>
      <p:sp>
        <p:nvSpPr>
          <p:cNvPr id="9" name="Text 7"/>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b="1" dirty="0">
                <a:solidFill>
                  <a:srgbClr val="C27C0E"/>
                </a:solidFill>
                <a:latin typeface="Arial" pitchFamily="34" charset="0"/>
                <a:ea typeface="Arial" pitchFamily="34" charset="-122"/>
                <a:cs typeface="Arial" pitchFamily="34" charset="-120"/>
              </a:rPr>
              <a:t>14,284 of 70,000 </a:t>
            </a:r>
            <a:pPr indent="0" marL="0">
              <a:buNone/>
            </a:pPr>
            <a:r>
              <a:rPr lang="en-US" sz="2000" dirty="0">
                <a:solidFill>
                  <a:schemeClr val="tx1"/>
                </a:solidFill>
                <a:latin typeface="Arial" pitchFamily="34" charset="0"/>
                <a:ea typeface="Arial" pitchFamily="34" charset="-122"/>
                <a:cs typeface="Arial" pitchFamily="34" charset="-120"/>
              </a:rPr>
              <a:t>time wins checked were lucky (20.4%).</a:t>
            </a:r>
            <a:endParaRPr lang="en-US" sz="2000" dirty="0"/>
          </a:p>
        </p:txBody>
      </p:sp>
      <p:sp>
        <p:nvSpPr>
          <p:cNvPr id="10" name="Text 8"/>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Study 2 screening: final positions of 70,000 time wins scored by Stockfish 16, 6 to 30 September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 chess computer gives every position a score, measured in centipawns (100 cp = 1 pawn)</a:t>
            </a:r>
            <a:endParaRPr lang="en-US" sz="2600" dirty="0"/>
          </a:p>
        </p:txBody>
      </p:sp>
      <p:sp>
        <p:nvSpPr>
          <p:cNvPr id="3" name="number line"/>
          <p:cNvSpPr/>
          <p:nvPr/>
        </p:nvSpPr>
        <p:spPr>
          <a:xfrm>
            <a:off x="914400" y="2331720"/>
            <a:ext cx="7315200" cy="0"/>
          </a:xfrm>
          <a:prstGeom prst="line">
            <a:avLst/>
          </a:prstGeom>
          <a:noFill/>
          <a:ln w="31750">
            <a:solidFill>
              <a:srgbClr val="1F4E79"/>
            </a:solidFill>
            <a:prstDash val="solid"/>
          </a:ln>
        </p:spPr>
      </p:sp>
      <p:sp>
        <p:nvSpPr>
          <p:cNvPr id="4" name="tick -500"/>
          <p:cNvSpPr/>
          <p:nvPr/>
        </p:nvSpPr>
        <p:spPr>
          <a:xfrm>
            <a:off x="914400" y="2240280"/>
            <a:ext cx="0" cy="182880"/>
          </a:xfrm>
          <a:prstGeom prst="line">
            <a:avLst/>
          </a:prstGeom>
          <a:noFill/>
          <a:ln w="19050">
            <a:solidFill>
              <a:srgbClr val="1F4E79"/>
            </a:solidFill>
            <a:prstDash val="solid"/>
          </a:ln>
        </p:spPr>
      </p:sp>
      <p:sp>
        <p:nvSpPr>
          <p:cNvPr id="5" name="Text 3"/>
          <p:cNvSpPr txBox="1"/>
          <p:nvPr/>
        </p:nvSpPr>
        <p:spPr>
          <a:xfrm>
            <a:off x="548640" y="2468880"/>
            <a:ext cx="731520" cy="274320"/>
          </a:xfrm>
          <a:prstGeom prst="rect">
            <a:avLst/>
          </a:prstGeom>
          <a:noFill/>
          <a:ln/>
        </p:spPr>
        <p:txBody>
          <a:bodyPr wrap="square" lIns="0" tIns="0" rIns="0" bIns="0" rtlCol="0" anchor="t"/>
          <a:lstStyle/>
          <a:p>
            <a:pPr algn="ctr" indent="0" marL="0">
              <a:buNone/>
            </a:pPr>
            <a:r>
              <a:rPr lang="en-US" sz="1400" dirty="0">
                <a:solidFill>
                  <a:srgbClr val="777777"/>
                </a:solidFill>
                <a:latin typeface="Arial" pitchFamily="34" charset="0"/>
                <a:ea typeface="Arial" pitchFamily="34" charset="-122"/>
                <a:cs typeface="Arial" pitchFamily="34" charset="-120"/>
              </a:rPr>
              <a:t>-500</a:t>
            </a:r>
            <a:endParaRPr lang="en-US" sz="1400" dirty="0"/>
          </a:p>
        </p:txBody>
      </p:sp>
      <p:sp>
        <p:nvSpPr>
          <p:cNvPr id="6" name="tick -300"/>
          <p:cNvSpPr/>
          <p:nvPr/>
        </p:nvSpPr>
        <p:spPr>
          <a:xfrm>
            <a:off x="2377440" y="2240280"/>
            <a:ext cx="0" cy="182880"/>
          </a:xfrm>
          <a:prstGeom prst="line">
            <a:avLst/>
          </a:prstGeom>
          <a:noFill/>
          <a:ln w="19050">
            <a:solidFill>
              <a:srgbClr val="1F4E79"/>
            </a:solidFill>
            <a:prstDash val="solid"/>
          </a:ln>
        </p:spPr>
      </p:sp>
      <p:sp>
        <p:nvSpPr>
          <p:cNvPr id="7" name="Text 5"/>
          <p:cNvSpPr txBox="1"/>
          <p:nvPr/>
        </p:nvSpPr>
        <p:spPr>
          <a:xfrm>
            <a:off x="2011680" y="2468880"/>
            <a:ext cx="731520" cy="274320"/>
          </a:xfrm>
          <a:prstGeom prst="rect">
            <a:avLst/>
          </a:prstGeom>
          <a:noFill/>
          <a:ln/>
        </p:spPr>
        <p:txBody>
          <a:bodyPr wrap="square" lIns="0" tIns="0" rIns="0" bIns="0" rtlCol="0" anchor="t"/>
          <a:lstStyle/>
          <a:p>
            <a:pPr algn="ctr" indent="0" marL="0">
              <a:buNone/>
            </a:pPr>
            <a:r>
              <a:rPr lang="en-US" sz="1400" dirty="0">
                <a:solidFill>
                  <a:srgbClr val="777777"/>
                </a:solidFill>
                <a:latin typeface="Arial" pitchFamily="34" charset="0"/>
                <a:ea typeface="Arial" pitchFamily="34" charset="-122"/>
                <a:cs typeface="Arial" pitchFamily="34" charset="-120"/>
              </a:rPr>
              <a:t>-300</a:t>
            </a:r>
            <a:endParaRPr lang="en-US" sz="1400" dirty="0"/>
          </a:p>
        </p:txBody>
      </p:sp>
      <p:sp>
        <p:nvSpPr>
          <p:cNvPr id="8" name="tick -100"/>
          <p:cNvSpPr/>
          <p:nvPr/>
        </p:nvSpPr>
        <p:spPr>
          <a:xfrm>
            <a:off x="3840480" y="2240280"/>
            <a:ext cx="0" cy="182880"/>
          </a:xfrm>
          <a:prstGeom prst="line">
            <a:avLst/>
          </a:prstGeom>
          <a:noFill/>
          <a:ln w="19050">
            <a:solidFill>
              <a:srgbClr val="1F4E79"/>
            </a:solidFill>
            <a:prstDash val="solid"/>
          </a:ln>
        </p:spPr>
      </p:sp>
      <p:sp>
        <p:nvSpPr>
          <p:cNvPr id="9" name="Text 7"/>
          <p:cNvSpPr txBox="1"/>
          <p:nvPr/>
        </p:nvSpPr>
        <p:spPr>
          <a:xfrm>
            <a:off x="3474720" y="2468880"/>
            <a:ext cx="731520" cy="274320"/>
          </a:xfrm>
          <a:prstGeom prst="rect">
            <a:avLst/>
          </a:prstGeom>
          <a:noFill/>
          <a:ln/>
        </p:spPr>
        <p:txBody>
          <a:bodyPr wrap="square" lIns="0" tIns="0" rIns="0" bIns="0" rtlCol="0" anchor="t"/>
          <a:lstStyle/>
          <a:p>
            <a:pPr algn="ctr" indent="0" marL="0">
              <a:buNone/>
            </a:pPr>
            <a:r>
              <a:rPr lang="en-US" sz="1400" dirty="0">
                <a:solidFill>
                  <a:srgbClr val="777777"/>
                </a:solidFill>
                <a:latin typeface="Arial" pitchFamily="34" charset="0"/>
                <a:ea typeface="Arial" pitchFamily="34" charset="-122"/>
                <a:cs typeface="Arial" pitchFamily="34" charset="-120"/>
              </a:rPr>
              <a:t>-100</a:t>
            </a:r>
            <a:endParaRPr lang="en-US" sz="1400" dirty="0"/>
          </a:p>
        </p:txBody>
      </p:sp>
      <p:sp>
        <p:nvSpPr>
          <p:cNvPr id="10" name="tick 0"/>
          <p:cNvSpPr/>
          <p:nvPr/>
        </p:nvSpPr>
        <p:spPr>
          <a:xfrm>
            <a:off x="4572000" y="2240280"/>
            <a:ext cx="0" cy="182880"/>
          </a:xfrm>
          <a:prstGeom prst="line">
            <a:avLst/>
          </a:prstGeom>
          <a:noFill/>
          <a:ln w="19050">
            <a:solidFill>
              <a:srgbClr val="1F4E79"/>
            </a:solidFill>
            <a:prstDash val="solid"/>
          </a:ln>
        </p:spPr>
      </p:sp>
      <p:sp>
        <p:nvSpPr>
          <p:cNvPr id="11" name="Text 9"/>
          <p:cNvSpPr txBox="1"/>
          <p:nvPr/>
        </p:nvSpPr>
        <p:spPr>
          <a:xfrm>
            <a:off x="4206240" y="2468880"/>
            <a:ext cx="731520" cy="274320"/>
          </a:xfrm>
          <a:prstGeom prst="rect">
            <a:avLst/>
          </a:prstGeom>
          <a:noFill/>
          <a:ln/>
        </p:spPr>
        <p:txBody>
          <a:bodyPr wrap="square" lIns="0" tIns="0" rIns="0" bIns="0" rtlCol="0" anchor="t"/>
          <a:lstStyle/>
          <a:p>
            <a:pPr algn="ctr" indent="0" marL="0">
              <a:buNone/>
            </a:pPr>
            <a:r>
              <a:rPr lang="en-US" sz="1400" dirty="0">
                <a:solidFill>
                  <a:srgbClr val="777777"/>
                </a:solidFill>
                <a:latin typeface="Arial" pitchFamily="34" charset="0"/>
                <a:ea typeface="Arial" pitchFamily="34" charset="-122"/>
                <a:cs typeface="Arial" pitchFamily="34" charset="-120"/>
              </a:rPr>
              <a:t>0</a:t>
            </a:r>
            <a:endParaRPr lang="en-US" sz="1400" dirty="0"/>
          </a:p>
        </p:txBody>
      </p:sp>
      <p:sp>
        <p:nvSpPr>
          <p:cNvPr id="12" name="tick 100"/>
          <p:cNvSpPr/>
          <p:nvPr/>
        </p:nvSpPr>
        <p:spPr>
          <a:xfrm>
            <a:off x="5303520" y="2240280"/>
            <a:ext cx="0" cy="182880"/>
          </a:xfrm>
          <a:prstGeom prst="line">
            <a:avLst/>
          </a:prstGeom>
          <a:noFill/>
          <a:ln w="19050">
            <a:solidFill>
              <a:srgbClr val="1F4E79"/>
            </a:solidFill>
            <a:prstDash val="solid"/>
          </a:ln>
        </p:spPr>
      </p:sp>
      <p:sp>
        <p:nvSpPr>
          <p:cNvPr id="13" name="Text 11"/>
          <p:cNvSpPr txBox="1"/>
          <p:nvPr/>
        </p:nvSpPr>
        <p:spPr>
          <a:xfrm>
            <a:off x="4937760" y="2468880"/>
            <a:ext cx="731520" cy="274320"/>
          </a:xfrm>
          <a:prstGeom prst="rect">
            <a:avLst/>
          </a:prstGeom>
          <a:noFill/>
          <a:ln/>
        </p:spPr>
        <p:txBody>
          <a:bodyPr wrap="square" lIns="0" tIns="0" rIns="0" bIns="0" rtlCol="0" anchor="t"/>
          <a:lstStyle/>
          <a:p>
            <a:pPr algn="ctr" indent="0" marL="0">
              <a:buNone/>
            </a:pPr>
            <a:r>
              <a:rPr lang="en-US" sz="1400" dirty="0">
                <a:solidFill>
                  <a:srgbClr val="777777"/>
                </a:solidFill>
                <a:latin typeface="Arial" pitchFamily="34" charset="0"/>
                <a:ea typeface="Arial" pitchFamily="34" charset="-122"/>
                <a:cs typeface="Arial" pitchFamily="34" charset="-120"/>
              </a:rPr>
              <a:t>+100</a:t>
            </a:r>
            <a:endParaRPr lang="en-US" sz="1400" dirty="0"/>
          </a:p>
        </p:txBody>
      </p:sp>
      <p:sp>
        <p:nvSpPr>
          <p:cNvPr id="14" name="tick 300"/>
          <p:cNvSpPr/>
          <p:nvPr/>
        </p:nvSpPr>
        <p:spPr>
          <a:xfrm>
            <a:off x="6766560" y="2240280"/>
            <a:ext cx="0" cy="182880"/>
          </a:xfrm>
          <a:prstGeom prst="line">
            <a:avLst/>
          </a:prstGeom>
          <a:noFill/>
          <a:ln w="19050">
            <a:solidFill>
              <a:srgbClr val="1F4E79"/>
            </a:solidFill>
            <a:prstDash val="solid"/>
          </a:ln>
        </p:spPr>
      </p:sp>
      <p:sp>
        <p:nvSpPr>
          <p:cNvPr id="15" name="Text 13"/>
          <p:cNvSpPr txBox="1"/>
          <p:nvPr/>
        </p:nvSpPr>
        <p:spPr>
          <a:xfrm>
            <a:off x="6400800" y="2468880"/>
            <a:ext cx="731520" cy="274320"/>
          </a:xfrm>
          <a:prstGeom prst="rect">
            <a:avLst/>
          </a:prstGeom>
          <a:noFill/>
          <a:ln/>
        </p:spPr>
        <p:txBody>
          <a:bodyPr wrap="square" lIns="0" tIns="0" rIns="0" bIns="0" rtlCol="0" anchor="t"/>
          <a:lstStyle/>
          <a:p>
            <a:pPr algn="ctr" indent="0" marL="0">
              <a:buNone/>
            </a:pPr>
            <a:r>
              <a:rPr lang="en-US" sz="1400" dirty="0">
                <a:solidFill>
                  <a:srgbClr val="777777"/>
                </a:solidFill>
                <a:latin typeface="Arial" pitchFamily="34" charset="0"/>
                <a:ea typeface="Arial" pitchFamily="34" charset="-122"/>
                <a:cs typeface="Arial" pitchFamily="34" charset="-120"/>
              </a:rPr>
              <a:t>+300</a:t>
            </a:r>
            <a:endParaRPr lang="en-US" sz="1400" dirty="0"/>
          </a:p>
        </p:txBody>
      </p:sp>
      <p:sp>
        <p:nvSpPr>
          <p:cNvPr id="16" name="tick 500"/>
          <p:cNvSpPr/>
          <p:nvPr/>
        </p:nvSpPr>
        <p:spPr>
          <a:xfrm>
            <a:off x="8229600" y="2240280"/>
            <a:ext cx="0" cy="182880"/>
          </a:xfrm>
          <a:prstGeom prst="line">
            <a:avLst/>
          </a:prstGeom>
          <a:noFill/>
          <a:ln w="19050">
            <a:solidFill>
              <a:srgbClr val="1F4E79"/>
            </a:solidFill>
            <a:prstDash val="solid"/>
          </a:ln>
        </p:spPr>
      </p:sp>
      <p:sp>
        <p:nvSpPr>
          <p:cNvPr id="17" name="Text 15"/>
          <p:cNvSpPr txBox="1"/>
          <p:nvPr/>
        </p:nvSpPr>
        <p:spPr>
          <a:xfrm>
            <a:off x="7863840" y="2468880"/>
            <a:ext cx="731520" cy="274320"/>
          </a:xfrm>
          <a:prstGeom prst="rect">
            <a:avLst/>
          </a:prstGeom>
          <a:noFill/>
          <a:ln/>
        </p:spPr>
        <p:txBody>
          <a:bodyPr wrap="square" lIns="0" tIns="0" rIns="0" bIns="0" rtlCol="0" anchor="t"/>
          <a:lstStyle/>
          <a:p>
            <a:pPr algn="ctr" indent="0" marL="0">
              <a:buNone/>
            </a:pPr>
            <a:r>
              <a:rPr lang="en-US" sz="1400" dirty="0">
                <a:solidFill>
                  <a:srgbClr val="777777"/>
                </a:solidFill>
                <a:latin typeface="Arial" pitchFamily="34" charset="0"/>
                <a:ea typeface="Arial" pitchFamily="34" charset="-122"/>
                <a:cs typeface="Arial" pitchFamily="34" charset="-120"/>
              </a:rPr>
              <a:t>+500</a:t>
            </a:r>
            <a:endParaRPr lang="en-US" sz="1400" dirty="0"/>
          </a:p>
        </p:txBody>
      </p:sp>
      <p:sp>
        <p:nvSpPr>
          <p:cNvPr id="18" name="Text 16"/>
          <p:cNvSpPr txBox="1"/>
          <p:nvPr/>
        </p:nvSpPr>
        <p:spPr>
          <a:xfrm>
            <a:off x="731520" y="1600200"/>
            <a:ext cx="237744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Black is winning</a:t>
            </a:r>
            <a:endParaRPr lang="en-US" sz="1600" dirty="0"/>
          </a:p>
        </p:txBody>
      </p:sp>
      <p:sp>
        <p:nvSpPr>
          <p:cNvPr id="19" name="Text 17"/>
          <p:cNvSpPr txBox="1"/>
          <p:nvPr/>
        </p:nvSpPr>
        <p:spPr>
          <a:xfrm>
            <a:off x="4023360" y="1600200"/>
            <a:ext cx="1097280" cy="36576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Equal</a:t>
            </a:r>
            <a:endParaRPr lang="en-US" sz="1600" dirty="0"/>
          </a:p>
        </p:txBody>
      </p:sp>
      <p:sp>
        <p:nvSpPr>
          <p:cNvPr id="20" name="Text 18"/>
          <p:cNvSpPr txBox="1"/>
          <p:nvPr/>
        </p:nvSpPr>
        <p:spPr>
          <a:xfrm>
            <a:off x="6035040" y="1600200"/>
            <a:ext cx="2377440" cy="365760"/>
          </a:xfrm>
          <a:prstGeom prst="rect">
            <a:avLst/>
          </a:prstGeom>
          <a:noFill/>
          <a:ln/>
        </p:spPr>
        <p:txBody>
          <a:bodyPr wrap="square" lIns="0" tIns="0" rIns="0" bIns="0" rtlCol="0" anchor="t"/>
          <a:lstStyle/>
          <a:p>
            <a:pPr algn="r" indent="0" marL="0">
              <a:buNone/>
            </a:pPr>
            <a:r>
              <a:rPr lang="en-US" sz="1600" b="1" dirty="0">
                <a:solidFill>
                  <a:srgbClr val="1F4E79"/>
                </a:solidFill>
                <a:latin typeface="Arial" pitchFamily="34" charset="0"/>
                <a:ea typeface="Arial" pitchFamily="34" charset="-122"/>
                <a:cs typeface="Arial" pitchFamily="34" charset="-120"/>
              </a:rPr>
              <a:t>White is winning</a:t>
            </a:r>
            <a:endParaRPr lang="en-US" sz="1600" dirty="0"/>
          </a:p>
        </p:txBody>
      </p:sp>
      <p:sp>
        <p:nvSpPr>
          <p:cNvPr id="21" name="Text 19"/>
          <p:cNvSpPr txBox="1"/>
          <p:nvPr/>
        </p:nvSpPr>
        <p:spPr>
          <a:xfrm>
            <a:off x="457200" y="2971800"/>
            <a:ext cx="8229600" cy="16459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A pawn is the smallest chess piece; 1 pawn = 100 cp</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+300 means White is about 3 pawns better</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We always read the score from the side of the player we study</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 move's mistake is how much it lowers the player's own score</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97280"/>
                <a:gridCol w="2194560"/>
                <a:gridCol w="2194560"/>
                <a:gridCol w="2743200"/>
              </a:tblGrid>
              <a:tr h="384048">
                <a:tc>
                  <a:txBody>
                    <a:bodyPr/>
                    <a:lstStyle/>
                    <a:p>
                      <a:pPr indent="0" marL="0">
                        <a:buNone/>
                      </a:pPr>
                      <a:r>
                        <a:rPr lang="en-US" sz="1600" b="1" dirty="0">
                          <a:solidFill>
                            <a:srgbClr val="FFFFFF"/>
                          </a:solidFill>
                          <a:latin typeface="Arial" pitchFamily="34" charset="0"/>
                          <a:ea typeface="Arial" pitchFamily="34" charset="-122"/>
                          <a:cs typeface="Arial" pitchFamily="34" charset="-120"/>
                        </a:rPr>
                        <a:t>Move</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Score before</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Score after</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Mistake (loss)</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84048">
                <a:tc>
                  <a:txBody>
                    <a:bodyPr/>
                    <a:lstStyle/>
                    <a:p>
                      <a:pPr indent="0" marL="0">
                        <a:buNone/>
                      </a:pPr>
                      <a:r>
                        <a:rPr lang="en-US" sz="1600" dirty="0">
                          <a:solidFill>
                            <a:srgbClr val="2D2D2D"/>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+50</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+40</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10 cp</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600" dirty="0">
                          <a:solidFill>
                            <a:srgbClr val="2D2D2D"/>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+40</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-250</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b="1" dirty="0">
                          <a:solidFill>
                            <a:srgbClr val="C27C0E"/>
                          </a:solidFill>
                          <a:latin typeface="Arial" pitchFamily="34" charset="0"/>
                          <a:ea typeface="Arial" pitchFamily="34" charset="-122"/>
                          <a:cs typeface="Arial" pitchFamily="34" charset="-120"/>
                        </a:rPr>
                        <a:t>290 cp (a blunder)</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600" dirty="0">
                          <a:solidFill>
                            <a:srgbClr val="2D2D2D"/>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-250</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-200</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0 cp (score went up)</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600" dirty="0">
                          <a:solidFill>
                            <a:srgbClr val="2D2D2D"/>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-200</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-220</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20 cp</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formula"/>
          <p:cNvSpPr/>
          <p:nvPr/>
        </p:nvSpPr>
        <p:spPr>
          <a:xfrm>
            <a:off x="457200" y="3337560"/>
            <a:ext cx="8229600" cy="640080"/>
          </a:xfrm>
          <a:prstGeom prst="roundRect">
            <a:avLst>
              <a:gd name="adj" fmla="val 8571"/>
            </a:avLst>
          </a:prstGeom>
          <a:solidFill>
            <a:srgbClr val="EBF3FA"/>
          </a:solidFill>
          <a:ln w="12700">
            <a:solidFill>
              <a:srgbClr val="2E75B6"/>
            </a:solidFill>
            <a:prstDash val="solid"/>
          </a:ln>
        </p:spPr>
      </p:sp>
      <p:sp>
        <p:nvSpPr>
          <p:cNvPr id="5" name="Text 2"/>
          <p:cNvSpPr txBox="1"/>
          <p:nvPr/>
        </p:nvSpPr>
        <p:spPr>
          <a:xfrm>
            <a:off x="640080" y="3337560"/>
            <a:ext cx="7863840" cy="640080"/>
          </a:xfrm>
          <a:prstGeom prst="rect">
            <a:avLst/>
          </a:prstGeom>
          <a:noFill/>
          <a:ln/>
        </p:spPr>
        <p:txBody>
          <a:bodyPr wrap="square" lIns="0" tIns="0" rIns="0" bIns="0" rtlCol="0" anchor="ctr"/>
          <a:lstStyle/>
          <a:p>
            <a:pPr algn="ctr" indent="0" marL="0">
              <a:buNone/>
            </a:pPr>
            <a:r>
              <a:rPr lang="en-US" sz="2000" b="1" dirty="0">
                <a:solidFill>
                  <a:srgbClr val="1F4E79"/>
                </a:solidFill>
                <a:latin typeface="Arial" pitchFamily="34" charset="0"/>
                <a:ea typeface="Arial" pitchFamily="34" charset="-122"/>
                <a:cs typeface="Arial" pitchFamily="34" charset="-120"/>
              </a:rPr>
              <a:t>loss = max(0, score before − score after)</a:t>
            </a:r>
            <a:endParaRPr lang="en-US" sz="2000" dirty="0"/>
          </a:p>
        </p:txBody>
      </p:sp>
      <p:sp>
        <p:nvSpPr>
          <p:cNvPr id="6" name="Text 3"/>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400" dirty="0">
                <a:solidFill>
                  <a:srgbClr val="777777"/>
                </a:solidFill>
                <a:latin typeface="Arial" pitchFamily="34" charset="0"/>
                <a:ea typeface="Arial" pitchFamily="34" charset="-122"/>
                <a:cs typeface="Arial" pitchFamily="34" charset="-120"/>
              </a:rPr>
              <a:t>Illustrative numbers. Scores are from the moving player's side, so for Black the engine's sign is flipped.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Average centipawn loss (ACPL) is the average mistake per move, so lower means better play</a:t>
            </a:r>
            <a:endParaRPr lang="en-US" sz="2600" dirty="0"/>
          </a:p>
        </p:txBody>
      </p:sp>
      <p:sp>
        <p:nvSpPr>
          <p:cNvPr id="3" name="formula"/>
          <p:cNvSpPr/>
          <p:nvPr/>
        </p:nvSpPr>
        <p:spPr>
          <a:xfrm>
            <a:off x="457200" y="1234440"/>
            <a:ext cx="8229600" cy="685800"/>
          </a:xfrm>
          <a:prstGeom prst="roundRect">
            <a:avLst>
              <a:gd name="adj" fmla="val 8000"/>
            </a:avLst>
          </a:prstGeom>
          <a:solidFill>
            <a:srgbClr val="EBF3FA"/>
          </a:solidFill>
          <a:ln w="12700">
            <a:solidFill>
              <a:srgbClr val="2E75B6"/>
            </a:solidFill>
            <a:prstDash val="solid"/>
          </a:ln>
        </p:spPr>
      </p:sp>
      <p:sp>
        <p:nvSpPr>
          <p:cNvPr id="4" name="Text 2"/>
          <p:cNvSpPr txBox="1"/>
          <p:nvPr/>
        </p:nvSpPr>
        <p:spPr>
          <a:xfrm>
            <a:off x="640080" y="1234440"/>
            <a:ext cx="7863840" cy="685800"/>
          </a:xfrm>
          <a:prstGeom prst="rect">
            <a:avLst/>
          </a:prstGeom>
          <a:noFill/>
          <a:ln/>
        </p:spPr>
        <p:txBody>
          <a:bodyPr wrap="square" lIns="0" tIns="0" rIns="0" bIns="0" rtlCol="0" anchor="ctr"/>
          <a:lstStyle/>
          <a:p>
            <a:pPr algn="ctr" indent="0" marL="0">
              <a:buNone/>
            </a:pPr>
            <a:r>
              <a:rPr lang="en-US" sz="2000" b="1" dirty="0">
                <a:solidFill>
                  <a:srgbClr val="1F4E79"/>
                </a:solidFill>
                <a:latin typeface="Arial" pitchFamily="34" charset="0"/>
                <a:ea typeface="Arial" pitchFamily="34" charset="-122"/>
                <a:cs typeface="Arial" pitchFamily="34" charset="-120"/>
              </a:rPr>
              <a:t>ACPL = (loss₁ + loss₂ + … + lossₙ) ÷ n</a:t>
            </a:r>
            <a:endParaRPr lang="en-US" sz="2000" dirty="0"/>
          </a:p>
        </p:txBody>
      </p:sp>
      <p:sp>
        <p:nvSpPr>
          <p:cNvPr id="5" name="Text 3"/>
          <p:cNvSpPr txBox="1"/>
          <p:nvPr/>
        </p:nvSpPr>
        <p:spPr>
          <a:xfrm>
            <a:off x="457200" y="2103120"/>
            <a:ext cx="8229600" cy="45720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Example from the previous slide: (10 + 290 + 0 + 20) ÷ 4 = 80 cp</a:t>
            </a:r>
            <a:endParaRPr lang="en-US" sz="2000" dirty="0"/>
          </a:p>
        </p:txBody>
      </p:sp>
      <p:sp>
        <p:nvSpPr>
          <p:cNvPr id="6" name="Text 4"/>
          <p:cNvSpPr txBox="1"/>
          <p:nvPr/>
        </p:nvSpPr>
        <p:spPr>
          <a:xfrm>
            <a:off x="457200" y="2743200"/>
            <a:ext cx="822960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In study 2's next games</a:t>
            </a:r>
            <a:endParaRPr lang="en-US" sz="2000" dirty="0"/>
          </a:p>
        </p:txBody>
      </p:sp>
      <p:sp>
        <p:nvSpPr>
          <p:cNvPr id="7" name="Text 5"/>
          <p:cNvSpPr txBox="1"/>
          <p:nvPr/>
        </p:nvSpPr>
        <p:spPr>
          <a:xfrm>
            <a:off x="457200" y="3200400"/>
            <a:ext cx="8229600" cy="13716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Middle player: 61 cp per move</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Middle half of games: 38 to 95 cp</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Each 100 rating points stronger: about 3.7 cp lower</a:t>
            </a:r>
            <a:endParaRPr lang="en-US" sz="2000" dirty="0"/>
          </a:p>
        </p:txBody>
      </p:sp>
      <p:sp>
        <p:nvSpPr>
          <p:cNvPr id="8" name="Text 6"/>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Study 2, 23,995 lucky and deserved pairs; rating effect from the regression in Part 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Study 1 found the type of win barely matters, but hinted that lucky wins might</a:t>
            </a:r>
            <a:endParaRPr lang="en-US" sz="2600" dirty="0"/>
          </a:p>
        </p:txBody>
      </p:sp>
      <p:sp>
        <p:nvSpPr>
          <p:cNvPr id="3" name="study 1 result"/>
          <p:cNvSpPr/>
          <p:nvPr/>
        </p:nvSpPr>
        <p:spPr>
          <a:xfrm>
            <a:off x="457200" y="1234440"/>
            <a:ext cx="3931920" cy="2194560"/>
          </a:xfrm>
          <a:prstGeom prst="roundRect">
            <a:avLst>
              <a:gd name="adj" fmla="val 2500"/>
            </a:avLst>
          </a:prstGeom>
          <a:solidFill>
            <a:srgbClr val="EBF3FA"/>
          </a:solidFill>
          <a:ln w="12700">
            <a:solidFill>
              <a:srgbClr val="2E75B6"/>
            </a:solidFill>
            <a:prstDash val="solid"/>
          </a:ln>
        </p:spPr>
      </p:sp>
      <p:sp>
        <p:nvSpPr>
          <p:cNvPr id="4" name="Text 2"/>
          <p:cNvSpPr txBox="1"/>
          <p:nvPr/>
        </p:nvSpPr>
        <p:spPr>
          <a:xfrm>
            <a:off x="685800" y="1371600"/>
            <a:ext cx="3474720" cy="365760"/>
          </a:xfrm>
          <a:prstGeom prst="rect">
            <a:avLst/>
          </a:prstGeom>
          <a:noFill/>
          <a:ln/>
        </p:spPr>
        <p:txBody>
          <a:bodyPr wrap="square" lIns="0" tIns="0" rIns="0" bIns="0" rtlCol="0" anchor="t"/>
          <a:lstStyle/>
          <a:p>
            <a:pPr indent="0" marL="0">
              <a:buNone/>
            </a:pPr>
            <a:r>
              <a:rPr lang="en-US" sz="2000" b="1" dirty="0">
                <a:solidFill>
                  <a:srgbClr val="1F4E79"/>
                </a:solidFill>
                <a:latin typeface="Arial" pitchFamily="34" charset="0"/>
                <a:ea typeface="Arial" pitchFamily="34" charset="-122"/>
                <a:cs typeface="Arial" pitchFamily="34" charset="-120"/>
              </a:rPr>
              <a:t>Main result</a:t>
            </a:r>
            <a:endParaRPr lang="en-US" sz="2000" dirty="0"/>
          </a:p>
        </p:txBody>
      </p:sp>
      <p:sp>
        <p:nvSpPr>
          <p:cNvPr id="5" name="Text 3"/>
          <p:cNvSpPr txBox="1"/>
          <p:nvPr/>
        </p:nvSpPr>
        <p:spPr>
          <a:xfrm>
            <a:off x="685800" y="1828800"/>
            <a:ext cx="3474720" cy="210312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Time, checkmate and resignation wins: next-game gaps under 1 cp (18,002 games).</a:t>
            </a:r>
            <a:endParaRPr lang="en-US" sz="2000" dirty="0"/>
          </a:p>
        </p:txBody>
      </p:sp>
      <p:sp>
        <p:nvSpPr>
          <p:cNvPr id="6" name="study 1 hint"/>
          <p:cNvSpPr/>
          <p:nvPr/>
        </p:nvSpPr>
        <p:spPr>
          <a:xfrm>
            <a:off x="4754880" y="1234440"/>
            <a:ext cx="3931920" cy="2194560"/>
          </a:xfrm>
          <a:prstGeom prst="roundRect">
            <a:avLst>
              <a:gd name="adj" fmla="val 2500"/>
            </a:avLst>
          </a:prstGeom>
          <a:solidFill>
            <a:srgbClr val="FFF2CC"/>
          </a:solidFill>
          <a:ln w="12700">
            <a:solidFill>
              <a:srgbClr val="C27C0E"/>
            </a:solidFill>
            <a:prstDash val="solid"/>
          </a:ln>
        </p:spPr>
      </p:sp>
      <p:sp>
        <p:nvSpPr>
          <p:cNvPr id="7" name="Text 5"/>
          <p:cNvSpPr txBox="1"/>
          <p:nvPr/>
        </p:nvSpPr>
        <p:spPr>
          <a:xfrm>
            <a:off x="4983480" y="1371600"/>
            <a:ext cx="3474720" cy="365760"/>
          </a:xfrm>
          <a:prstGeom prst="rect">
            <a:avLst/>
          </a:prstGeom>
          <a:noFill/>
          <a:ln/>
        </p:spPr>
        <p:txBody>
          <a:bodyPr wrap="square" lIns="0" tIns="0" rIns="0" bIns="0" rtlCol="0" anchor="t"/>
          <a:lstStyle/>
          <a:p>
            <a:pPr indent="0" marL="0">
              <a:buNone/>
            </a:pPr>
            <a:r>
              <a:rPr lang="en-US" sz="2000" b="1" dirty="0">
                <a:solidFill>
                  <a:srgbClr val="C27C0E"/>
                </a:solidFill>
                <a:latin typeface="Arial" pitchFamily="34" charset="0"/>
                <a:ea typeface="Arial" pitchFamily="34" charset="-122"/>
                <a:cs typeface="Arial" pitchFamily="34" charset="-120"/>
              </a:rPr>
              <a:t>Unplanned hint</a:t>
            </a:r>
            <a:endParaRPr lang="en-US" sz="2000" dirty="0"/>
          </a:p>
        </p:txBody>
      </p:sp>
      <p:sp>
        <p:nvSpPr>
          <p:cNvPr id="8" name="Text 6"/>
          <p:cNvSpPr txBox="1"/>
          <p:nvPr/>
        </p:nvSpPr>
        <p:spPr>
          <a:xfrm>
            <a:off x="4983480" y="1828800"/>
            <a:ext cx="3474720" cy="210312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1,288 lucky time winners played 2.2 cp worse. Too few to be sure (p = 0.15).</a:t>
            </a:r>
            <a:endParaRPr lang="en-US" sz="2000" dirty="0"/>
          </a:p>
        </p:txBody>
      </p:sp>
      <p:sp>
        <p:nvSpPr>
          <p:cNvPr id="9" name="Text 7"/>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Study 1: Lichess rated rapid, 1 to 5 August and 1 to 5 September 2026; results/SUMMARY.md</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7863840" cy="457200"/>
          </a:xfrm>
          <a:prstGeom prst="rect">
            <a:avLst/>
          </a:prstGeom>
          <a:noFill/>
          <a:ln/>
        </p:spPr>
        <p:txBody>
          <a:bodyPr wrap="square" lIns="0" tIns="0" rIns="0" bIns="0" rtlCol="0" anchor="t"/>
          <a:lstStyle/>
          <a:p>
            <a:pPr algn="l" indent="0" marL="0">
              <a:buNone/>
            </a:pPr>
            <a:r>
              <a:rPr lang="en-US" sz="1800" dirty="0">
                <a:solidFill>
                  <a:schemeClr val="accent5"/>
                </a:solidFill>
              </a:rPr>
              <a:t>Part 2</a:t>
            </a:r>
            <a:endParaRPr lang="en-US" sz="1800" dirty="0"/>
          </a:p>
        </p:txBody>
      </p:sp>
      <p:sp>
        <p:nvSpPr>
          <p:cNvPr id="3" name="Text 0"/>
          <p:cNvSpPr/>
          <p:nvPr>
            <p:ph idx="101" type="title" hasCustomPrompt="1"/>
          </p:nvPr>
        </p:nvSpPr>
        <p:spPr>
          <a:xfrm>
            <a:off x="640080" y="2011680"/>
            <a:ext cx="7863840" cy="1280160"/>
          </a:xfrm>
          <a:prstGeom prst="rect">
            <a:avLst/>
          </a:prstGeom>
          <a:noFill/>
          <a:ln/>
        </p:spPr>
        <p:txBody>
          <a:bodyPr wrap="square" lIns="0" tIns="0" rIns="0" bIns="0" rtlCol="0" anchor="t"/>
          <a:lstStyle/>
          <a:p>
            <a:pPr algn="l" indent="0" marL="0">
              <a:buNone/>
            </a:pPr>
            <a:r>
              <a:rPr lang="en-US" sz="3600" b="1" dirty="0">
                <a:solidFill>
                  <a:schemeClr val="bg1"/>
                </a:solidFill>
              </a:rPr>
              <a:t>What other researchers have found</a:t>
            </a:r>
            <a:endParaRPr 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Seven studies gave us the question, the measuring tool and the choice of game speed</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2560320"/>
                <a:gridCol w="2926080"/>
              </a:tblGrid>
              <a:tr h="0">
                <a:tc>
                  <a:txBody>
                    <a:bodyPr/>
                    <a:lstStyle/>
                    <a:p>
                      <a:pPr indent="0" marL="0">
                        <a:buNone/>
                      </a:pPr>
                      <a:r>
                        <a:rPr lang="en-US" sz="1500" b="1" dirty="0">
                          <a:solidFill>
                            <a:srgbClr val="FFFFFF"/>
                          </a:solidFill>
                          <a:latin typeface="Arial" pitchFamily="34" charset="0"/>
                          <a:ea typeface="Arial" pitchFamily="34" charset="-122"/>
                          <a:cs typeface="Arial" pitchFamily="34" charset="-120"/>
                        </a:rPr>
                        <a:t>Theme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Studies</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What we took from them</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0">
                <a:tc>
                  <a:txBody>
                    <a:bodyPr/>
                    <a:lstStyle/>
                    <a:p>
                      <a:pPr indent="0" marL="0">
                        <a:buNone/>
                      </a:pPr>
                      <a:r>
                        <a:rPr lang="en-US" sz="1500" dirty="0">
                          <a:solidFill>
                            <a:srgbClr val="2D2D2D"/>
                          </a:solidFill>
                          <a:latin typeface="Arial" pitchFamily="34" charset="0"/>
                          <a:ea typeface="Arial" pitchFamily="34" charset="-122"/>
                          <a:cs typeface="Arial" pitchFamily="34" charset="-120"/>
                        </a:rPr>
                        <a:t>Does one result change the next game?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Gee et al. (2025)</a:t>
                      </a:r>
                      <a:endParaRPr lang="en-US" sz="1500" dirty="0">
                        <a:latin typeface="Arial" charset="0"/>
                        <a:ea typeface="Arial" charset="0"/>
                        <a:cs typeface="Arial" charset="0"/>
                      </a:endParaRPr>
                    </a:p>
                    <a:p>
                      <a:pPr indent="0" marL="0">
                        <a:buNone/>
                      </a:pPr>
                      <a:r>
                        <a:rPr lang="en-US" sz="1500" dirty="0">
                          <a:solidFill>
                            <a:srgbClr val="2D2D2D"/>
                          </a:solidFill>
                          <a:latin typeface="Arial" pitchFamily="34" charset="0"/>
                          <a:ea typeface="Arial" pitchFamily="34" charset="-122"/>
                          <a:cs typeface="Arial" pitchFamily="34" charset="-120"/>
                        </a:rPr>
                        <a:t>Chowdhary et al. (2023)</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The question, and the gap: nobody split wins by type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500" dirty="0">
                          <a:solidFill>
                            <a:srgbClr val="2D2D2D"/>
                          </a:solidFill>
                          <a:latin typeface="Arial" pitchFamily="34" charset="0"/>
                          <a:ea typeface="Arial" pitchFamily="34" charset="-122"/>
                          <a:cs typeface="Arial" pitchFamily="34" charset="-120"/>
                        </a:rPr>
                        <a:t>How do you grade a human move?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Guid &amp; Bratko (2006)</a:t>
                      </a:r>
                      <a:endParaRPr lang="en-US" sz="1500" dirty="0">
                        <a:latin typeface="Arial" charset="0"/>
                        <a:ea typeface="Arial" charset="0"/>
                        <a:cs typeface="Arial" charset="0"/>
                      </a:endParaRPr>
                    </a:p>
                    <a:p>
                      <a:pPr indent="0" marL="0">
                        <a:buNone/>
                      </a:pPr>
                      <a:r>
                        <a:rPr lang="en-US" sz="1500" dirty="0">
                          <a:solidFill>
                            <a:srgbClr val="2D2D2D"/>
                          </a:solidFill>
                          <a:latin typeface="Arial" pitchFamily="34" charset="0"/>
                          <a:ea typeface="Arial" pitchFamily="34" charset="-122"/>
                          <a:cs typeface="Arial" pitchFamily="34" charset="-120"/>
                        </a:rPr>
                        <a:t>Backus et al. (2023)</a:t>
                      </a:r>
                      <a:endParaRPr lang="en-US" sz="1500" dirty="0">
                        <a:latin typeface="Arial" charset="0"/>
                        <a:ea typeface="Arial" charset="0"/>
                        <a:cs typeface="Arial" charset="0"/>
                      </a:endParaRPr>
                    </a:p>
                    <a:p>
                      <a:pPr indent="0" marL="0">
                        <a:buNone/>
                      </a:pPr>
                      <a:r>
                        <a:rPr lang="en-US" sz="1500" dirty="0">
                          <a:solidFill>
                            <a:srgbClr val="2D2D2D"/>
                          </a:solidFill>
                          <a:latin typeface="Arial" pitchFamily="34" charset="0"/>
                          <a:ea typeface="Arial" pitchFamily="34" charset="-122"/>
                          <a:cs typeface="Arial" pitchFamily="34" charset="-120"/>
                        </a:rPr>
                        <a:t>Kuenn et al. (2020)</a:t>
                      </a:r>
                      <a:endParaRPr lang="en-US" sz="1500" dirty="0">
                        <a:latin typeface="Arial" charset="0"/>
                        <a:ea typeface="Arial" charset="0"/>
                        <a:cs typeface="Arial" charset="0"/>
                      </a:endParaRPr>
                    </a:p>
                    <a:p>
                      <a:pPr indent="0" marL="0">
                        <a:buNone/>
                      </a:pPr>
                      <a:r>
                        <a:rPr lang="en-US" sz="1500" dirty="0">
                          <a:solidFill>
                            <a:srgbClr val="2D2D2D"/>
                          </a:solidFill>
                          <a:latin typeface="Arial" pitchFamily="34" charset="0"/>
                          <a:ea typeface="Arial" pitchFamily="34" charset="-122"/>
                          <a:cs typeface="Arial" pitchFamily="34" charset="-120"/>
                        </a:rPr>
                        <a:t>Regan et al. (2014)</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The ACPL method, its settings, and its limits</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500" dirty="0">
                          <a:solidFill>
                            <a:srgbClr val="2D2D2D"/>
                          </a:solidFill>
                          <a:latin typeface="Arial" pitchFamily="34" charset="0"/>
                          <a:ea typeface="Arial" pitchFamily="34" charset="-122"/>
                          <a:cs typeface="Arial" pitchFamily="34" charset="-120"/>
                        </a:rPr>
                        <a:t>Does time pressure change move quality?</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Sunde et al. (2022, 2026)</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Why we used slower (rapid) games</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Gee et al.: winning the last game barely changed the chance of winning the next</a:t>
            </a:r>
            <a:endParaRPr lang="en-US" sz="2600" dirty="0"/>
          </a:p>
        </p:txBody>
      </p:sp>
      <p:sp>
        <p:nvSpPr>
          <p:cNvPr id="3" name="What they asked"/>
          <p:cNvSpPr/>
          <p:nvPr/>
        </p:nvSpPr>
        <p:spPr>
          <a:xfrm>
            <a:off x="457200" y="1115568"/>
            <a:ext cx="1600200" cy="658368"/>
          </a:xfrm>
          <a:prstGeom prst="roundRect">
            <a:avLst>
              <a:gd name="adj" fmla="val 8333"/>
            </a:avLst>
          </a:prstGeom>
          <a:solidFill>
            <a:srgbClr val="EBF3FA"/>
          </a:solidFill>
          <a:ln w="12700">
            <a:solidFill>
              <a:srgbClr val="2E75B6"/>
            </a:solidFill>
            <a:prstDash val="solid"/>
          </a:ln>
        </p:spPr>
      </p:sp>
      <p:sp>
        <p:nvSpPr>
          <p:cNvPr id="4" name="Text 2"/>
          <p:cNvSpPr txBox="1"/>
          <p:nvPr/>
        </p:nvSpPr>
        <p:spPr>
          <a:xfrm>
            <a:off x="548640" y="1115568"/>
            <a:ext cx="1417320" cy="6583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asked</a:t>
            </a:r>
            <a:endParaRPr lang="en-US" sz="1500" dirty="0"/>
          </a:p>
        </p:txBody>
      </p:sp>
      <p:sp>
        <p:nvSpPr>
          <p:cNvPr id="5" name="Text 3"/>
          <p:cNvSpPr txBox="1"/>
          <p:nvPr/>
        </p:nvSpPr>
        <p:spPr>
          <a:xfrm>
            <a:off x="2194560" y="1115568"/>
            <a:ext cx="6492240" cy="6583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Does winning (or losing) one game make you more likely to win (or lose) the next? Biologists call this a winner-loser effect.</a:t>
            </a:r>
            <a:endParaRPr lang="en-US" sz="1500" dirty="0"/>
          </a:p>
        </p:txBody>
      </p:sp>
      <p:sp>
        <p:nvSpPr>
          <p:cNvPr id="6" name="What they did"/>
          <p:cNvSpPr/>
          <p:nvPr/>
        </p:nvSpPr>
        <p:spPr>
          <a:xfrm>
            <a:off x="457200" y="1847088"/>
            <a:ext cx="1600200" cy="1115568"/>
          </a:xfrm>
          <a:prstGeom prst="roundRect">
            <a:avLst>
              <a:gd name="adj" fmla="val 4918"/>
            </a:avLst>
          </a:prstGeom>
          <a:solidFill>
            <a:srgbClr val="EBF3FA"/>
          </a:solidFill>
          <a:ln w="12700">
            <a:solidFill>
              <a:srgbClr val="2E75B6"/>
            </a:solidFill>
            <a:prstDash val="solid"/>
          </a:ln>
        </p:spPr>
      </p:sp>
      <p:sp>
        <p:nvSpPr>
          <p:cNvPr id="7" name="Text 5"/>
          <p:cNvSpPr txBox="1"/>
          <p:nvPr/>
        </p:nvSpPr>
        <p:spPr>
          <a:xfrm>
            <a:off x="548640" y="1847088"/>
            <a:ext cx="1417320" cy="11155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did</a:t>
            </a:r>
            <a:endParaRPr lang="en-US" sz="1500" dirty="0"/>
          </a:p>
        </p:txBody>
      </p:sp>
      <p:sp>
        <p:nvSpPr>
          <p:cNvPr id="8" name="Text 6"/>
          <p:cNvSpPr txBox="1"/>
          <p:nvPr/>
        </p:nvSpPr>
        <p:spPr>
          <a:xfrm>
            <a:off x="2194560" y="1847088"/>
            <a:ext cx="6492240" cy="11155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Lichess bullet (1 minute) and blitz (3 minute) games of 36 players rated 1700 to 1900 and 23 grandmasters. Only games in the same sitting counted (started within 5 minutes). A statistical model predicted each result from recent results, colour and the rating gap.</a:t>
            </a:r>
            <a:endParaRPr lang="en-US" sz="1500" dirty="0"/>
          </a:p>
        </p:txBody>
      </p:sp>
      <p:sp>
        <p:nvSpPr>
          <p:cNvPr id="9" name="What they found"/>
          <p:cNvSpPr/>
          <p:nvPr/>
        </p:nvSpPr>
        <p:spPr>
          <a:xfrm>
            <a:off x="457200" y="3035808"/>
            <a:ext cx="1600200" cy="914400"/>
          </a:xfrm>
          <a:prstGeom prst="roundRect">
            <a:avLst>
              <a:gd name="adj" fmla="val 6000"/>
            </a:avLst>
          </a:prstGeom>
          <a:solidFill>
            <a:srgbClr val="EBF3FA"/>
          </a:solidFill>
          <a:ln w="12700">
            <a:solidFill>
              <a:srgbClr val="2E75B6"/>
            </a:solidFill>
            <a:prstDash val="solid"/>
          </a:ln>
        </p:spPr>
      </p:sp>
      <p:sp>
        <p:nvSpPr>
          <p:cNvPr id="10" name="Text 8"/>
          <p:cNvSpPr txBox="1"/>
          <p:nvPr/>
        </p:nvSpPr>
        <p:spPr>
          <a:xfrm>
            <a:off x="548640" y="3035808"/>
            <a:ext cx="1417320" cy="91440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found</a:t>
            </a:r>
            <a:endParaRPr lang="en-US" sz="1500" dirty="0"/>
          </a:p>
        </p:txBody>
      </p:sp>
      <p:sp>
        <p:nvSpPr>
          <p:cNvPr id="11" name="Text 9"/>
          <p:cNvSpPr txBox="1"/>
          <p:nvPr/>
        </p:nvSpPr>
        <p:spPr>
          <a:xfrm>
            <a:off x="2194560" y="3035808"/>
            <a:ext cx="6492240" cy="914400"/>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Little evidence of an effect for players in general: the win chance moved by between -2 and +3 percentage points. Looking back 10 games instead of 1 added nothing.</a:t>
            </a:r>
            <a:endParaRPr lang="en-US" sz="1500" dirty="0"/>
          </a:p>
        </p:txBody>
      </p:sp>
      <p:sp>
        <p:nvSpPr>
          <p:cNvPr id="12" name="why it matters"/>
          <p:cNvSpPr/>
          <p:nvPr/>
        </p:nvSpPr>
        <p:spPr>
          <a:xfrm>
            <a:off x="457200" y="4041648"/>
            <a:ext cx="8229600" cy="603504"/>
          </a:xfrm>
          <a:prstGeom prst="roundRect">
            <a:avLst>
              <a:gd name="adj" fmla="val 9091"/>
            </a:avLst>
          </a:prstGeom>
          <a:solidFill>
            <a:srgbClr val="FFF2CC"/>
          </a:solidFill>
          <a:ln w="12700">
            <a:solidFill>
              <a:srgbClr val="C27C0E"/>
            </a:solidFill>
            <a:prstDash val="solid"/>
          </a:ln>
        </p:spPr>
      </p:sp>
      <p:sp>
        <p:nvSpPr>
          <p:cNvPr id="13" name="Text 11"/>
          <p:cNvSpPr txBox="1"/>
          <p:nvPr/>
        </p:nvSpPr>
        <p:spPr>
          <a:xfrm>
            <a:off x="594360" y="4041648"/>
            <a:ext cx="7955280" cy="603504"/>
          </a:xfrm>
          <a:prstGeom prst="rect">
            <a:avLst/>
          </a:prstGeom>
          <a:noFill/>
          <a:ln/>
        </p:spPr>
        <p:txBody>
          <a:bodyPr wrap="square" lIns="0" tIns="0" rIns="0" bIns="0" rtlCol="0" anchor="ctr"/>
          <a:lstStyle/>
          <a:p>
            <a:pPr indent="0" marL="0">
              <a:buNone/>
            </a:pPr>
            <a:r>
              <a:rPr lang="en-US" sz="1500" b="1" dirty="0">
                <a:solidFill>
                  <a:srgbClr val="C27C0E"/>
                </a:solidFill>
                <a:latin typeface="Arial" pitchFamily="34" charset="0"/>
                <a:ea typeface="Arial" pitchFamily="34" charset="-122"/>
                <a:cs typeface="Arial" pitchFamily="34" charset="-120"/>
              </a:rPr>
              <a:t>Why it matters for us: </a:t>
            </a:r>
            <a:pPr indent="0" marL="0">
              <a:buNone/>
            </a:pPr>
            <a:r>
              <a:rPr lang="en-US" sz="1500" dirty="0">
                <a:solidFill>
                  <a:schemeClr val="tx1"/>
                </a:solidFill>
                <a:latin typeface="Arial" pitchFamily="34" charset="0"/>
                <a:ea typeface="Arial" pitchFamily="34" charset="-122"/>
                <a:cs typeface="Arial" pitchFamily="34" charset="-120"/>
              </a:rPr>
              <a:t>they treated every win as the same, and noted that 24% of grandmaster bullet wins are on time and may matter differently.</a:t>
            </a:r>
            <a:endParaRPr lang="en-US" sz="1500" dirty="0"/>
          </a:p>
        </p:txBody>
      </p:sp>
      <p:sp>
        <p:nvSpPr>
          <p:cNvPr id="14" name="Text 1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Gee, Seese, Curley &amp; Ward (2025), Journal of Quantitative Analysis in Sports 22(2); preprint arXiv:2503.21713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Chowdhary et al.: wins and losses come in streaks longer than chance would give</a:t>
            </a:r>
            <a:endParaRPr lang="en-US" sz="2600" dirty="0"/>
          </a:p>
        </p:txBody>
      </p:sp>
      <p:sp>
        <p:nvSpPr>
          <p:cNvPr id="3" name="What they asked"/>
          <p:cNvSpPr/>
          <p:nvPr/>
        </p:nvSpPr>
        <p:spPr>
          <a:xfrm>
            <a:off x="457200" y="1115568"/>
            <a:ext cx="1600200" cy="658368"/>
          </a:xfrm>
          <a:prstGeom prst="roundRect">
            <a:avLst>
              <a:gd name="adj" fmla="val 8333"/>
            </a:avLst>
          </a:prstGeom>
          <a:solidFill>
            <a:srgbClr val="EBF3FA"/>
          </a:solidFill>
          <a:ln w="12700">
            <a:solidFill>
              <a:srgbClr val="2E75B6"/>
            </a:solidFill>
            <a:prstDash val="solid"/>
          </a:ln>
        </p:spPr>
      </p:sp>
      <p:sp>
        <p:nvSpPr>
          <p:cNvPr id="4" name="Text 2"/>
          <p:cNvSpPr txBox="1"/>
          <p:nvPr/>
        </p:nvSpPr>
        <p:spPr>
          <a:xfrm>
            <a:off x="548640" y="1115568"/>
            <a:ext cx="1417320" cy="6583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asked</a:t>
            </a:r>
            <a:endParaRPr lang="en-US" sz="1500" dirty="0"/>
          </a:p>
        </p:txBody>
      </p:sp>
      <p:sp>
        <p:nvSpPr>
          <p:cNvPr id="5" name="Text 3"/>
          <p:cNvSpPr txBox="1"/>
          <p:nvPr/>
        </p:nvSpPr>
        <p:spPr>
          <a:xfrm>
            <a:off x="2194560" y="1115568"/>
            <a:ext cx="6492240" cy="6583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Do players have hot streaks (runs of wins) and cold streaks (runs of losses)? How do strong and weak players differ?</a:t>
            </a:r>
            <a:endParaRPr lang="en-US" sz="1500" dirty="0"/>
          </a:p>
        </p:txBody>
      </p:sp>
      <p:sp>
        <p:nvSpPr>
          <p:cNvPr id="6" name="What they did"/>
          <p:cNvSpPr/>
          <p:nvPr/>
        </p:nvSpPr>
        <p:spPr>
          <a:xfrm>
            <a:off x="457200" y="1847088"/>
            <a:ext cx="1600200" cy="1115568"/>
          </a:xfrm>
          <a:prstGeom prst="roundRect">
            <a:avLst>
              <a:gd name="adj" fmla="val 4918"/>
            </a:avLst>
          </a:prstGeom>
          <a:solidFill>
            <a:srgbClr val="EBF3FA"/>
          </a:solidFill>
          <a:ln w="12700">
            <a:solidFill>
              <a:srgbClr val="2E75B6"/>
            </a:solidFill>
            <a:prstDash val="solid"/>
          </a:ln>
        </p:spPr>
      </p:sp>
      <p:sp>
        <p:nvSpPr>
          <p:cNvPr id="7" name="Text 5"/>
          <p:cNvSpPr txBox="1"/>
          <p:nvPr/>
        </p:nvSpPr>
        <p:spPr>
          <a:xfrm>
            <a:off x="548640" y="1847088"/>
            <a:ext cx="1417320" cy="11155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did</a:t>
            </a:r>
            <a:endParaRPr lang="en-US" sz="1500" dirty="0"/>
          </a:p>
        </p:txBody>
      </p:sp>
      <p:sp>
        <p:nvSpPr>
          <p:cNvPr id="8" name="Text 6"/>
          <p:cNvSpPr txBox="1"/>
          <p:nvPr/>
        </p:nvSpPr>
        <p:spPr>
          <a:xfrm>
            <a:off x="2194560" y="1847088"/>
            <a:ext cx="6492240" cy="11155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All Lichess blitz games from 2013 to 2016, from a set of 123 million games by 0.98 million players. For each player they shuffled the order of their own games, which shows what streaks pure chance would give, and compared the real streaks with that.</a:t>
            </a:r>
            <a:endParaRPr lang="en-US" sz="1500" dirty="0"/>
          </a:p>
        </p:txBody>
      </p:sp>
      <p:sp>
        <p:nvSpPr>
          <p:cNvPr id="9" name="What they found"/>
          <p:cNvSpPr/>
          <p:nvPr/>
        </p:nvSpPr>
        <p:spPr>
          <a:xfrm>
            <a:off x="457200" y="3035808"/>
            <a:ext cx="1600200" cy="914400"/>
          </a:xfrm>
          <a:prstGeom prst="roundRect">
            <a:avLst>
              <a:gd name="adj" fmla="val 6000"/>
            </a:avLst>
          </a:prstGeom>
          <a:solidFill>
            <a:srgbClr val="EBF3FA"/>
          </a:solidFill>
          <a:ln w="12700">
            <a:solidFill>
              <a:srgbClr val="2E75B6"/>
            </a:solidFill>
            <a:prstDash val="solid"/>
          </a:ln>
        </p:spPr>
      </p:sp>
      <p:sp>
        <p:nvSpPr>
          <p:cNvPr id="10" name="Text 8"/>
          <p:cNvSpPr txBox="1"/>
          <p:nvPr/>
        </p:nvSpPr>
        <p:spPr>
          <a:xfrm>
            <a:off x="548640" y="3035808"/>
            <a:ext cx="1417320" cy="91440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found</a:t>
            </a:r>
            <a:endParaRPr lang="en-US" sz="1500" dirty="0"/>
          </a:p>
        </p:txBody>
      </p:sp>
      <p:sp>
        <p:nvSpPr>
          <p:cNvPr id="11" name="Text 9"/>
          <p:cNvSpPr txBox="1"/>
          <p:nvPr/>
        </p:nvSpPr>
        <p:spPr>
          <a:xfrm>
            <a:off x="2194560" y="3035808"/>
            <a:ext cx="6492240" cy="914400"/>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Real hot streaks were longer than chance, cold streaks were longer still, and weaker players had longer hot streaks than strong players.</a:t>
            </a:r>
            <a:endParaRPr lang="en-US" sz="1500" dirty="0"/>
          </a:p>
        </p:txBody>
      </p:sp>
      <p:sp>
        <p:nvSpPr>
          <p:cNvPr id="12" name="why it matters"/>
          <p:cNvSpPr/>
          <p:nvPr/>
        </p:nvSpPr>
        <p:spPr>
          <a:xfrm>
            <a:off x="457200" y="4041648"/>
            <a:ext cx="8229600" cy="603504"/>
          </a:xfrm>
          <a:prstGeom prst="roundRect">
            <a:avLst>
              <a:gd name="adj" fmla="val 9091"/>
            </a:avLst>
          </a:prstGeom>
          <a:solidFill>
            <a:srgbClr val="FFF2CC"/>
          </a:solidFill>
          <a:ln w="12700">
            <a:solidFill>
              <a:srgbClr val="C27C0E"/>
            </a:solidFill>
            <a:prstDash val="solid"/>
          </a:ln>
        </p:spPr>
      </p:sp>
      <p:sp>
        <p:nvSpPr>
          <p:cNvPr id="13" name="Text 11"/>
          <p:cNvSpPr txBox="1"/>
          <p:nvPr/>
        </p:nvSpPr>
        <p:spPr>
          <a:xfrm>
            <a:off x="594360" y="4041648"/>
            <a:ext cx="7955280" cy="603504"/>
          </a:xfrm>
          <a:prstGeom prst="rect">
            <a:avLst/>
          </a:prstGeom>
          <a:noFill/>
          <a:ln/>
        </p:spPr>
        <p:txBody>
          <a:bodyPr wrap="square" lIns="0" tIns="0" rIns="0" bIns="0" rtlCol="0" anchor="ctr"/>
          <a:lstStyle/>
          <a:p>
            <a:pPr indent="0" marL="0">
              <a:buNone/>
            </a:pPr>
            <a:r>
              <a:rPr lang="en-US" sz="1500" b="1" dirty="0">
                <a:solidFill>
                  <a:srgbClr val="C27C0E"/>
                </a:solidFill>
                <a:latin typeface="Arial" pitchFamily="34" charset="0"/>
                <a:ea typeface="Arial" pitchFamily="34" charset="-122"/>
                <a:cs typeface="Arial" pitchFamily="34" charset="-120"/>
              </a:rPr>
              <a:t>Why it matters for us: </a:t>
            </a:r>
            <a:pPr indent="0" marL="0">
              <a:buNone/>
            </a:pPr>
            <a:r>
              <a:rPr lang="en-US" sz="1500" dirty="0">
                <a:solidFill>
                  <a:schemeClr val="tx1"/>
                </a:solidFill>
                <a:latin typeface="Arial" pitchFamily="34" charset="0"/>
                <a:ea typeface="Arial" pitchFamily="34" charset="-122"/>
                <a:cs typeface="Arial" pitchFamily="34" charset="-120"/>
              </a:rPr>
              <a:t>results do cluster, but only win or loss was measured, not how well the moves were played.</a:t>
            </a:r>
            <a:endParaRPr lang="en-US" sz="1500" dirty="0"/>
          </a:p>
        </p:txBody>
      </p:sp>
      <p:sp>
        <p:nvSpPr>
          <p:cNvPr id="14" name="Text 1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Chowdhary, Iacopini &amp; Battiston (2023), Scientific Reports 13, 2113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Guid &amp; Bratko: a chess program can grade every human move</a:t>
            </a:r>
            <a:endParaRPr lang="en-US" sz="2600" dirty="0"/>
          </a:p>
        </p:txBody>
      </p:sp>
      <p:sp>
        <p:nvSpPr>
          <p:cNvPr id="3" name="What they asked"/>
          <p:cNvSpPr/>
          <p:nvPr/>
        </p:nvSpPr>
        <p:spPr>
          <a:xfrm>
            <a:off x="457200" y="1115568"/>
            <a:ext cx="1600200" cy="658368"/>
          </a:xfrm>
          <a:prstGeom prst="roundRect">
            <a:avLst>
              <a:gd name="adj" fmla="val 8333"/>
            </a:avLst>
          </a:prstGeom>
          <a:solidFill>
            <a:srgbClr val="EBF3FA"/>
          </a:solidFill>
          <a:ln w="12700">
            <a:solidFill>
              <a:srgbClr val="2E75B6"/>
            </a:solidFill>
            <a:prstDash val="solid"/>
          </a:ln>
        </p:spPr>
      </p:sp>
      <p:sp>
        <p:nvSpPr>
          <p:cNvPr id="4" name="Text 2"/>
          <p:cNvSpPr txBox="1"/>
          <p:nvPr/>
        </p:nvSpPr>
        <p:spPr>
          <a:xfrm>
            <a:off x="548640" y="1115568"/>
            <a:ext cx="1417320" cy="6583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asked</a:t>
            </a:r>
            <a:endParaRPr lang="en-US" sz="1500" dirty="0"/>
          </a:p>
        </p:txBody>
      </p:sp>
      <p:sp>
        <p:nvSpPr>
          <p:cNvPr id="5" name="Text 3"/>
          <p:cNvSpPr txBox="1"/>
          <p:nvPr/>
        </p:nvSpPr>
        <p:spPr>
          <a:xfrm>
            <a:off x="2194560" y="1115568"/>
            <a:ext cx="6492240" cy="6583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Can a computer fairly compare world champions from different eras by the quality of their moves?</a:t>
            </a:r>
            <a:endParaRPr lang="en-US" sz="1500" dirty="0"/>
          </a:p>
        </p:txBody>
      </p:sp>
      <p:sp>
        <p:nvSpPr>
          <p:cNvPr id="6" name="What they did"/>
          <p:cNvSpPr/>
          <p:nvPr/>
        </p:nvSpPr>
        <p:spPr>
          <a:xfrm>
            <a:off x="457200" y="1847088"/>
            <a:ext cx="1600200" cy="1115568"/>
          </a:xfrm>
          <a:prstGeom prst="roundRect">
            <a:avLst>
              <a:gd name="adj" fmla="val 4918"/>
            </a:avLst>
          </a:prstGeom>
          <a:solidFill>
            <a:srgbClr val="EBF3FA"/>
          </a:solidFill>
          <a:ln w="12700">
            <a:solidFill>
              <a:srgbClr val="2E75B6"/>
            </a:solidFill>
            <a:prstDash val="solid"/>
          </a:ln>
        </p:spPr>
      </p:sp>
      <p:sp>
        <p:nvSpPr>
          <p:cNvPr id="7" name="Text 5"/>
          <p:cNvSpPr txBox="1"/>
          <p:nvPr/>
        </p:nvSpPr>
        <p:spPr>
          <a:xfrm>
            <a:off x="548640" y="1847088"/>
            <a:ext cx="1417320" cy="11155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did</a:t>
            </a:r>
            <a:endParaRPr lang="en-US" sz="1500" dirty="0"/>
          </a:p>
        </p:txBody>
      </p:sp>
      <p:sp>
        <p:nvSpPr>
          <p:cNvPr id="8" name="Text 6"/>
          <p:cNvSpPr txBox="1"/>
          <p:nvPr/>
        </p:nvSpPr>
        <p:spPr>
          <a:xfrm>
            <a:off x="2194560" y="1847088"/>
            <a:ext cx="6492240" cy="11155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They ran the chess program CRAFTY over World Championship match games. Each move was graded by how much worse the program rated it than its own best move, and each player got the average. The search went 12 plies deep (6 moves by each side).</a:t>
            </a:r>
            <a:endParaRPr lang="en-US" sz="1500" dirty="0"/>
          </a:p>
        </p:txBody>
      </p:sp>
      <p:sp>
        <p:nvSpPr>
          <p:cNvPr id="9" name="What they found"/>
          <p:cNvSpPr/>
          <p:nvPr/>
        </p:nvSpPr>
        <p:spPr>
          <a:xfrm>
            <a:off x="457200" y="3035808"/>
            <a:ext cx="1600200" cy="914400"/>
          </a:xfrm>
          <a:prstGeom prst="roundRect">
            <a:avLst>
              <a:gd name="adj" fmla="val 6000"/>
            </a:avLst>
          </a:prstGeom>
          <a:solidFill>
            <a:srgbClr val="EBF3FA"/>
          </a:solidFill>
          <a:ln w="12700">
            <a:solidFill>
              <a:srgbClr val="2E75B6"/>
            </a:solidFill>
            <a:prstDash val="solid"/>
          </a:ln>
        </p:spPr>
      </p:sp>
      <p:sp>
        <p:nvSpPr>
          <p:cNvPr id="10" name="Text 8"/>
          <p:cNvSpPr txBox="1"/>
          <p:nvPr/>
        </p:nvSpPr>
        <p:spPr>
          <a:xfrm>
            <a:off x="548640" y="3035808"/>
            <a:ext cx="1417320" cy="91440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found</a:t>
            </a:r>
            <a:endParaRPr lang="en-US" sz="1500" dirty="0"/>
          </a:p>
        </p:txBody>
      </p:sp>
      <p:sp>
        <p:nvSpPr>
          <p:cNvPr id="11" name="Text 9"/>
          <p:cNvSpPr txBox="1"/>
          <p:nvPr/>
        </p:nvSpPr>
        <p:spPr>
          <a:xfrm>
            <a:off x="2194560" y="3035808"/>
            <a:ext cx="6492240" cy="914400"/>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Capablanca came out on top. Critics said CRAFTY was too weak and too shallow. In later work with stronger programs, clearly separated players kept the same order, but the scores themselves changed with the program and the depth.</a:t>
            </a:r>
            <a:endParaRPr lang="en-US" sz="1500" dirty="0"/>
          </a:p>
        </p:txBody>
      </p:sp>
      <p:sp>
        <p:nvSpPr>
          <p:cNvPr id="12" name="why it matters"/>
          <p:cNvSpPr/>
          <p:nvPr/>
        </p:nvSpPr>
        <p:spPr>
          <a:xfrm>
            <a:off x="457200" y="4041648"/>
            <a:ext cx="8229600" cy="603504"/>
          </a:xfrm>
          <a:prstGeom prst="roundRect">
            <a:avLst>
              <a:gd name="adj" fmla="val 9091"/>
            </a:avLst>
          </a:prstGeom>
          <a:solidFill>
            <a:srgbClr val="FFF2CC"/>
          </a:solidFill>
          <a:ln w="12700">
            <a:solidFill>
              <a:srgbClr val="C27C0E"/>
            </a:solidFill>
            <a:prstDash val="solid"/>
          </a:ln>
        </p:spPr>
      </p:sp>
      <p:sp>
        <p:nvSpPr>
          <p:cNvPr id="13" name="Text 11"/>
          <p:cNvSpPr txBox="1"/>
          <p:nvPr/>
        </p:nvSpPr>
        <p:spPr>
          <a:xfrm>
            <a:off x="594360" y="4041648"/>
            <a:ext cx="7955280" cy="603504"/>
          </a:xfrm>
          <a:prstGeom prst="rect">
            <a:avLst/>
          </a:prstGeom>
          <a:noFill/>
          <a:ln/>
        </p:spPr>
        <p:txBody>
          <a:bodyPr wrap="square" lIns="0" tIns="0" rIns="0" bIns="0" rtlCol="0" anchor="ctr"/>
          <a:lstStyle/>
          <a:p>
            <a:pPr indent="0" marL="0">
              <a:buNone/>
            </a:pPr>
            <a:r>
              <a:rPr lang="en-US" sz="1500" b="1" dirty="0">
                <a:solidFill>
                  <a:srgbClr val="C27C0E"/>
                </a:solidFill>
                <a:latin typeface="Arial" pitchFamily="34" charset="0"/>
                <a:ea typeface="Arial" pitchFamily="34" charset="-122"/>
                <a:cs typeface="Arial" pitchFamily="34" charset="-120"/>
              </a:rPr>
              <a:t>Why it matters for us: </a:t>
            </a:r>
            <a:pPr indent="0" marL="0">
              <a:buNone/>
            </a:pPr>
            <a:r>
              <a:rPr lang="en-US" sz="1500" dirty="0">
                <a:solidFill>
                  <a:schemeClr val="tx1"/>
                </a:solidFill>
                <a:latin typeface="Arial" pitchFamily="34" charset="0"/>
                <a:ea typeface="Arial" pitchFamily="34" charset="-122"/>
                <a:cs typeface="Arial" pitchFamily="34" charset="-120"/>
              </a:rPr>
              <a:t>this is where our measure, the average loss per move (ACPL), comes from.</a:t>
            </a:r>
            <a:endParaRPr lang="en-US" sz="1500" dirty="0"/>
          </a:p>
        </p:txBody>
      </p:sp>
      <p:sp>
        <p:nvSpPr>
          <p:cNvPr id="14" name="Text 1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Guid &amp; Bratko (2006), ICGA Journal 29(2), 65-73; follow-ups in ICGA Journal 2008 and 2011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Backus et al.: women's mistakes grew about 11% against men; men's did not</a:t>
            </a:r>
            <a:endParaRPr lang="en-US" sz="2600" dirty="0"/>
          </a:p>
        </p:txBody>
      </p:sp>
      <p:sp>
        <p:nvSpPr>
          <p:cNvPr id="3" name="What they asked"/>
          <p:cNvSpPr/>
          <p:nvPr/>
        </p:nvSpPr>
        <p:spPr>
          <a:xfrm>
            <a:off x="457200" y="1115568"/>
            <a:ext cx="1600200" cy="658368"/>
          </a:xfrm>
          <a:prstGeom prst="roundRect">
            <a:avLst>
              <a:gd name="adj" fmla="val 8333"/>
            </a:avLst>
          </a:prstGeom>
          <a:solidFill>
            <a:srgbClr val="EBF3FA"/>
          </a:solidFill>
          <a:ln w="12700">
            <a:solidFill>
              <a:srgbClr val="2E75B6"/>
            </a:solidFill>
            <a:prstDash val="solid"/>
          </a:ln>
        </p:spPr>
      </p:sp>
      <p:sp>
        <p:nvSpPr>
          <p:cNvPr id="4" name="Text 2"/>
          <p:cNvSpPr txBox="1"/>
          <p:nvPr/>
        </p:nvSpPr>
        <p:spPr>
          <a:xfrm>
            <a:off x="548640" y="1115568"/>
            <a:ext cx="1417320" cy="6583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asked</a:t>
            </a:r>
            <a:endParaRPr lang="en-US" sz="1500" dirty="0"/>
          </a:p>
        </p:txBody>
      </p:sp>
      <p:sp>
        <p:nvSpPr>
          <p:cNvPr id="5" name="Text 3"/>
          <p:cNvSpPr txBox="1"/>
          <p:nvPr/>
        </p:nvSpPr>
        <p:spPr>
          <a:xfrm>
            <a:off x="2194560" y="1115568"/>
            <a:ext cx="6492240" cy="6583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Does playing against a man or a woman change how well someone plays? This helps explain why women often do worse in mixed competition.</a:t>
            </a:r>
            <a:endParaRPr lang="en-US" sz="1500" dirty="0"/>
          </a:p>
        </p:txBody>
      </p:sp>
      <p:sp>
        <p:nvSpPr>
          <p:cNvPr id="6" name="What they did"/>
          <p:cNvSpPr/>
          <p:nvPr/>
        </p:nvSpPr>
        <p:spPr>
          <a:xfrm>
            <a:off x="457200" y="1847088"/>
            <a:ext cx="1600200" cy="1115568"/>
          </a:xfrm>
          <a:prstGeom prst="roundRect">
            <a:avLst>
              <a:gd name="adj" fmla="val 4918"/>
            </a:avLst>
          </a:prstGeom>
          <a:solidFill>
            <a:srgbClr val="EBF3FA"/>
          </a:solidFill>
          <a:ln w="12700">
            <a:solidFill>
              <a:srgbClr val="2E75B6"/>
            </a:solidFill>
            <a:prstDash val="solid"/>
          </a:ln>
        </p:spPr>
      </p:sp>
      <p:sp>
        <p:nvSpPr>
          <p:cNvPr id="7" name="Text 5"/>
          <p:cNvSpPr txBox="1"/>
          <p:nvPr/>
        </p:nvSpPr>
        <p:spPr>
          <a:xfrm>
            <a:off x="548640" y="1847088"/>
            <a:ext cx="1417320" cy="11155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did</a:t>
            </a:r>
            <a:endParaRPr lang="en-US" sz="1500" dirty="0"/>
          </a:p>
        </p:txBody>
      </p:sp>
      <p:sp>
        <p:nvSpPr>
          <p:cNvPr id="8" name="Text 6"/>
          <p:cNvSpPr txBox="1"/>
          <p:nvPr/>
        </p:nvSpPr>
        <p:spPr>
          <a:xfrm>
            <a:off x="2194560" y="1847088"/>
            <a:ext cx="6492240" cy="11155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Over-the-board tournament games from 2012 and 2013 (The Week in Chess). Moves 15 to 30 of each game were graded by the program Houdini at depth 15. Each player's games against men were compared with their own games against women: 28,799 games by 2,504 players.</a:t>
            </a:r>
            <a:endParaRPr lang="en-US" sz="1500" dirty="0"/>
          </a:p>
        </p:txBody>
      </p:sp>
      <p:sp>
        <p:nvSpPr>
          <p:cNvPr id="9" name="What they found"/>
          <p:cNvSpPr/>
          <p:nvPr/>
        </p:nvSpPr>
        <p:spPr>
          <a:xfrm>
            <a:off x="457200" y="3035808"/>
            <a:ext cx="1600200" cy="914400"/>
          </a:xfrm>
          <a:prstGeom prst="roundRect">
            <a:avLst>
              <a:gd name="adj" fmla="val 6000"/>
            </a:avLst>
          </a:prstGeom>
          <a:solidFill>
            <a:srgbClr val="EBF3FA"/>
          </a:solidFill>
          <a:ln w="12700">
            <a:solidFill>
              <a:srgbClr val="2E75B6"/>
            </a:solidFill>
            <a:prstDash val="solid"/>
          </a:ln>
        </p:spPr>
      </p:sp>
      <p:sp>
        <p:nvSpPr>
          <p:cNvPr id="10" name="Text 8"/>
          <p:cNvSpPr txBox="1"/>
          <p:nvPr/>
        </p:nvSpPr>
        <p:spPr>
          <a:xfrm>
            <a:off x="548640" y="3035808"/>
            <a:ext cx="1417320" cy="91440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found</a:t>
            </a:r>
            <a:endParaRPr lang="en-US" sz="1500" dirty="0"/>
          </a:p>
        </p:txBody>
      </p:sp>
      <p:sp>
        <p:nvSpPr>
          <p:cNvPr id="11" name="Text 9"/>
          <p:cNvSpPr txBox="1"/>
          <p:nvPr/>
        </p:nvSpPr>
        <p:spPr>
          <a:xfrm>
            <a:off x="2194560" y="3035808"/>
            <a:ext cx="6492240" cy="914400"/>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Women's average mistake was about 11% larger against men. Men played equally well against both, and kept playing longer before resigning against women. The average mistake per move overall was 16.5.</a:t>
            </a:r>
            <a:endParaRPr lang="en-US" sz="1500" dirty="0"/>
          </a:p>
        </p:txBody>
      </p:sp>
      <p:sp>
        <p:nvSpPr>
          <p:cNvPr id="12" name="why it matters"/>
          <p:cNvSpPr/>
          <p:nvPr/>
        </p:nvSpPr>
        <p:spPr>
          <a:xfrm>
            <a:off x="457200" y="4041648"/>
            <a:ext cx="8229600" cy="603504"/>
          </a:xfrm>
          <a:prstGeom prst="roundRect">
            <a:avLst>
              <a:gd name="adj" fmla="val 9091"/>
            </a:avLst>
          </a:prstGeom>
          <a:solidFill>
            <a:srgbClr val="FFF2CC"/>
          </a:solidFill>
          <a:ln w="12700">
            <a:solidFill>
              <a:srgbClr val="C27C0E"/>
            </a:solidFill>
            <a:prstDash val="solid"/>
          </a:ln>
        </p:spPr>
      </p:sp>
      <p:sp>
        <p:nvSpPr>
          <p:cNvPr id="13" name="Text 11"/>
          <p:cNvSpPr txBox="1"/>
          <p:nvPr/>
        </p:nvSpPr>
        <p:spPr>
          <a:xfrm>
            <a:off x="594360" y="4041648"/>
            <a:ext cx="7955280" cy="603504"/>
          </a:xfrm>
          <a:prstGeom prst="rect">
            <a:avLst/>
          </a:prstGeom>
          <a:noFill/>
          <a:ln/>
        </p:spPr>
        <p:txBody>
          <a:bodyPr wrap="square" lIns="0" tIns="0" rIns="0" bIns="0" rtlCol="0" anchor="ctr"/>
          <a:lstStyle/>
          <a:p>
            <a:pPr indent="0" marL="0">
              <a:buNone/>
            </a:pPr>
            <a:r>
              <a:rPr lang="en-US" sz="1500" b="1" dirty="0">
                <a:solidFill>
                  <a:srgbClr val="C27C0E"/>
                </a:solidFill>
                <a:latin typeface="Arial" pitchFamily="34" charset="0"/>
                <a:ea typeface="Arial" pitchFamily="34" charset="-122"/>
                <a:cs typeface="Arial" pitchFamily="34" charset="-120"/>
              </a:rPr>
              <a:t>Why it matters for us: </a:t>
            </a:r>
            <a:pPr indent="0" marL="0">
              <a:buNone/>
            </a:pPr>
            <a:r>
              <a:rPr lang="en-US" sz="1500" dirty="0">
                <a:solidFill>
                  <a:schemeClr val="tx1"/>
                </a:solidFill>
                <a:latin typeface="Arial" pitchFamily="34" charset="0"/>
                <a:ea typeface="Arial" pitchFamily="34" charset="-122"/>
                <a:cs typeface="Arial" pitchFamily="34" charset="-120"/>
              </a:rPr>
              <a:t>our move window (15 to 30), search depth (15) and loss formula all come from this paper.</a:t>
            </a:r>
            <a:endParaRPr lang="en-US" sz="1500" dirty="0"/>
          </a:p>
        </p:txBody>
      </p:sp>
      <p:sp>
        <p:nvSpPr>
          <p:cNvPr id="14" name="Text 1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Backus, Cubel, Guid, Sanchez-Pages &amp; Lopez Manas (2023), Quantitative Economics 14(1), 349-380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Why only moves 15 to 30: Backus et al. gave two reasons, following Guid and Bratko</a:t>
            </a:r>
            <a:endParaRPr lang="en-US" sz="2600" dirty="0"/>
          </a:p>
        </p:txBody>
      </p:sp>
      <p:sp>
        <p:nvSpPr>
          <p:cNvPr id="3" name="quote"/>
          <p:cNvSpPr/>
          <p:nvPr/>
        </p:nvSpPr>
        <p:spPr>
          <a:xfrm>
            <a:off x="457200" y="1115568"/>
            <a:ext cx="8229600" cy="1097280"/>
          </a:xfrm>
          <a:prstGeom prst="roundRect">
            <a:avLst>
              <a:gd name="adj" fmla="val 5000"/>
            </a:avLst>
          </a:prstGeom>
          <a:solidFill>
            <a:srgbClr val="EBF3FA"/>
          </a:solidFill>
          <a:ln w="12700">
            <a:solidFill>
              <a:srgbClr val="2E75B6"/>
            </a:solidFill>
            <a:prstDash val="solid"/>
          </a:ln>
        </p:spPr>
      </p:sp>
      <p:sp>
        <p:nvSpPr>
          <p:cNvPr id="4" name="Text 2"/>
          <p:cNvSpPr txBox="1"/>
          <p:nvPr/>
        </p:nvSpPr>
        <p:spPr>
          <a:xfrm>
            <a:off x="640080" y="1115568"/>
            <a:ext cx="7863840" cy="1097280"/>
          </a:xfrm>
          <a:prstGeom prst="rect">
            <a:avLst/>
          </a:prstGeom>
          <a:noFill/>
          <a:ln/>
        </p:spPr>
        <p:txBody>
          <a:bodyPr wrap="square" lIns="0" tIns="0" rIns="0" bIns="0" rtlCol="0" anchor="ctr"/>
          <a:lstStyle/>
          <a:p>
            <a:pPr indent="0" marL="0">
              <a:buNone/>
            </a:pPr>
            <a:r>
              <a:rPr lang="en-US" sz="1500" i="1" dirty="0">
                <a:solidFill>
                  <a:srgbClr val="1F4E79"/>
                </a:solidFill>
                <a:latin typeface="Arial" pitchFamily="34" charset="0"/>
                <a:ea typeface="Arial" pitchFamily="34" charset="-122"/>
                <a:cs typeface="Arial" pitchFamily="34" charset="-120"/>
              </a:rPr>
              <a:t>“We consider this subset of moves for two reasons. First, to limit the substantial computational burden … Second, because we want to focus on the middle game, which is least likely to follow an established plan …”</a:t>
            </a:r>
            <a:endParaRPr lang="en-US" sz="1500" dirty="0"/>
          </a:p>
          <a:p>
            <a:pPr indent="0" marL="0">
              <a:buNone/>
            </a:pPr>
            <a:r>
              <a:rPr lang="en-US" sz="1300" dirty="0">
                <a:solidFill>
                  <a:srgbClr val="777777"/>
                </a:solidFill>
                <a:latin typeface="Arial" pitchFamily="34" charset="0"/>
                <a:ea typeface="Arial" pitchFamily="34" charset="-122"/>
                <a:cs typeface="Arial" pitchFamily="34" charset="-120"/>
              </a:rPr>
              <a:t>Backus et al. (2023), p. 359</a:t>
            </a:r>
            <a:endParaRPr lang="en-US" sz="1500" dirty="0"/>
          </a:p>
        </p:txBody>
      </p:sp>
      <p:sp>
        <p:nvSpPr>
          <p:cNvPr id="5" name="1. Computer time"/>
          <p:cNvSpPr/>
          <p:nvPr/>
        </p:nvSpPr>
        <p:spPr>
          <a:xfrm>
            <a:off x="457200" y="2377440"/>
            <a:ext cx="3977640" cy="1234440"/>
          </a:xfrm>
          <a:prstGeom prst="roundRect">
            <a:avLst>
              <a:gd name="adj" fmla="val 4444"/>
            </a:avLst>
          </a:prstGeom>
          <a:solidFill>
            <a:srgbClr val="FFFFFF"/>
          </a:solidFill>
          <a:ln w="12700">
            <a:solidFill>
              <a:srgbClr val="2E75B6"/>
            </a:solidFill>
            <a:prstDash val="solid"/>
          </a:ln>
        </p:spPr>
      </p:sp>
      <p:sp>
        <p:nvSpPr>
          <p:cNvPr id="6" name="Text 4"/>
          <p:cNvSpPr txBox="1"/>
          <p:nvPr/>
        </p:nvSpPr>
        <p:spPr>
          <a:xfrm>
            <a:off x="640080" y="2450592"/>
            <a:ext cx="3611880" cy="320040"/>
          </a:xfrm>
          <a:prstGeom prst="rect">
            <a:avLst/>
          </a:prstGeom>
          <a:noFill/>
          <a:ln/>
        </p:spPr>
        <p:txBody>
          <a:bodyPr wrap="square" lIns="0" tIns="0" rIns="0" bIns="0" rtlCol="0" anchor="t"/>
          <a:lstStyle/>
          <a:p>
            <a:pPr indent="0" marL="0">
              <a:buNone/>
            </a:pPr>
            <a:r>
              <a:rPr lang="en-US" sz="1600" b="1" dirty="0">
                <a:solidFill>
                  <a:srgbClr val="2E75B6"/>
                </a:solidFill>
                <a:latin typeface="Arial" pitchFamily="34" charset="0"/>
                <a:ea typeface="Arial" pitchFamily="34" charset="-122"/>
                <a:cs typeface="Arial" pitchFamily="34" charset="-120"/>
              </a:rPr>
              <a:t>1. Computer time</a:t>
            </a:r>
            <a:endParaRPr lang="en-US" sz="1600" dirty="0"/>
          </a:p>
        </p:txBody>
      </p:sp>
      <p:sp>
        <p:nvSpPr>
          <p:cNvPr id="7" name="Text 5"/>
          <p:cNvSpPr txBox="1"/>
          <p:nvPr/>
        </p:nvSpPr>
        <p:spPr>
          <a:xfrm>
            <a:off x="640080" y="2788920"/>
            <a:ext cx="3611880" cy="7772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Their sample had about 1.5 million moves, and each extra step of search depth roughly doubles the computing time.</a:t>
            </a:r>
            <a:endParaRPr lang="en-US" sz="1400" dirty="0"/>
          </a:p>
        </p:txBody>
      </p:sp>
      <p:sp>
        <p:nvSpPr>
          <p:cNvPr id="8" name="2. Skip prepared play"/>
          <p:cNvSpPr/>
          <p:nvPr/>
        </p:nvSpPr>
        <p:spPr>
          <a:xfrm>
            <a:off x="4709160" y="2377440"/>
            <a:ext cx="3977640" cy="1234440"/>
          </a:xfrm>
          <a:prstGeom prst="roundRect">
            <a:avLst>
              <a:gd name="adj" fmla="val 4444"/>
            </a:avLst>
          </a:prstGeom>
          <a:solidFill>
            <a:srgbClr val="FFFFFF"/>
          </a:solidFill>
          <a:ln w="12700">
            <a:solidFill>
              <a:srgbClr val="2E75B6"/>
            </a:solidFill>
            <a:prstDash val="solid"/>
          </a:ln>
        </p:spPr>
      </p:sp>
      <p:sp>
        <p:nvSpPr>
          <p:cNvPr id="9" name="Text 7"/>
          <p:cNvSpPr txBox="1"/>
          <p:nvPr/>
        </p:nvSpPr>
        <p:spPr>
          <a:xfrm>
            <a:off x="4892040" y="2450592"/>
            <a:ext cx="3611880" cy="320040"/>
          </a:xfrm>
          <a:prstGeom prst="rect">
            <a:avLst/>
          </a:prstGeom>
          <a:noFill/>
          <a:ln/>
        </p:spPr>
        <p:txBody>
          <a:bodyPr wrap="square" lIns="0" tIns="0" rIns="0" bIns="0" rtlCol="0" anchor="t"/>
          <a:lstStyle/>
          <a:p>
            <a:pPr indent="0" marL="0">
              <a:buNone/>
            </a:pPr>
            <a:r>
              <a:rPr lang="en-US" sz="1600" b="1" dirty="0">
                <a:solidFill>
                  <a:srgbClr val="2E75B6"/>
                </a:solidFill>
                <a:latin typeface="Arial" pitchFamily="34" charset="0"/>
                <a:ea typeface="Arial" pitchFamily="34" charset="-122"/>
                <a:cs typeface="Arial" pitchFamily="34" charset="-120"/>
              </a:rPr>
              <a:t>2. Skip prepared play</a:t>
            </a:r>
            <a:endParaRPr lang="en-US" sz="1600" dirty="0"/>
          </a:p>
        </p:txBody>
      </p:sp>
      <p:sp>
        <p:nvSpPr>
          <p:cNvPr id="10" name="Text 8"/>
          <p:cNvSpPr txBox="1"/>
          <p:nvPr/>
        </p:nvSpPr>
        <p:spPr>
          <a:xfrm>
            <a:off x="4892040" y="2788920"/>
            <a:ext cx="3611880" cy="7772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Strong players study openings and practise endgames in advance, so the middle game shows their own decisions best.</a:t>
            </a:r>
            <a:endParaRPr lang="en-US" sz="1400" dirty="0"/>
          </a:p>
        </p:txBody>
      </p:sp>
      <p:sp>
        <p:nvSpPr>
          <p:cNvPr id="11" name="our players"/>
          <p:cNvSpPr/>
          <p:nvPr/>
        </p:nvSpPr>
        <p:spPr>
          <a:xfrm>
            <a:off x="457200" y="3767328"/>
            <a:ext cx="8229600" cy="841248"/>
          </a:xfrm>
          <a:prstGeom prst="roundRect">
            <a:avLst>
              <a:gd name="adj" fmla="val 6522"/>
            </a:avLst>
          </a:prstGeom>
          <a:solidFill>
            <a:srgbClr val="FFF2CC"/>
          </a:solidFill>
          <a:ln w="12700">
            <a:solidFill>
              <a:srgbClr val="C27C0E"/>
            </a:solidFill>
            <a:prstDash val="solid"/>
          </a:ln>
        </p:spPr>
      </p:sp>
      <p:sp>
        <p:nvSpPr>
          <p:cNvPr id="12" name="Text 10"/>
          <p:cNvSpPr txBox="1"/>
          <p:nvPr/>
        </p:nvSpPr>
        <p:spPr>
          <a:xfrm>
            <a:off x="594360" y="3767328"/>
            <a:ext cx="7955280" cy="841248"/>
          </a:xfrm>
          <a:prstGeom prst="rect">
            <a:avLst/>
          </a:prstGeom>
          <a:noFill/>
          <a:ln/>
        </p:spPr>
        <p:txBody>
          <a:bodyPr wrap="square" lIns="0" tIns="0" rIns="0" bIns="0" rtlCol="0" anchor="ctr"/>
          <a:lstStyle/>
          <a:p>
            <a:pPr indent="0" marL="0">
              <a:buNone/>
            </a:pPr>
            <a:r>
              <a:rPr lang="en-US" sz="1400" b="1" dirty="0">
                <a:solidFill>
                  <a:srgbClr val="C27C0E"/>
                </a:solidFill>
                <a:latin typeface="Arial" pitchFamily="34" charset="0"/>
                <a:ea typeface="Arial" pitchFamily="34" charset="-122"/>
                <a:cs typeface="Arial" pitchFamily="34" charset="-120"/>
              </a:rPr>
              <a:t>For our players: </a:t>
            </a:r>
            <a:pPr indent="0" marL="0">
              <a:buNone/>
            </a:pPr>
            <a:r>
              <a:rPr lang="en-US" sz="1400" dirty="0">
                <a:solidFill>
                  <a:schemeClr val="tx1"/>
                </a:solidFill>
                <a:latin typeface="Arial" pitchFamily="34" charset="0"/>
                <a:ea typeface="Arial" pitchFamily="34" charset="-122"/>
                <a:cs typeface="Arial" pitchFamily="34" charset="-120"/>
              </a:rPr>
              <a:t>club players rated 1200 to 2000 probably memorise less, so here the window mainly skips habitual opening moves and keeps the computing manageable. It was fixed in the preregistration before any game was scored.</a:t>
            </a:r>
            <a:endParaRPr lang="en-US" sz="1400" dirty="0"/>
          </a:p>
        </p:txBody>
      </p:sp>
      <p:sp>
        <p:nvSpPr>
          <p:cNvPr id="13" name="Text 11"/>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Backus et al. (2023), Quantitative Economics 14(1), 349-380; window from Guid &amp; Bratko (2006, 2011)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Kuenn et al.: top players made bigger mistakes online than over the board</a:t>
            </a:r>
            <a:endParaRPr lang="en-US" sz="2600" dirty="0"/>
          </a:p>
        </p:txBody>
      </p:sp>
      <p:sp>
        <p:nvSpPr>
          <p:cNvPr id="3" name="What they asked"/>
          <p:cNvSpPr/>
          <p:nvPr/>
        </p:nvSpPr>
        <p:spPr>
          <a:xfrm>
            <a:off x="457200" y="1115568"/>
            <a:ext cx="1600200" cy="658368"/>
          </a:xfrm>
          <a:prstGeom prst="roundRect">
            <a:avLst>
              <a:gd name="adj" fmla="val 8333"/>
            </a:avLst>
          </a:prstGeom>
          <a:solidFill>
            <a:srgbClr val="EBF3FA"/>
          </a:solidFill>
          <a:ln w="12700">
            <a:solidFill>
              <a:srgbClr val="2E75B6"/>
            </a:solidFill>
            <a:prstDash val="solid"/>
          </a:ln>
        </p:spPr>
      </p:sp>
      <p:sp>
        <p:nvSpPr>
          <p:cNvPr id="4" name="Text 2"/>
          <p:cNvSpPr txBox="1"/>
          <p:nvPr/>
        </p:nvSpPr>
        <p:spPr>
          <a:xfrm>
            <a:off x="548640" y="1115568"/>
            <a:ext cx="1417320" cy="6583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asked</a:t>
            </a:r>
            <a:endParaRPr lang="en-US" sz="1500" dirty="0"/>
          </a:p>
        </p:txBody>
      </p:sp>
      <p:sp>
        <p:nvSpPr>
          <p:cNvPr id="5" name="Text 3"/>
          <p:cNvSpPr txBox="1"/>
          <p:nvPr/>
        </p:nvSpPr>
        <p:spPr>
          <a:xfrm>
            <a:off x="2194560" y="1115568"/>
            <a:ext cx="6492240" cy="6583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Does moving brain-heavy work from the office to home, online, hurt performance? COVID-19 lockdowns gave a natural test.</a:t>
            </a:r>
            <a:endParaRPr lang="en-US" sz="1500" dirty="0"/>
          </a:p>
        </p:txBody>
      </p:sp>
      <p:sp>
        <p:nvSpPr>
          <p:cNvPr id="6" name="What they did"/>
          <p:cNvSpPr/>
          <p:nvPr/>
        </p:nvSpPr>
        <p:spPr>
          <a:xfrm>
            <a:off x="457200" y="1847088"/>
            <a:ext cx="1600200" cy="1115568"/>
          </a:xfrm>
          <a:prstGeom prst="roundRect">
            <a:avLst>
              <a:gd name="adj" fmla="val 4918"/>
            </a:avLst>
          </a:prstGeom>
          <a:solidFill>
            <a:srgbClr val="EBF3FA"/>
          </a:solidFill>
          <a:ln w="12700">
            <a:solidFill>
              <a:srgbClr val="2E75B6"/>
            </a:solidFill>
            <a:prstDash val="solid"/>
          </a:ln>
        </p:spPr>
      </p:sp>
      <p:sp>
        <p:nvSpPr>
          <p:cNvPr id="7" name="Text 5"/>
          <p:cNvSpPr txBox="1"/>
          <p:nvPr/>
        </p:nvSpPr>
        <p:spPr>
          <a:xfrm>
            <a:off x="548640" y="1847088"/>
            <a:ext cx="1417320" cy="11155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did</a:t>
            </a:r>
            <a:endParaRPr lang="en-US" sz="1500" dirty="0"/>
          </a:p>
        </p:txBody>
      </p:sp>
      <p:sp>
        <p:nvSpPr>
          <p:cNvPr id="8" name="Text 6"/>
          <p:cNvSpPr txBox="1"/>
          <p:nvPr/>
        </p:nvSpPr>
        <p:spPr>
          <a:xfrm>
            <a:off x="2194560" y="1847088"/>
            <a:ext cx="6492240" cy="11155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Eight of the world's top players. Their online games in the Magnus Carlsen Invitational (April to May 2020) were compared with their over-the-board World Rapid Championship games (2015 to 2019), both at 15 minutes plus 10 seconds a move. First 15 moves dropped; graded by Stockfish 11 at depth 25.</a:t>
            </a:r>
            <a:endParaRPr lang="en-US" sz="1500" dirty="0"/>
          </a:p>
        </p:txBody>
      </p:sp>
      <p:sp>
        <p:nvSpPr>
          <p:cNvPr id="9" name="What they found"/>
          <p:cNvSpPr/>
          <p:nvPr/>
        </p:nvSpPr>
        <p:spPr>
          <a:xfrm>
            <a:off x="457200" y="3035808"/>
            <a:ext cx="1600200" cy="914400"/>
          </a:xfrm>
          <a:prstGeom prst="roundRect">
            <a:avLst>
              <a:gd name="adj" fmla="val 6000"/>
            </a:avLst>
          </a:prstGeom>
          <a:solidFill>
            <a:srgbClr val="EBF3FA"/>
          </a:solidFill>
          <a:ln w="12700">
            <a:solidFill>
              <a:srgbClr val="2E75B6"/>
            </a:solidFill>
            <a:prstDash val="solid"/>
          </a:ln>
        </p:spPr>
      </p:sp>
      <p:sp>
        <p:nvSpPr>
          <p:cNvPr id="10" name="Text 8"/>
          <p:cNvSpPr txBox="1"/>
          <p:nvPr/>
        </p:nvSpPr>
        <p:spPr>
          <a:xfrm>
            <a:off x="548640" y="3035808"/>
            <a:ext cx="1417320" cy="91440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found</a:t>
            </a:r>
            <a:endParaRPr lang="en-US" sz="1500" dirty="0"/>
          </a:p>
        </p:txBody>
      </p:sp>
      <p:sp>
        <p:nvSpPr>
          <p:cNvPr id="11" name="Text 9"/>
          <p:cNvSpPr txBox="1"/>
          <p:nvPr/>
        </p:nvSpPr>
        <p:spPr>
          <a:xfrm>
            <a:off x="2194560" y="3035808"/>
            <a:ext cx="6492240" cy="914400"/>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When players made a mistake, it was on average 16.8% larger online than over the board.</a:t>
            </a:r>
            <a:endParaRPr lang="en-US" sz="1500" dirty="0"/>
          </a:p>
        </p:txBody>
      </p:sp>
      <p:sp>
        <p:nvSpPr>
          <p:cNvPr id="12" name="why it matters"/>
          <p:cNvSpPr/>
          <p:nvPr/>
        </p:nvSpPr>
        <p:spPr>
          <a:xfrm>
            <a:off x="457200" y="4041648"/>
            <a:ext cx="8229600" cy="603504"/>
          </a:xfrm>
          <a:prstGeom prst="roundRect">
            <a:avLst>
              <a:gd name="adj" fmla="val 9091"/>
            </a:avLst>
          </a:prstGeom>
          <a:solidFill>
            <a:srgbClr val="FFF2CC"/>
          </a:solidFill>
          <a:ln w="12700">
            <a:solidFill>
              <a:srgbClr val="C27C0E"/>
            </a:solidFill>
            <a:prstDash val="solid"/>
          </a:ln>
        </p:spPr>
      </p:sp>
      <p:sp>
        <p:nvSpPr>
          <p:cNvPr id="13" name="Text 11"/>
          <p:cNvSpPr txBox="1"/>
          <p:nvPr/>
        </p:nvSpPr>
        <p:spPr>
          <a:xfrm>
            <a:off x="594360" y="4041648"/>
            <a:ext cx="7955280" cy="603504"/>
          </a:xfrm>
          <a:prstGeom prst="rect">
            <a:avLst/>
          </a:prstGeom>
          <a:noFill/>
          <a:ln/>
        </p:spPr>
        <p:txBody>
          <a:bodyPr wrap="square" lIns="0" tIns="0" rIns="0" bIns="0" rtlCol="0" anchor="ctr"/>
          <a:lstStyle/>
          <a:p>
            <a:pPr indent="0" marL="0">
              <a:buNone/>
            </a:pPr>
            <a:r>
              <a:rPr lang="en-US" sz="1500" b="1" dirty="0">
                <a:solidFill>
                  <a:srgbClr val="C27C0E"/>
                </a:solidFill>
                <a:latin typeface="Arial" pitchFamily="34" charset="0"/>
                <a:ea typeface="Arial" pitchFamily="34" charset="-122"/>
                <a:cs typeface="Arial" pitchFamily="34" charset="-120"/>
              </a:rPr>
              <a:t>Why it matters for us: </a:t>
            </a:r>
            <a:pPr indent="0" marL="0">
              <a:buNone/>
            </a:pPr>
            <a:r>
              <a:rPr lang="en-US" sz="1500" dirty="0">
                <a:solidFill>
                  <a:schemeClr val="tx1"/>
                </a:solidFill>
                <a:latin typeface="Arial" pitchFamily="34" charset="0"/>
                <a:ea typeface="Arial" pitchFamily="34" charset="-122"/>
                <a:cs typeface="Arial" pitchFamily="34" charset="-120"/>
              </a:rPr>
              <a:t>the same grading method works for rapid games, and their worked example is how we explain the loss formula.</a:t>
            </a:r>
            <a:endParaRPr lang="en-US" sz="1500" dirty="0"/>
          </a:p>
        </p:txBody>
      </p:sp>
      <p:sp>
        <p:nvSpPr>
          <p:cNvPr id="14" name="Text 1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Kuenn, Seel &amp; Zegners (2020), IZA Discussion Paper 13491; published in The Economic Journal 132(643),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Why Kuenn et al. matters to us: four uses, and one detail worth knowing</a:t>
            </a:r>
            <a:endParaRPr lang="en-US" sz="2600" dirty="0"/>
          </a:p>
        </p:txBody>
      </p:sp>
      <p:sp>
        <p:nvSpPr>
          <p:cNvPr id="3" name="1. The method works on rapid games"/>
          <p:cNvSpPr/>
          <p:nvPr/>
        </p:nvSpPr>
        <p:spPr>
          <a:xfrm>
            <a:off x="457200" y="1115568"/>
            <a:ext cx="3977640" cy="1170432"/>
          </a:xfrm>
          <a:prstGeom prst="roundRect">
            <a:avLst>
              <a:gd name="adj" fmla="val 4688"/>
            </a:avLst>
          </a:prstGeom>
          <a:solidFill>
            <a:srgbClr val="FFFFFF"/>
          </a:solidFill>
          <a:ln w="12700">
            <a:solidFill>
              <a:srgbClr val="2E75B6"/>
            </a:solidFill>
            <a:prstDash val="solid"/>
          </a:ln>
        </p:spPr>
      </p:sp>
      <p:sp>
        <p:nvSpPr>
          <p:cNvPr id="4" name="Text 2"/>
          <p:cNvSpPr txBox="1"/>
          <p:nvPr/>
        </p:nvSpPr>
        <p:spPr>
          <a:xfrm>
            <a:off x="594360" y="1170432"/>
            <a:ext cx="3703320" cy="292608"/>
          </a:xfrm>
          <a:prstGeom prst="rect">
            <a:avLst/>
          </a:prstGeom>
          <a:noFill/>
          <a:ln/>
        </p:spPr>
        <p:txBody>
          <a:bodyPr wrap="square" lIns="0" tIns="0" rIns="0" bIns="0" rtlCol="0" anchor="t"/>
          <a:lstStyle/>
          <a:p>
            <a:pPr indent="0" marL="0">
              <a:buNone/>
            </a:pPr>
            <a:r>
              <a:rPr lang="en-US" sz="1500" b="1" dirty="0">
                <a:solidFill>
                  <a:srgbClr val="2E75B6"/>
                </a:solidFill>
                <a:latin typeface="Arial" pitchFamily="34" charset="0"/>
                <a:ea typeface="Arial" pitchFamily="34" charset="-122"/>
                <a:cs typeface="Arial" pitchFamily="34" charset="-120"/>
              </a:rPr>
              <a:t>1. The method works on rapid games</a:t>
            </a:r>
            <a:endParaRPr lang="en-US" sz="1500" dirty="0"/>
          </a:p>
        </p:txBody>
      </p:sp>
      <p:sp>
        <p:nvSpPr>
          <p:cNvPr id="5" name="Text 3"/>
          <p:cNvSpPr txBox="1"/>
          <p:nvPr/>
        </p:nvSpPr>
        <p:spPr>
          <a:xfrm>
            <a:off x="594360" y="1481328"/>
            <a:ext cx="3703320" cy="768096"/>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Their games were 15 minutes plus 10 seconds a move, the same speed class as ours. Engine grading still makes sense when time is limited.</a:t>
            </a:r>
            <a:endParaRPr lang="en-US" sz="1300" dirty="0"/>
          </a:p>
        </p:txBody>
      </p:sp>
      <p:sp>
        <p:nvSpPr>
          <p:cNvPr id="6" name="2. A shared opening cutoff"/>
          <p:cNvSpPr/>
          <p:nvPr/>
        </p:nvSpPr>
        <p:spPr>
          <a:xfrm>
            <a:off x="4709160" y="1115568"/>
            <a:ext cx="3977640" cy="1170432"/>
          </a:xfrm>
          <a:prstGeom prst="roundRect">
            <a:avLst>
              <a:gd name="adj" fmla="val 4688"/>
            </a:avLst>
          </a:prstGeom>
          <a:solidFill>
            <a:srgbClr val="FFFFFF"/>
          </a:solidFill>
          <a:ln w="12700">
            <a:solidFill>
              <a:srgbClr val="2E75B6"/>
            </a:solidFill>
            <a:prstDash val="solid"/>
          </a:ln>
        </p:spPr>
      </p:sp>
      <p:sp>
        <p:nvSpPr>
          <p:cNvPr id="7" name="Text 5"/>
          <p:cNvSpPr txBox="1"/>
          <p:nvPr/>
        </p:nvSpPr>
        <p:spPr>
          <a:xfrm>
            <a:off x="4846320" y="1170432"/>
            <a:ext cx="3703320" cy="292608"/>
          </a:xfrm>
          <a:prstGeom prst="rect">
            <a:avLst/>
          </a:prstGeom>
          <a:noFill/>
          <a:ln/>
        </p:spPr>
        <p:txBody>
          <a:bodyPr wrap="square" lIns="0" tIns="0" rIns="0" bIns="0" rtlCol="0" anchor="t"/>
          <a:lstStyle/>
          <a:p>
            <a:pPr indent="0" marL="0">
              <a:buNone/>
            </a:pPr>
            <a:r>
              <a:rPr lang="en-US" sz="1500" b="1" dirty="0">
                <a:solidFill>
                  <a:srgbClr val="2E75B6"/>
                </a:solidFill>
                <a:latin typeface="Arial" pitchFamily="34" charset="0"/>
                <a:ea typeface="Arial" pitchFamily="34" charset="-122"/>
                <a:cs typeface="Arial" pitchFamily="34" charset="-120"/>
              </a:rPr>
              <a:t>2. A shared opening cutoff</a:t>
            </a:r>
            <a:endParaRPr lang="en-US" sz="1500" dirty="0"/>
          </a:p>
        </p:txBody>
      </p:sp>
      <p:sp>
        <p:nvSpPr>
          <p:cNvPr id="8" name="Text 6"/>
          <p:cNvSpPr txBox="1"/>
          <p:nvPr/>
        </p:nvSpPr>
        <p:spPr>
          <a:xfrm>
            <a:off x="4846320" y="1481328"/>
            <a:ext cx="3703320" cy="768096"/>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They dropped the first 15 moves “as in Backus et al.”, because early moves are usually memorised. A second team using it helps us defend it.</a:t>
            </a:r>
            <a:endParaRPr lang="en-US" sz="1300" dirty="0"/>
          </a:p>
        </p:txBody>
      </p:sp>
      <p:sp>
        <p:nvSpPr>
          <p:cNvPr id="9" name="3. The clearest worked example"/>
          <p:cNvSpPr/>
          <p:nvPr/>
        </p:nvSpPr>
        <p:spPr>
          <a:xfrm>
            <a:off x="457200" y="2377440"/>
            <a:ext cx="3977640" cy="1170432"/>
          </a:xfrm>
          <a:prstGeom prst="roundRect">
            <a:avLst>
              <a:gd name="adj" fmla="val 4688"/>
            </a:avLst>
          </a:prstGeom>
          <a:solidFill>
            <a:srgbClr val="FFFFFF"/>
          </a:solidFill>
          <a:ln w="12700">
            <a:solidFill>
              <a:srgbClr val="2E75B6"/>
            </a:solidFill>
            <a:prstDash val="solid"/>
          </a:ln>
        </p:spPr>
      </p:sp>
      <p:sp>
        <p:nvSpPr>
          <p:cNvPr id="10" name="Text 8"/>
          <p:cNvSpPr txBox="1"/>
          <p:nvPr/>
        </p:nvSpPr>
        <p:spPr>
          <a:xfrm>
            <a:off x="594360" y="2432304"/>
            <a:ext cx="3703320" cy="292608"/>
          </a:xfrm>
          <a:prstGeom prst="rect">
            <a:avLst/>
          </a:prstGeom>
          <a:noFill/>
          <a:ln/>
        </p:spPr>
        <p:txBody>
          <a:bodyPr wrap="square" lIns="0" tIns="0" rIns="0" bIns="0" rtlCol="0" anchor="t"/>
          <a:lstStyle/>
          <a:p>
            <a:pPr indent="0" marL="0">
              <a:buNone/>
            </a:pPr>
            <a:r>
              <a:rPr lang="en-US" sz="1500" b="1" dirty="0">
                <a:solidFill>
                  <a:srgbClr val="2E75B6"/>
                </a:solidFill>
                <a:latin typeface="Arial" pitchFamily="34" charset="0"/>
                <a:ea typeface="Arial" pitchFamily="34" charset="-122"/>
                <a:cs typeface="Arial" pitchFamily="34" charset="-120"/>
              </a:rPr>
              <a:t>3. The clearest worked example</a:t>
            </a:r>
            <a:endParaRPr lang="en-US" sz="1500" dirty="0"/>
          </a:p>
        </p:txBody>
      </p:sp>
      <p:sp>
        <p:nvSpPr>
          <p:cNvPr id="11" name="Text 9"/>
          <p:cNvSpPr txBox="1"/>
          <p:nvPr/>
        </p:nvSpPr>
        <p:spPr>
          <a:xfrm>
            <a:off x="594360" y="2743200"/>
            <a:ext cx="3703320" cy="768096"/>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Engine score -0.13 before the move, -1.09 after: the move lost 0.96 of a pawn. Our README explains the loss formula with this example.</a:t>
            </a:r>
            <a:endParaRPr lang="en-US" sz="1300" dirty="0"/>
          </a:p>
        </p:txBody>
      </p:sp>
      <p:sp>
        <p:nvSpPr>
          <p:cNvPr id="12" name="4. The setting changes move quality"/>
          <p:cNvSpPr/>
          <p:nvPr/>
        </p:nvSpPr>
        <p:spPr>
          <a:xfrm>
            <a:off x="4709160" y="2377440"/>
            <a:ext cx="3977640" cy="1170432"/>
          </a:xfrm>
          <a:prstGeom prst="roundRect">
            <a:avLst>
              <a:gd name="adj" fmla="val 4688"/>
            </a:avLst>
          </a:prstGeom>
          <a:solidFill>
            <a:srgbClr val="FFFFFF"/>
          </a:solidFill>
          <a:ln w="12700">
            <a:solidFill>
              <a:srgbClr val="2E75B6"/>
            </a:solidFill>
            <a:prstDash val="solid"/>
          </a:ln>
        </p:spPr>
      </p:sp>
      <p:sp>
        <p:nvSpPr>
          <p:cNvPr id="13" name="Text 11"/>
          <p:cNvSpPr txBox="1"/>
          <p:nvPr/>
        </p:nvSpPr>
        <p:spPr>
          <a:xfrm>
            <a:off x="4846320" y="2432304"/>
            <a:ext cx="3703320" cy="292608"/>
          </a:xfrm>
          <a:prstGeom prst="rect">
            <a:avLst/>
          </a:prstGeom>
          <a:noFill/>
          <a:ln/>
        </p:spPr>
        <p:txBody>
          <a:bodyPr wrap="square" lIns="0" tIns="0" rIns="0" bIns="0" rtlCol="0" anchor="t"/>
          <a:lstStyle/>
          <a:p>
            <a:pPr indent="0" marL="0">
              <a:buNone/>
            </a:pPr>
            <a:r>
              <a:rPr lang="en-US" sz="1500" b="1" dirty="0">
                <a:solidFill>
                  <a:srgbClr val="2E75B6"/>
                </a:solidFill>
                <a:latin typeface="Arial" pitchFamily="34" charset="0"/>
                <a:ea typeface="Arial" pitchFamily="34" charset="-122"/>
                <a:cs typeface="Arial" pitchFamily="34" charset="-120"/>
              </a:rPr>
              <a:t>4. The setting changes move quality</a:t>
            </a:r>
            <a:endParaRPr lang="en-US" sz="1500" dirty="0"/>
          </a:p>
        </p:txBody>
      </p:sp>
      <p:sp>
        <p:nvSpPr>
          <p:cNvPr id="14" name="Text 12"/>
          <p:cNvSpPr txBox="1"/>
          <p:nvPr/>
        </p:nvSpPr>
        <p:spPr>
          <a:xfrm>
            <a:off x="4846320" y="2743200"/>
            <a:ext cx="3703320" cy="768096"/>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The same top players made bigger mistakes online. Our study rests on the same idea: things outside the position can change how well you play.</a:t>
            </a:r>
            <a:endParaRPr lang="en-US" sz="1300" dirty="0"/>
          </a:p>
        </p:txBody>
      </p:sp>
      <p:sp>
        <p:nvSpPr>
          <p:cNvPr id="15" name="size not frequency"/>
          <p:cNvSpPr/>
          <p:nvPr/>
        </p:nvSpPr>
        <p:spPr>
          <a:xfrm>
            <a:off x="457200" y="3675888"/>
            <a:ext cx="8229600" cy="932688"/>
          </a:xfrm>
          <a:prstGeom prst="roundRect">
            <a:avLst>
              <a:gd name="adj" fmla="val 5882"/>
            </a:avLst>
          </a:prstGeom>
          <a:solidFill>
            <a:srgbClr val="FFF2CC"/>
          </a:solidFill>
          <a:ln w="12700">
            <a:solidFill>
              <a:srgbClr val="C27C0E"/>
            </a:solidFill>
            <a:prstDash val="solid"/>
          </a:ln>
        </p:spPr>
      </p:sp>
      <p:sp>
        <p:nvSpPr>
          <p:cNvPr id="16" name="Text 14"/>
          <p:cNvSpPr txBox="1"/>
          <p:nvPr/>
        </p:nvSpPr>
        <p:spPr>
          <a:xfrm>
            <a:off x="594360" y="3675888"/>
            <a:ext cx="7955280" cy="932688"/>
          </a:xfrm>
          <a:prstGeom prst="rect">
            <a:avLst/>
          </a:prstGeom>
          <a:noFill/>
          <a:ln/>
        </p:spPr>
        <p:txBody>
          <a:bodyPr wrap="square" lIns="0" tIns="0" rIns="0" bIns="0" rtlCol="0" anchor="ctr"/>
          <a:lstStyle/>
          <a:p>
            <a:pPr indent="0" marL="0">
              <a:buNone/>
            </a:pPr>
            <a:r>
              <a:rPr lang="en-US" sz="1400" b="1" dirty="0">
                <a:solidFill>
                  <a:srgbClr val="C27C0E"/>
                </a:solidFill>
                <a:latin typeface="Arial" pitchFamily="34" charset="0"/>
                <a:ea typeface="Arial" pitchFamily="34" charset="-122"/>
                <a:cs typeface="Arial" pitchFamily="34" charset="-120"/>
              </a:rPr>
              <a:t>The detail: </a:t>
            </a:r>
            <a:pPr indent="0" marL="0">
              <a:buNone/>
            </a:pPr>
            <a:r>
              <a:rPr lang="en-US" sz="1400" dirty="0">
                <a:solidFill>
                  <a:schemeClr val="tx1"/>
                </a:solidFill>
                <a:latin typeface="Arial" pitchFamily="34" charset="0"/>
                <a:ea typeface="Arial" pitchFamily="34" charset="-122"/>
                <a:cs typeface="Arial" pitchFamily="34" charset="-120"/>
              </a:rPr>
              <a:t>playing online did not significantly change whether a player made an error (p = 0.138), but errors that were made were 16.8% bigger. ACPL mixes how often and how big, so a future question for us is: do lucky winners make more mistakes, or bigger ones?</a:t>
            </a:r>
            <a:endParaRPr lang="en-US" sz="1400" dirty="0"/>
          </a:p>
        </p:txBody>
      </p:sp>
      <p:sp>
        <p:nvSpPr>
          <p:cNvPr id="17" name="Text 15"/>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Kuenn, Seel &amp; Zegners (2020), IZA DP 13491, Appendix Fig. A.1; they used Stockfish 11, we used 16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Regan et al.: different chess programs score the same move differently</a:t>
            </a:r>
            <a:endParaRPr lang="en-US" sz="2600" dirty="0"/>
          </a:p>
        </p:txBody>
      </p:sp>
      <p:sp>
        <p:nvSpPr>
          <p:cNvPr id="3" name="What they asked"/>
          <p:cNvSpPr/>
          <p:nvPr/>
        </p:nvSpPr>
        <p:spPr>
          <a:xfrm>
            <a:off x="457200" y="1115568"/>
            <a:ext cx="1600200" cy="658368"/>
          </a:xfrm>
          <a:prstGeom prst="roundRect">
            <a:avLst>
              <a:gd name="adj" fmla="val 8333"/>
            </a:avLst>
          </a:prstGeom>
          <a:solidFill>
            <a:srgbClr val="EBF3FA"/>
          </a:solidFill>
          <a:ln w="12700">
            <a:solidFill>
              <a:srgbClr val="2E75B6"/>
            </a:solidFill>
            <a:prstDash val="solid"/>
          </a:ln>
        </p:spPr>
      </p:sp>
      <p:sp>
        <p:nvSpPr>
          <p:cNvPr id="4" name="Text 2"/>
          <p:cNvSpPr txBox="1"/>
          <p:nvPr/>
        </p:nvSpPr>
        <p:spPr>
          <a:xfrm>
            <a:off x="548640" y="1115568"/>
            <a:ext cx="1417320" cy="6583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asked</a:t>
            </a:r>
            <a:endParaRPr lang="en-US" sz="1500" dirty="0"/>
          </a:p>
        </p:txBody>
      </p:sp>
      <p:sp>
        <p:nvSpPr>
          <p:cNvPr id="5" name="Text 3"/>
          <p:cNvSpPr txBox="1"/>
          <p:nvPr/>
        </p:nvSpPr>
        <p:spPr>
          <a:xfrm>
            <a:off x="2194560" y="1115568"/>
            <a:ext cx="6492240" cy="6583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How do the mistakes and choices of human players differ from those of computers?</a:t>
            </a:r>
            <a:endParaRPr lang="en-US" sz="1500" dirty="0"/>
          </a:p>
        </p:txBody>
      </p:sp>
      <p:sp>
        <p:nvSpPr>
          <p:cNvPr id="6" name="What they did"/>
          <p:cNvSpPr/>
          <p:nvPr/>
        </p:nvSpPr>
        <p:spPr>
          <a:xfrm>
            <a:off x="457200" y="1847088"/>
            <a:ext cx="1600200" cy="1115568"/>
          </a:xfrm>
          <a:prstGeom prst="roundRect">
            <a:avLst>
              <a:gd name="adj" fmla="val 4918"/>
            </a:avLst>
          </a:prstGeom>
          <a:solidFill>
            <a:srgbClr val="EBF3FA"/>
          </a:solidFill>
          <a:ln w="12700">
            <a:solidFill>
              <a:srgbClr val="2E75B6"/>
            </a:solidFill>
            <a:prstDash val="solid"/>
          </a:ln>
        </p:spPr>
      </p:sp>
      <p:sp>
        <p:nvSpPr>
          <p:cNvPr id="7" name="Text 5"/>
          <p:cNvSpPr txBox="1"/>
          <p:nvPr/>
        </p:nvSpPr>
        <p:spPr>
          <a:xfrm>
            <a:off x="548640" y="1847088"/>
            <a:ext cx="1417320" cy="11155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did</a:t>
            </a:r>
            <a:endParaRPr lang="en-US" sz="1500" dirty="0"/>
          </a:p>
        </p:txBody>
      </p:sp>
      <p:sp>
        <p:nvSpPr>
          <p:cNvPr id="8" name="Text 6"/>
          <p:cNvSpPr txBox="1"/>
          <p:nvPr/>
        </p:nvSpPr>
        <p:spPr>
          <a:xfrm>
            <a:off x="2194560" y="1847088"/>
            <a:ext cx="6492240" cy="11155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726,120 positions from 208 top tournaments (2010 to 2012), each analysed by four different chess programs.</a:t>
            </a:r>
            <a:endParaRPr lang="en-US" sz="1500" dirty="0"/>
          </a:p>
        </p:txBody>
      </p:sp>
      <p:sp>
        <p:nvSpPr>
          <p:cNvPr id="9" name="What they found"/>
          <p:cNvSpPr/>
          <p:nvPr/>
        </p:nvSpPr>
        <p:spPr>
          <a:xfrm>
            <a:off x="457200" y="3035808"/>
            <a:ext cx="1600200" cy="914400"/>
          </a:xfrm>
          <a:prstGeom prst="roundRect">
            <a:avLst>
              <a:gd name="adj" fmla="val 6000"/>
            </a:avLst>
          </a:prstGeom>
          <a:solidFill>
            <a:srgbClr val="EBF3FA"/>
          </a:solidFill>
          <a:ln w="12700">
            <a:solidFill>
              <a:srgbClr val="2E75B6"/>
            </a:solidFill>
            <a:prstDash val="solid"/>
          </a:ln>
        </p:spPr>
      </p:sp>
      <p:sp>
        <p:nvSpPr>
          <p:cNvPr id="10" name="Text 8"/>
          <p:cNvSpPr txBox="1"/>
          <p:nvPr/>
        </p:nvSpPr>
        <p:spPr>
          <a:xfrm>
            <a:off x="548640" y="3035808"/>
            <a:ext cx="1417320" cy="91440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found</a:t>
            </a:r>
            <a:endParaRPr lang="en-US" sz="1500" dirty="0"/>
          </a:p>
        </p:txBody>
      </p:sp>
      <p:sp>
        <p:nvSpPr>
          <p:cNvPr id="11" name="Text 9"/>
          <p:cNvSpPr txBox="1"/>
          <p:nvPr/>
        </p:nvSpPr>
        <p:spPr>
          <a:xfrm>
            <a:off x="2194560" y="3035808"/>
            <a:ext cx="6492240" cy="914400"/>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Humans err more the bigger either side's advantage, far more than computers do. A player's expected score is 2-3% lower when it is their turn to move. Stockfish's scores were about 1.5 times larger than other programs'.</a:t>
            </a:r>
            <a:endParaRPr lang="en-US" sz="1500" dirty="0"/>
          </a:p>
        </p:txBody>
      </p:sp>
      <p:sp>
        <p:nvSpPr>
          <p:cNvPr id="12" name="why it matters"/>
          <p:cNvSpPr/>
          <p:nvPr/>
        </p:nvSpPr>
        <p:spPr>
          <a:xfrm>
            <a:off x="457200" y="4041648"/>
            <a:ext cx="8229600" cy="603504"/>
          </a:xfrm>
          <a:prstGeom prst="roundRect">
            <a:avLst>
              <a:gd name="adj" fmla="val 9091"/>
            </a:avLst>
          </a:prstGeom>
          <a:solidFill>
            <a:srgbClr val="FFF2CC"/>
          </a:solidFill>
          <a:ln w="12700">
            <a:solidFill>
              <a:srgbClr val="C27C0E"/>
            </a:solidFill>
            <a:prstDash val="solid"/>
          </a:ln>
        </p:spPr>
      </p:sp>
      <p:sp>
        <p:nvSpPr>
          <p:cNvPr id="13" name="Text 11"/>
          <p:cNvSpPr txBox="1"/>
          <p:nvPr/>
        </p:nvSpPr>
        <p:spPr>
          <a:xfrm>
            <a:off x="594360" y="4041648"/>
            <a:ext cx="7955280" cy="603504"/>
          </a:xfrm>
          <a:prstGeom prst="rect">
            <a:avLst/>
          </a:prstGeom>
          <a:noFill/>
          <a:ln/>
        </p:spPr>
        <p:txBody>
          <a:bodyPr wrap="square" lIns="0" tIns="0" rIns="0" bIns="0" rtlCol="0" anchor="ctr"/>
          <a:lstStyle/>
          <a:p>
            <a:pPr indent="0" marL="0">
              <a:buNone/>
            </a:pPr>
            <a:r>
              <a:rPr lang="en-US" sz="1500" b="1" dirty="0">
                <a:solidFill>
                  <a:srgbClr val="C27C0E"/>
                </a:solidFill>
                <a:latin typeface="Arial" pitchFamily="34" charset="0"/>
                <a:ea typeface="Arial" pitchFamily="34" charset="-122"/>
                <a:cs typeface="Arial" pitchFamily="34" charset="-120"/>
              </a:rPr>
              <a:t>Why it matters for us: </a:t>
            </a:r>
            <a:pPr indent="0" marL="0">
              <a:buNone/>
            </a:pPr>
            <a:r>
              <a:rPr lang="en-US" sz="1500" dirty="0">
                <a:solidFill>
                  <a:schemeClr val="tx1"/>
                </a:solidFill>
                <a:latin typeface="Arial" pitchFamily="34" charset="0"/>
                <a:ea typeface="Arial" pitchFamily="34" charset="-122"/>
                <a:cs typeface="Arial" pitchFamily="34" charset="-120"/>
              </a:rPr>
              <a:t>a centipawn from one program is not a centipawn from another, so we only compare groups scored by one program at one setting.</a:t>
            </a:r>
            <a:endParaRPr lang="en-US" sz="1500" dirty="0"/>
          </a:p>
        </p:txBody>
      </p:sp>
      <p:sp>
        <p:nvSpPr>
          <p:cNvPr id="14" name="Text 1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Regan, Biswas &amp; Zhou (2014), AAAI-14 Workshop on Advances in Preference Handling</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Sunde et al.: quicker moves were better, and clock time only helps once thinking time is counted</a:t>
            </a:r>
            <a:endParaRPr lang="en-US" sz="2600" dirty="0"/>
          </a:p>
        </p:txBody>
      </p:sp>
      <p:sp>
        <p:nvSpPr>
          <p:cNvPr id="3" name="What they asked"/>
          <p:cNvSpPr/>
          <p:nvPr/>
        </p:nvSpPr>
        <p:spPr>
          <a:xfrm>
            <a:off x="457200" y="1115568"/>
            <a:ext cx="1600200" cy="658368"/>
          </a:xfrm>
          <a:prstGeom prst="roundRect">
            <a:avLst>
              <a:gd name="adj" fmla="val 8333"/>
            </a:avLst>
          </a:prstGeom>
          <a:solidFill>
            <a:srgbClr val="EBF3FA"/>
          </a:solidFill>
          <a:ln w="12700">
            <a:solidFill>
              <a:srgbClr val="2E75B6"/>
            </a:solidFill>
            <a:prstDash val="solid"/>
          </a:ln>
        </p:spPr>
      </p:sp>
      <p:sp>
        <p:nvSpPr>
          <p:cNvPr id="4" name="Text 2"/>
          <p:cNvSpPr txBox="1"/>
          <p:nvPr/>
        </p:nvSpPr>
        <p:spPr>
          <a:xfrm>
            <a:off x="548640" y="1115568"/>
            <a:ext cx="1417320" cy="6583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asked</a:t>
            </a:r>
            <a:endParaRPr lang="en-US" sz="1500" dirty="0"/>
          </a:p>
        </p:txBody>
      </p:sp>
      <p:sp>
        <p:nvSpPr>
          <p:cNvPr id="5" name="Text 3"/>
          <p:cNvSpPr txBox="1"/>
          <p:nvPr/>
        </p:nvSpPr>
        <p:spPr>
          <a:xfrm>
            <a:off x="2194560" y="1115568"/>
            <a:ext cx="6492240" cy="6583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Are slow decisions better, because of more thought, or worse, because slow means the problem was hard? The two ideas predict opposite results.</a:t>
            </a:r>
            <a:endParaRPr lang="en-US" sz="1500" dirty="0"/>
          </a:p>
        </p:txBody>
      </p:sp>
      <p:sp>
        <p:nvSpPr>
          <p:cNvPr id="6" name="What they did"/>
          <p:cNvSpPr/>
          <p:nvPr/>
        </p:nvSpPr>
        <p:spPr>
          <a:xfrm>
            <a:off x="457200" y="1847088"/>
            <a:ext cx="1600200" cy="1115568"/>
          </a:xfrm>
          <a:prstGeom prst="roundRect">
            <a:avLst>
              <a:gd name="adj" fmla="val 4918"/>
            </a:avLst>
          </a:prstGeom>
          <a:solidFill>
            <a:srgbClr val="EBF3FA"/>
          </a:solidFill>
          <a:ln w="12700">
            <a:solidFill>
              <a:srgbClr val="2E75B6"/>
            </a:solidFill>
            <a:prstDash val="solid"/>
          </a:ln>
        </p:spPr>
      </p:sp>
      <p:sp>
        <p:nvSpPr>
          <p:cNvPr id="7" name="Text 5"/>
          <p:cNvSpPr txBox="1"/>
          <p:nvPr/>
        </p:nvSpPr>
        <p:spPr>
          <a:xfrm>
            <a:off x="548640" y="1847088"/>
            <a:ext cx="1417320" cy="1115568"/>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did</a:t>
            </a:r>
            <a:endParaRPr lang="en-US" sz="1500" dirty="0"/>
          </a:p>
        </p:txBody>
      </p:sp>
      <p:sp>
        <p:nvSpPr>
          <p:cNvPr id="8" name="Text 6"/>
          <p:cNvSpPr txBox="1"/>
          <p:nvPr/>
        </p:nvSpPr>
        <p:spPr>
          <a:xfrm>
            <a:off x="2194560" y="1847088"/>
            <a:ext cx="6492240" cy="1115568"/>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About 80,000 moves from 1,600 grandmaster-level over-the-board games (2014 to 2017, rated 2,500 or more, at least 2 hours each). For every move: time spent, time left, how hard the position was, and whether the best move was played (Stockfish 14). The 2026 version adds rapid and blitz: 215,000 moves.</a:t>
            </a:r>
            <a:endParaRPr lang="en-US" sz="1500" dirty="0"/>
          </a:p>
        </p:txBody>
      </p:sp>
      <p:sp>
        <p:nvSpPr>
          <p:cNvPr id="9" name="What they found"/>
          <p:cNvSpPr/>
          <p:nvPr/>
        </p:nvSpPr>
        <p:spPr>
          <a:xfrm>
            <a:off x="457200" y="3035808"/>
            <a:ext cx="1600200" cy="914400"/>
          </a:xfrm>
          <a:prstGeom prst="roundRect">
            <a:avLst>
              <a:gd name="adj" fmla="val 6000"/>
            </a:avLst>
          </a:prstGeom>
          <a:solidFill>
            <a:srgbClr val="EBF3FA"/>
          </a:solidFill>
          <a:ln w="12700">
            <a:solidFill>
              <a:srgbClr val="2E75B6"/>
            </a:solidFill>
            <a:prstDash val="solid"/>
          </a:ln>
        </p:spPr>
      </p:sp>
      <p:sp>
        <p:nvSpPr>
          <p:cNvPr id="10" name="Text 8"/>
          <p:cNvSpPr txBox="1"/>
          <p:nvPr/>
        </p:nvSpPr>
        <p:spPr>
          <a:xfrm>
            <a:off x="548640" y="3035808"/>
            <a:ext cx="1417320" cy="91440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What they found</a:t>
            </a:r>
            <a:endParaRPr lang="en-US" sz="1500" dirty="0"/>
          </a:p>
        </p:txBody>
      </p:sp>
      <p:sp>
        <p:nvSpPr>
          <p:cNvPr id="11" name="Text 9"/>
          <p:cNvSpPr txBox="1"/>
          <p:nvPr/>
        </p:nvSpPr>
        <p:spPr>
          <a:xfrm>
            <a:off x="2194560" y="3035808"/>
            <a:ext cx="6492240" cy="914400"/>
          </a:xfrm>
          <a:prstGeom prst="rect">
            <a:avLst/>
          </a:prstGeom>
          <a:noFill/>
          <a:ln/>
        </p:spPr>
        <p:txBody>
          <a:bodyPr wrap="square" lIns="0" tIns="0" rIns="0" bIns="0" rtlCol="0" anchor="ctr"/>
          <a:lstStyle/>
          <a:p>
            <a:pPr indent="0" marL="0">
              <a:buNone/>
            </a:pPr>
            <a:r>
              <a:rPr lang="en-US" sz="1500" dirty="0">
                <a:solidFill>
                  <a:schemeClr val="tx1"/>
                </a:solidFill>
                <a:latin typeface="Arial" pitchFamily="34" charset="0"/>
                <a:ea typeface="Arial" pitchFamily="34" charset="-122"/>
                <a:cs typeface="Arial" pitchFamily="34" charset="-120"/>
              </a:rPr>
              <a:t>Quicker moves were more often the best move. Time left on the clock looked harmful on its own, but helpful once time spent on the move was held fixed: the sign flips. The time link was stronger in rapid and blitz.</a:t>
            </a:r>
            <a:endParaRPr lang="en-US" sz="1500" dirty="0"/>
          </a:p>
        </p:txBody>
      </p:sp>
      <p:sp>
        <p:nvSpPr>
          <p:cNvPr id="12" name="why it matters"/>
          <p:cNvSpPr/>
          <p:nvPr/>
        </p:nvSpPr>
        <p:spPr>
          <a:xfrm>
            <a:off x="457200" y="4041648"/>
            <a:ext cx="8229600" cy="603504"/>
          </a:xfrm>
          <a:prstGeom prst="roundRect">
            <a:avLst>
              <a:gd name="adj" fmla="val 9091"/>
            </a:avLst>
          </a:prstGeom>
          <a:solidFill>
            <a:srgbClr val="FFF2CC"/>
          </a:solidFill>
          <a:ln w="12700">
            <a:solidFill>
              <a:srgbClr val="C27C0E"/>
            </a:solidFill>
            <a:prstDash val="solid"/>
          </a:ln>
        </p:spPr>
      </p:sp>
      <p:sp>
        <p:nvSpPr>
          <p:cNvPr id="13" name="Text 11"/>
          <p:cNvSpPr txBox="1"/>
          <p:nvPr/>
        </p:nvSpPr>
        <p:spPr>
          <a:xfrm>
            <a:off x="594360" y="4041648"/>
            <a:ext cx="7955280" cy="603504"/>
          </a:xfrm>
          <a:prstGeom prst="rect">
            <a:avLst/>
          </a:prstGeom>
          <a:noFill/>
          <a:ln/>
        </p:spPr>
        <p:txBody>
          <a:bodyPr wrap="square" lIns="0" tIns="0" rIns="0" bIns="0" rtlCol="0" anchor="ctr"/>
          <a:lstStyle/>
          <a:p>
            <a:pPr indent="0" marL="0">
              <a:buNone/>
            </a:pPr>
            <a:r>
              <a:rPr lang="en-US" sz="1500" b="1" dirty="0">
                <a:solidFill>
                  <a:srgbClr val="C27C0E"/>
                </a:solidFill>
                <a:latin typeface="Arial" pitchFamily="34" charset="0"/>
                <a:ea typeface="Arial" pitchFamily="34" charset="-122"/>
                <a:cs typeface="Arial" pitchFamily="34" charset="-120"/>
              </a:rPr>
              <a:t>Why it matters for us: </a:t>
            </a:r>
            <a:pPr indent="0" marL="0">
              <a:buNone/>
            </a:pPr>
            <a:r>
              <a:rPr lang="en-US" sz="1500" dirty="0">
                <a:solidFill>
                  <a:schemeClr val="tx1"/>
                </a:solidFill>
                <a:latin typeface="Arial" pitchFamily="34" charset="0"/>
                <a:ea typeface="Arial" pitchFamily="34" charset="-122"/>
                <a:cs typeface="Arial" pitchFamily="34" charset="-120"/>
              </a:rPr>
              <a:t>clock time and move quality are tangled, more so in fast chess, so we studied rapid games and left bullet and blitz out.</a:t>
            </a:r>
            <a:endParaRPr lang="en-US" sz="1500" dirty="0"/>
          </a:p>
        </p:txBody>
      </p:sp>
      <p:sp>
        <p:nvSpPr>
          <p:cNvPr id="14" name="Text 1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Sunde, Zegners &amp; Strittmatter (2022), arXiv:2201.10808; published in PNAS 123(20), e2531472123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No study we found measured how well the next game is played after different kinds of win</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2194560"/>
                <a:gridCol w="2194560"/>
                <a:gridCol w="201168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Study</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Games</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was measured</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Split wins by type?</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0">
                <a:tc>
                  <a:txBody>
                    <a:bodyPr/>
                    <a:lstStyle/>
                    <a:p>
                      <a:pPr indent="0" marL="0">
                        <a:buNone/>
                      </a:pPr>
                      <a:r>
                        <a:rPr lang="en-US" sz="1400" dirty="0">
                          <a:solidFill>
                            <a:srgbClr val="2D2D2D"/>
                          </a:solidFill>
                          <a:latin typeface="Arial" pitchFamily="34" charset="0"/>
                          <a:ea typeface="Arial" pitchFamily="34" charset="-122"/>
                          <a:cs typeface="Arial" pitchFamily="34" charset="-120"/>
                        </a:rPr>
                        <a:t>Gee et al.</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Lichess bullet and blitz</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Result of the next game</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No (named as future work)</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400" dirty="0">
                          <a:solidFill>
                            <a:srgbClr val="2D2D2D"/>
                          </a:solidFill>
                          <a:latin typeface="Arial" pitchFamily="34" charset="0"/>
                          <a:ea typeface="Arial" pitchFamily="34" charset="-122"/>
                          <a:cs typeface="Arial" pitchFamily="34" charset="-120"/>
                        </a:rPr>
                        <a:t>Chowdhary et al.</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Lichess blitz, 2013-2016</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Length of win and loss streaks</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400" dirty="0">
                          <a:solidFill>
                            <a:srgbClr val="2D2D2D"/>
                          </a:solidFill>
                          <a:latin typeface="Arial" pitchFamily="34" charset="0"/>
                          <a:ea typeface="Arial" pitchFamily="34" charset="-122"/>
                          <a:cs typeface="Arial" pitchFamily="34" charset="-120"/>
                        </a:rPr>
                        <a:t>Backus, Kuenn, Sunde</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Top over-the-board and online</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Move quality</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Not about the previous game</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400" b="1" dirty="0">
                          <a:solidFill>
                            <a:srgbClr val="2D2D2D"/>
                          </a:solidFill>
                          <a:latin typeface="Arial" pitchFamily="34" charset="0"/>
                          <a:ea typeface="Arial" pitchFamily="34" charset="-122"/>
                          <a:cs typeface="Arial" pitchFamily="34" charset="-120"/>
                        </a:rPr>
                        <a:t>Our study 1</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Lichess rapid, 2026</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Move quality in the next game</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Time, checkmate, resignation</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400" b="1" dirty="0">
                          <a:solidFill>
                            <a:srgbClr val="C27C0E"/>
                          </a:solidFill>
                          <a:latin typeface="Arial" pitchFamily="34" charset="0"/>
                          <a:ea typeface="Arial" pitchFamily="34" charset="-122"/>
                          <a:cs typeface="Arial" pitchFamily="34" charset="-120"/>
                        </a:rPr>
                        <a:t>Our study 2</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Lichess rapid, 2026</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Move quality in the next game</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b="1" dirty="0">
                          <a:solidFill>
                            <a:srgbClr val="C27C0E"/>
                          </a:solidFill>
                          <a:latin typeface="Arial" pitchFamily="34" charset="0"/>
                          <a:ea typeface="Arial" pitchFamily="34" charset="-122"/>
                          <a:cs typeface="Arial" pitchFamily="34" charset="-120"/>
                        </a:rPr>
                        <a:t>Lucky vs deserved time wins</a:t>
                      </a:r>
                      <a:endParaRPr lang="en-US" sz="14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Based on the studies read for this project; full checks in LITERATURE_REVIEW.md</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7863840" cy="457200"/>
          </a:xfrm>
          <a:prstGeom prst="rect">
            <a:avLst/>
          </a:prstGeom>
          <a:noFill/>
          <a:ln/>
        </p:spPr>
        <p:txBody>
          <a:bodyPr wrap="square" lIns="0" tIns="0" rIns="0" bIns="0" rtlCol="0" anchor="t"/>
          <a:lstStyle/>
          <a:p>
            <a:pPr algn="l" indent="0" marL="0">
              <a:buNone/>
            </a:pPr>
            <a:r>
              <a:rPr lang="en-US" sz="1800" dirty="0">
                <a:solidFill>
                  <a:schemeClr val="accent5"/>
                </a:solidFill>
              </a:rPr>
              <a:t>Part 3</a:t>
            </a:r>
            <a:endParaRPr lang="en-US" sz="1800" dirty="0"/>
          </a:p>
        </p:txBody>
      </p:sp>
      <p:sp>
        <p:nvSpPr>
          <p:cNvPr id="3" name="Text 0"/>
          <p:cNvSpPr/>
          <p:nvPr>
            <p:ph idx="101" type="title" hasCustomPrompt="1"/>
          </p:nvPr>
        </p:nvSpPr>
        <p:spPr>
          <a:xfrm>
            <a:off x="640080" y="2011680"/>
            <a:ext cx="7863840" cy="1280160"/>
          </a:xfrm>
          <a:prstGeom prst="rect">
            <a:avLst/>
          </a:prstGeom>
          <a:noFill/>
          <a:ln/>
        </p:spPr>
        <p:txBody>
          <a:bodyPr wrap="square" lIns="0" tIns="0" rIns="0" bIns="0" rtlCol="0" anchor="t"/>
          <a:lstStyle/>
          <a:p>
            <a:pPr algn="l" indent="0" marL="0">
              <a:buNone/>
            </a:pPr>
            <a:r>
              <a:rPr lang="en-US" sz="3600" b="1" dirty="0">
                <a:solidFill>
                  <a:schemeClr val="bg1"/>
                </a:solidFill>
              </a:rPr>
              <a:t>The questions</a:t>
            </a:r>
            <a:endParaRPr lang="en-US"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Two questions, each with a prediction fixed and dated before any data was scored</a:t>
            </a:r>
            <a:endParaRPr lang="en-US" sz="2600" dirty="0"/>
          </a:p>
        </p:txBody>
      </p:sp>
      <p:sp>
        <p:nvSpPr>
          <p:cNvPr id="3" name="RQ2 (main)"/>
          <p:cNvSpPr/>
          <p:nvPr/>
        </p:nvSpPr>
        <p:spPr>
          <a:xfrm>
            <a:off x="457200" y="1188720"/>
            <a:ext cx="3977640" cy="2514600"/>
          </a:xfrm>
          <a:prstGeom prst="roundRect">
            <a:avLst>
              <a:gd name="adj" fmla="val 2182"/>
            </a:avLst>
          </a:prstGeom>
          <a:solidFill>
            <a:srgbClr val="EBF3FA"/>
          </a:solidFill>
          <a:ln w="12700">
            <a:solidFill>
              <a:srgbClr val="2E75B6"/>
            </a:solidFill>
            <a:prstDash val="solid"/>
          </a:ln>
        </p:spPr>
      </p:sp>
      <p:sp>
        <p:nvSpPr>
          <p:cNvPr id="4" name="Text 2"/>
          <p:cNvSpPr txBox="1"/>
          <p:nvPr/>
        </p:nvSpPr>
        <p:spPr>
          <a:xfrm>
            <a:off x="685800" y="1298448"/>
            <a:ext cx="356616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RQ2 (main)</a:t>
            </a:r>
            <a:endParaRPr lang="en-US" sz="2000" dirty="0"/>
          </a:p>
        </p:txBody>
      </p:sp>
      <p:sp>
        <p:nvSpPr>
          <p:cNvPr id="5" name="Text 3"/>
          <p:cNvSpPr txBox="1"/>
          <p:nvPr/>
        </p:nvSpPr>
        <p:spPr>
          <a:xfrm>
            <a:off x="685800" y="1719072"/>
            <a:ext cx="3566160" cy="914400"/>
          </a:xfrm>
          <a:prstGeom prst="rect">
            <a:avLst/>
          </a:prstGeom>
          <a:noFill/>
          <a:ln/>
        </p:spPr>
        <p:txBody>
          <a:bodyPr wrap="square" lIns="0" tIns="0" rIns="0" bIns="0" rtlCol="0" anchor="t"/>
          <a:lstStyle/>
          <a:p>
            <a:pPr indent="0" marL="0">
              <a:buNone/>
            </a:pPr>
            <a:r>
              <a:rPr lang="en-US" sz="2000" dirty="0">
                <a:solidFill>
                  <a:srgbClr val="1F4E79"/>
                </a:solidFill>
                <a:latin typeface="Arial" pitchFamily="34" charset="0"/>
                <a:ea typeface="Arial" pitchFamily="34" charset="-122"/>
                <a:cs typeface="Arial" pitchFamily="34" charset="-120"/>
              </a:rPr>
              <a:t>Does a lucky time win change the next game?</a:t>
            </a:r>
            <a:endParaRPr lang="en-US" sz="2000" dirty="0"/>
          </a:p>
        </p:txBody>
      </p:sp>
      <p:sp>
        <p:nvSpPr>
          <p:cNvPr id="6" name="Text 4"/>
          <p:cNvSpPr txBox="1"/>
          <p:nvPr/>
        </p:nvSpPr>
        <p:spPr>
          <a:xfrm>
            <a:off x="685800" y="2651760"/>
            <a:ext cx="3566160" cy="100584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Prediction: no. Players reset, within ±2 cp.</a:t>
            </a:r>
            <a:endParaRPr lang="en-US" sz="2000" dirty="0"/>
          </a:p>
        </p:txBody>
      </p:sp>
      <p:sp>
        <p:nvSpPr>
          <p:cNvPr id="7" name="RQ1 (repeat)"/>
          <p:cNvSpPr/>
          <p:nvPr/>
        </p:nvSpPr>
        <p:spPr>
          <a:xfrm>
            <a:off x="4709160" y="1188720"/>
            <a:ext cx="3977640" cy="2514600"/>
          </a:xfrm>
          <a:prstGeom prst="roundRect">
            <a:avLst>
              <a:gd name="adj" fmla="val 2182"/>
            </a:avLst>
          </a:prstGeom>
          <a:solidFill>
            <a:srgbClr val="EBF3FA"/>
          </a:solidFill>
          <a:ln w="12700">
            <a:solidFill>
              <a:srgbClr val="2E75B6"/>
            </a:solidFill>
            <a:prstDash val="solid"/>
          </a:ln>
        </p:spPr>
      </p:sp>
      <p:sp>
        <p:nvSpPr>
          <p:cNvPr id="8" name="Text 6"/>
          <p:cNvSpPr txBox="1"/>
          <p:nvPr/>
        </p:nvSpPr>
        <p:spPr>
          <a:xfrm>
            <a:off x="4937760" y="1298448"/>
            <a:ext cx="356616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RQ1 (repeat)</a:t>
            </a:r>
            <a:endParaRPr lang="en-US" sz="2000" dirty="0"/>
          </a:p>
        </p:txBody>
      </p:sp>
      <p:sp>
        <p:nvSpPr>
          <p:cNvPr id="9" name="Text 7"/>
          <p:cNvSpPr txBox="1"/>
          <p:nvPr/>
        </p:nvSpPr>
        <p:spPr>
          <a:xfrm>
            <a:off x="4937760" y="1719072"/>
            <a:ext cx="3566160" cy="914400"/>
          </a:xfrm>
          <a:prstGeom prst="rect">
            <a:avLst/>
          </a:prstGeom>
          <a:noFill/>
          <a:ln/>
        </p:spPr>
        <p:txBody>
          <a:bodyPr wrap="square" lIns="0" tIns="0" rIns="0" bIns="0" rtlCol="0" anchor="t"/>
          <a:lstStyle/>
          <a:p>
            <a:pPr indent="0" marL="0">
              <a:buNone/>
            </a:pPr>
            <a:r>
              <a:rPr lang="en-US" sz="2000" dirty="0">
                <a:solidFill>
                  <a:srgbClr val="1F4E79"/>
                </a:solidFill>
                <a:latin typeface="Arial" pitchFamily="34" charset="0"/>
                <a:ea typeface="Arial" pitchFamily="34" charset="-122"/>
                <a:cs typeface="Arial" pitchFamily="34" charset="-120"/>
              </a:rPr>
              <a:t>Does the type of win change the next game?</a:t>
            </a:r>
            <a:endParaRPr lang="en-US" sz="2000" dirty="0"/>
          </a:p>
        </p:txBody>
      </p:sp>
      <p:sp>
        <p:nvSpPr>
          <p:cNvPr id="10" name="Text 8"/>
          <p:cNvSpPr txBox="1"/>
          <p:nvPr/>
        </p:nvSpPr>
        <p:spPr>
          <a:xfrm>
            <a:off x="4937760" y="2651760"/>
            <a:ext cx="3566160" cy="100584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Prediction: no. Within ±3 cp, as in study 1.</a:t>
            </a:r>
            <a:endParaRPr lang="en-US" sz="2000" dirty="0"/>
          </a:p>
        </p:txBody>
      </p:sp>
      <p:sp>
        <p:nvSpPr>
          <p:cNvPr id="11" name="Text 9"/>
          <p:cNvSpPr txBox="1"/>
          <p:nvPr/>
        </p:nvSpPr>
        <p:spPr>
          <a:xfrm>
            <a:off x="457200" y="3931920"/>
            <a:ext cx="8229600" cy="685800"/>
          </a:xfrm>
          <a:prstGeom prst="rect">
            <a:avLst/>
          </a:prstGeom>
          <a:noFill/>
          <a:ln/>
        </p:spPr>
        <p:txBody>
          <a:bodyPr wrap="square" lIns="0" tIns="0" rIns="0" bIns="0" rtlCol="0" anchor="t"/>
          <a:lstStyle/>
          <a:p>
            <a:pPr indent="0" marL="0">
              <a:buNone/>
            </a:pPr>
            <a:r>
              <a:rPr lang="en-US" sz="1800" dirty="0">
                <a:solidFill>
                  <a:srgbClr val="777777"/>
                </a:solidFill>
                <a:latin typeface="Arial" pitchFamily="34" charset="0"/>
                <a:ea typeface="Arial" pitchFamily="34" charset="-122"/>
                <a:cs typeface="Arial" pitchFamily="34" charset="-120"/>
              </a:rPr>
              <a:t>Fixing the prediction first is like painting the target before shooting the arrow.</a:t>
            </a:r>
            <a:endParaRPr lang="en-US" sz="1800" dirty="0"/>
          </a:p>
        </p:txBody>
      </p:sp>
      <p:sp>
        <p:nvSpPr>
          <p:cNvPr id="12" name="Text 10"/>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PREREGISTRATION_STUDY2.md, committed 12 October 2026, 11:02 UTC</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7863840" cy="457200"/>
          </a:xfrm>
          <a:prstGeom prst="rect">
            <a:avLst/>
          </a:prstGeom>
          <a:noFill/>
          <a:ln/>
        </p:spPr>
        <p:txBody>
          <a:bodyPr wrap="square" lIns="0" tIns="0" rIns="0" bIns="0" rtlCol="0" anchor="t"/>
          <a:lstStyle/>
          <a:p>
            <a:pPr algn="l" indent="0" marL="0">
              <a:buNone/>
            </a:pPr>
            <a:r>
              <a:rPr lang="en-US" sz="1800" dirty="0">
                <a:solidFill>
                  <a:schemeClr val="accent5"/>
                </a:solidFill>
              </a:rPr>
              <a:t>Part 4</a:t>
            </a:r>
            <a:endParaRPr lang="en-US" sz="1800" dirty="0"/>
          </a:p>
        </p:txBody>
      </p:sp>
      <p:sp>
        <p:nvSpPr>
          <p:cNvPr id="3" name="Text 0"/>
          <p:cNvSpPr/>
          <p:nvPr>
            <p:ph idx="101" type="title" hasCustomPrompt="1"/>
          </p:nvPr>
        </p:nvSpPr>
        <p:spPr>
          <a:xfrm>
            <a:off x="640080" y="2011680"/>
            <a:ext cx="7863840" cy="1280160"/>
          </a:xfrm>
          <a:prstGeom prst="rect">
            <a:avLst/>
          </a:prstGeom>
          <a:noFill/>
          <a:ln/>
        </p:spPr>
        <p:txBody>
          <a:bodyPr wrap="square" lIns="0" tIns="0" rIns="0" bIns="0" rtlCol="0" anchor="t"/>
          <a:lstStyle/>
          <a:p>
            <a:pPr algn="l" indent="0" marL="0">
              <a:buNone/>
            </a:pPr>
            <a:r>
              <a:rPr lang="en-US" sz="3600" b="1" dirty="0">
                <a:solidFill>
                  <a:schemeClr val="bg1"/>
                </a:solidFill>
              </a:rPr>
              <a:t>How it was measured</a:t>
            </a:r>
            <a:endParaRPr lang="en-US"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From 89.6 million games to about 24,000 comparable pairs</a:t>
            </a:r>
            <a:endParaRPr lang="en-US" sz="2600" dirty="0"/>
          </a:p>
        </p:txBody>
      </p:sp>
      <p:sp>
        <p:nvSpPr>
          <p:cNvPr id="3" name="funnel 0"/>
          <p:cNvSpPr/>
          <p:nvPr/>
        </p:nvSpPr>
        <p:spPr>
          <a:xfrm>
            <a:off x="457200" y="1143000"/>
            <a:ext cx="8229600" cy="457200"/>
          </a:xfrm>
          <a:prstGeom prst="roundRect">
            <a:avLst>
              <a:gd name="adj" fmla="val 12000"/>
            </a:avLst>
          </a:prstGeom>
          <a:solidFill>
            <a:srgbClr val="EBF3FA"/>
          </a:solidFill>
          <a:ln w="12700">
            <a:solidFill>
              <a:srgbClr val="2E75B6"/>
            </a:solidFill>
            <a:prstDash val="solid"/>
          </a:ln>
        </p:spPr>
      </p:sp>
      <p:sp>
        <p:nvSpPr>
          <p:cNvPr id="4" name="Text 2"/>
          <p:cNvSpPr txBox="1"/>
          <p:nvPr/>
        </p:nvSpPr>
        <p:spPr>
          <a:xfrm>
            <a:off x="594360" y="1143000"/>
            <a:ext cx="7955280" cy="457200"/>
          </a:xfrm>
          <a:prstGeom prst="rect">
            <a:avLst/>
          </a:prstGeom>
          <a:noFill/>
          <a:ln/>
        </p:spPr>
        <p:txBody>
          <a:bodyPr wrap="square" lIns="0" tIns="0" rIns="0" bIns="0" rtlCol="0" anchor="ctr"/>
          <a:lstStyle/>
          <a:p>
            <a:pPr algn="ctr" indent="0" marL="0">
              <a:buNone/>
            </a:pPr>
            <a:r>
              <a:rPr lang="en-US" sz="1500" b="1" dirty="0">
                <a:solidFill>
                  <a:srgbClr val="1F4E79"/>
                </a:solidFill>
                <a:latin typeface="Arial" pitchFamily="34" charset="0"/>
                <a:ea typeface="Arial" pitchFamily="34" charset="-122"/>
                <a:cs typeface="Arial" pitchFamily="34" charset="-120"/>
              </a:rPr>
              <a:t>89,616,462  </a:t>
            </a:r>
            <a:pPr algn="ctr" indent="0" marL="0">
              <a:buNone/>
            </a:pPr>
            <a:r>
              <a:rPr lang="en-US" sz="1500" dirty="0">
                <a:solidFill>
                  <a:schemeClr val="tx1"/>
                </a:solidFill>
                <a:latin typeface="Arial" pitchFamily="34" charset="0"/>
                <a:ea typeface="Arial" pitchFamily="34" charset="-122"/>
                <a:cs typeface="Arial" pitchFamily="34" charset="-120"/>
              </a:rPr>
              <a:t>all rated games, September 2026</a:t>
            </a:r>
            <a:endParaRPr lang="en-US" sz="1500" dirty="0"/>
          </a:p>
        </p:txBody>
      </p:sp>
      <p:sp>
        <p:nvSpPr>
          <p:cNvPr id="5" name="funnel 1"/>
          <p:cNvSpPr/>
          <p:nvPr/>
        </p:nvSpPr>
        <p:spPr>
          <a:xfrm>
            <a:off x="731520" y="1691640"/>
            <a:ext cx="7680960" cy="457200"/>
          </a:xfrm>
          <a:prstGeom prst="roundRect">
            <a:avLst>
              <a:gd name="adj" fmla="val 12000"/>
            </a:avLst>
          </a:prstGeom>
          <a:solidFill>
            <a:srgbClr val="EBF3FA"/>
          </a:solidFill>
          <a:ln w="12700">
            <a:solidFill>
              <a:srgbClr val="2E75B6"/>
            </a:solidFill>
            <a:prstDash val="solid"/>
          </a:ln>
        </p:spPr>
      </p:sp>
      <p:sp>
        <p:nvSpPr>
          <p:cNvPr id="6" name="Text 4"/>
          <p:cNvSpPr txBox="1"/>
          <p:nvPr/>
        </p:nvSpPr>
        <p:spPr>
          <a:xfrm>
            <a:off x="868680" y="1691640"/>
            <a:ext cx="7406640" cy="457200"/>
          </a:xfrm>
          <a:prstGeom prst="rect">
            <a:avLst/>
          </a:prstGeom>
          <a:noFill/>
          <a:ln/>
        </p:spPr>
        <p:txBody>
          <a:bodyPr wrap="square" lIns="0" tIns="0" rIns="0" bIns="0" rtlCol="0" anchor="ctr"/>
          <a:lstStyle/>
          <a:p>
            <a:pPr algn="ctr" indent="0" marL="0">
              <a:buNone/>
            </a:pPr>
            <a:r>
              <a:rPr lang="en-US" sz="1500" b="1" dirty="0">
                <a:solidFill>
                  <a:srgbClr val="1F4E79"/>
                </a:solidFill>
                <a:latin typeface="Arial" pitchFamily="34" charset="0"/>
                <a:ea typeface="Arial" pitchFamily="34" charset="-122"/>
                <a:cs typeface="Arial" pitchFamily="34" charset="-120"/>
              </a:rPr>
              <a:t>14,935,862  </a:t>
            </a:r>
            <a:pPr algn="ctr" indent="0" marL="0">
              <a:buNone/>
            </a:pPr>
            <a:r>
              <a:rPr lang="en-US" sz="1500" dirty="0">
                <a:solidFill>
                  <a:schemeClr val="tx1"/>
                </a:solidFill>
                <a:latin typeface="Arial" pitchFamily="34" charset="0"/>
                <a:ea typeface="Arial" pitchFamily="34" charset="-122"/>
                <a:cs typeface="Arial" pitchFamily="34" charset="-120"/>
              </a:rPr>
              <a:t>rapid games, standard chess, no computer accounts</a:t>
            </a:r>
            <a:endParaRPr lang="en-US" sz="1500" dirty="0"/>
          </a:p>
        </p:txBody>
      </p:sp>
      <p:sp>
        <p:nvSpPr>
          <p:cNvPr id="7" name="funnel 2"/>
          <p:cNvSpPr/>
          <p:nvPr/>
        </p:nvSpPr>
        <p:spPr>
          <a:xfrm>
            <a:off x="1005840" y="2240280"/>
            <a:ext cx="7132320" cy="457200"/>
          </a:xfrm>
          <a:prstGeom prst="roundRect">
            <a:avLst>
              <a:gd name="adj" fmla="val 12000"/>
            </a:avLst>
          </a:prstGeom>
          <a:solidFill>
            <a:srgbClr val="EBF3FA"/>
          </a:solidFill>
          <a:ln w="12700">
            <a:solidFill>
              <a:srgbClr val="2E75B6"/>
            </a:solidFill>
            <a:prstDash val="solid"/>
          </a:ln>
        </p:spPr>
      </p:sp>
      <p:sp>
        <p:nvSpPr>
          <p:cNvPr id="8" name="Text 6"/>
          <p:cNvSpPr txBox="1"/>
          <p:nvPr/>
        </p:nvSpPr>
        <p:spPr>
          <a:xfrm>
            <a:off x="1143000" y="2240280"/>
            <a:ext cx="6858000" cy="457200"/>
          </a:xfrm>
          <a:prstGeom prst="rect">
            <a:avLst/>
          </a:prstGeom>
          <a:noFill/>
          <a:ln/>
        </p:spPr>
        <p:txBody>
          <a:bodyPr wrap="square" lIns="0" tIns="0" rIns="0" bIns="0" rtlCol="0" anchor="ctr"/>
          <a:lstStyle/>
          <a:p>
            <a:pPr algn="ctr" indent="0" marL="0">
              <a:buNone/>
            </a:pPr>
            <a:r>
              <a:rPr lang="en-US" sz="1500" b="1" dirty="0">
                <a:solidFill>
                  <a:srgbClr val="1F4E79"/>
                </a:solidFill>
                <a:latin typeface="Arial" pitchFamily="34" charset="0"/>
                <a:ea typeface="Arial" pitchFamily="34" charset="-122"/>
                <a:cs typeface="Arial" pitchFamily="34" charset="-120"/>
              </a:rPr>
              <a:t>454,791  </a:t>
            </a:r>
            <a:pPr algn="ctr" indent="0" marL="0">
              <a:buNone/>
            </a:pPr>
            <a:r>
              <a:rPr lang="en-US" sz="1500" dirty="0">
                <a:solidFill>
                  <a:schemeClr val="tx1"/>
                </a:solidFill>
                <a:latin typeface="Arial" pitchFamily="34" charset="0"/>
                <a:ea typeface="Arial" pitchFamily="34" charset="-122"/>
                <a:cs typeface="Arial" pitchFamily="34" charset="-120"/>
              </a:rPr>
              <a:t>time wins followed by a next game, rating 1200–2000, 6–30 Sep</a:t>
            </a:r>
            <a:endParaRPr lang="en-US" sz="1500" dirty="0"/>
          </a:p>
        </p:txBody>
      </p:sp>
      <p:sp>
        <p:nvSpPr>
          <p:cNvPr id="9" name="funnel 3"/>
          <p:cNvSpPr/>
          <p:nvPr/>
        </p:nvSpPr>
        <p:spPr>
          <a:xfrm>
            <a:off x="1280160" y="2788920"/>
            <a:ext cx="6583680" cy="457200"/>
          </a:xfrm>
          <a:prstGeom prst="roundRect">
            <a:avLst>
              <a:gd name="adj" fmla="val 12000"/>
            </a:avLst>
          </a:prstGeom>
          <a:solidFill>
            <a:srgbClr val="EBF3FA"/>
          </a:solidFill>
          <a:ln w="12700">
            <a:solidFill>
              <a:srgbClr val="2E75B6"/>
            </a:solidFill>
            <a:prstDash val="solid"/>
          </a:ln>
        </p:spPr>
      </p:sp>
      <p:sp>
        <p:nvSpPr>
          <p:cNvPr id="10" name="Text 8"/>
          <p:cNvSpPr txBox="1"/>
          <p:nvPr/>
        </p:nvSpPr>
        <p:spPr>
          <a:xfrm>
            <a:off x="1417320" y="2788920"/>
            <a:ext cx="6309360" cy="457200"/>
          </a:xfrm>
          <a:prstGeom prst="rect">
            <a:avLst/>
          </a:prstGeom>
          <a:noFill/>
          <a:ln/>
        </p:spPr>
        <p:txBody>
          <a:bodyPr wrap="square" lIns="0" tIns="0" rIns="0" bIns="0" rtlCol="0" anchor="ctr"/>
          <a:lstStyle/>
          <a:p>
            <a:pPr algn="ctr" indent="0" marL="0">
              <a:buNone/>
            </a:pPr>
            <a:r>
              <a:rPr lang="en-US" sz="1500" b="1" dirty="0">
                <a:solidFill>
                  <a:srgbClr val="1F4E79"/>
                </a:solidFill>
                <a:latin typeface="Arial" pitchFamily="34" charset="0"/>
                <a:ea typeface="Arial" pitchFamily="34" charset="-122"/>
                <a:cs typeface="Arial" pitchFamily="34" charset="-120"/>
              </a:rPr>
              <a:t>148,277  </a:t>
            </a:r>
            <a:pPr algn="ctr" indent="0" marL="0">
              <a:buNone/>
            </a:pPr>
            <a:r>
              <a:rPr lang="en-US" sz="1500" dirty="0">
                <a:solidFill>
                  <a:schemeClr val="tx1"/>
                </a:solidFill>
                <a:latin typeface="Arial" pitchFamily="34" charset="0"/>
                <a:ea typeface="Arial" pitchFamily="34" charset="-122"/>
                <a:cs typeface="Arial" pitchFamily="34" charset="-120"/>
              </a:rPr>
              <a:t>one per player</a:t>
            </a:r>
            <a:endParaRPr lang="en-US" sz="1500" dirty="0"/>
          </a:p>
        </p:txBody>
      </p:sp>
      <p:sp>
        <p:nvSpPr>
          <p:cNvPr id="11" name="funnel 4"/>
          <p:cNvSpPr/>
          <p:nvPr/>
        </p:nvSpPr>
        <p:spPr>
          <a:xfrm>
            <a:off x="1554480" y="3337560"/>
            <a:ext cx="6035040" cy="457200"/>
          </a:xfrm>
          <a:prstGeom prst="roundRect">
            <a:avLst>
              <a:gd name="adj" fmla="val 12000"/>
            </a:avLst>
          </a:prstGeom>
          <a:solidFill>
            <a:srgbClr val="EBF3FA"/>
          </a:solidFill>
          <a:ln w="12700">
            <a:solidFill>
              <a:srgbClr val="2E75B6"/>
            </a:solidFill>
            <a:prstDash val="solid"/>
          </a:ln>
        </p:spPr>
      </p:sp>
      <p:sp>
        <p:nvSpPr>
          <p:cNvPr id="12" name="Text 10"/>
          <p:cNvSpPr txBox="1"/>
          <p:nvPr/>
        </p:nvSpPr>
        <p:spPr>
          <a:xfrm>
            <a:off x="1691640" y="3337560"/>
            <a:ext cx="5760720" cy="457200"/>
          </a:xfrm>
          <a:prstGeom prst="rect">
            <a:avLst/>
          </a:prstGeom>
          <a:noFill/>
          <a:ln/>
        </p:spPr>
        <p:txBody>
          <a:bodyPr wrap="square" lIns="0" tIns="0" rIns="0" bIns="0" rtlCol="0" anchor="ctr"/>
          <a:lstStyle/>
          <a:p>
            <a:pPr algn="ctr" indent="0" marL="0">
              <a:buNone/>
            </a:pPr>
            <a:r>
              <a:rPr lang="en-US" sz="1500" b="1" dirty="0">
                <a:solidFill>
                  <a:srgbClr val="1F4E79"/>
                </a:solidFill>
                <a:latin typeface="Arial" pitchFamily="34" charset="0"/>
                <a:ea typeface="Arial" pitchFamily="34" charset="-122"/>
                <a:cs typeface="Arial" pitchFamily="34" charset="-120"/>
              </a:rPr>
              <a:t>70,000  </a:t>
            </a:r>
            <a:pPr algn="ctr" indent="0" marL="0">
              <a:buNone/>
            </a:pPr>
            <a:r>
              <a:rPr lang="en-US" sz="1500" dirty="0">
                <a:solidFill>
                  <a:schemeClr val="tx1"/>
                </a:solidFill>
                <a:latin typeface="Arial" pitchFamily="34" charset="0"/>
                <a:ea typeface="Arial" pitchFamily="34" charset="-122"/>
                <a:cs typeface="Arial" pitchFamily="34" charset="-120"/>
              </a:rPr>
              <a:t>checked by the chess computer, in random order</a:t>
            </a:r>
            <a:endParaRPr lang="en-US" sz="1500" dirty="0"/>
          </a:p>
        </p:txBody>
      </p:sp>
      <p:sp>
        <p:nvSpPr>
          <p:cNvPr id="13" name="funnel 5"/>
          <p:cNvSpPr/>
          <p:nvPr/>
        </p:nvSpPr>
        <p:spPr>
          <a:xfrm>
            <a:off x="1828800" y="3886200"/>
            <a:ext cx="5486400" cy="457200"/>
          </a:xfrm>
          <a:prstGeom prst="roundRect">
            <a:avLst>
              <a:gd name="adj" fmla="val 12000"/>
            </a:avLst>
          </a:prstGeom>
          <a:solidFill>
            <a:srgbClr val="FFF2CC"/>
          </a:solidFill>
          <a:ln w="12700">
            <a:solidFill>
              <a:srgbClr val="C27C0E"/>
            </a:solidFill>
            <a:prstDash val="solid"/>
          </a:ln>
        </p:spPr>
      </p:sp>
      <p:sp>
        <p:nvSpPr>
          <p:cNvPr id="14" name="Text 12"/>
          <p:cNvSpPr txBox="1"/>
          <p:nvPr/>
        </p:nvSpPr>
        <p:spPr>
          <a:xfrm>
            <a:off x="1965960" y="3886200"/>
            <a:ext cx="5212080" cy="457200"/>
          </a:xfrm>
          <a:prstGeom prst="rect">
            <a:avLst/>
          </a:prstGeom>
          <a:noFill/>
          <a:ln/>
        </p:spPr>
        <p:txBody>
          <a:bodyPr wrap="square" lIns="0" tIns="0" rIns="0" bIns="0" rtlCol="0" anchor="ctr"/>
          <a:lstStyle/>
          <a:p>
            <a:pPr algn="ctr" indent="0" marL="0">
              <a:buNone/>
            </a:pPr>
            <a:r>
              <a:rPr lang="en-US" sz="1500" b="1" dirty="0">
                <a:solidFill>
                  <a:srgbClr val="C27C0E"/>
                </a:solidFill>
                <a:latin typeface="Arial" pitchFamily="34" charset="0"/>
                <a:ea typeface="Arial" pitchFamily="34" charset="-122"/>
                <a:cs typeface="Arial" pitchFamily="34" charset="-120"/>
              </a:rPr>
              <a:t>12,033 + 11,962  </a:t>
            </a:r>
            <a:pPr algn="ctr" indent="0" marL="0">
              <a:buNone/>
            </a:pPr>
            <a:r>
              <a:rPr lang="en-US" sz="1500" dirty="0">
                <a:solidFill>
                  <a:schemeClr val="tx1"/>
                </a:solidFill>
                <a:latin typeface="Arial" pitchFamily="34" charset="0"/>
                <a:ea typeface="Arial" pitchFamily="34" charset="-122"/>
                <a:cs typeface="Arial" pitchFamily="34" charset="-120"/>
              </a:rPr>
              <a:t>lucky + deserved pairs scored</a:t>
            </a:r>
            <a:endParaRPr lang="en-US" sz="1500" dirty="0"/>
          </a:p>
        </p:txBody>
      </p:sp>
      <p:sp>
        <p:nvSpPr>
          <p:cNvPr id="15" name="Text 13"/>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Lichess open database (database.lichess.org, CC0). Box widths are not to scale.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 pair is one win plus the same player's very next game, started within 30 minutes</a:t>
            </a:r>
            <a:endParaRPr lang="en-US" sz="2600" dirty="0"/>
          </a:p>
        </p:txBody>
      </p:sp>
      <p:sp>
        <p:nvSpPr>
          <p:cNvPr id="3" name="game A"/>
          <p:cNvSpPr/>
          <p:nvPr/>
        </p:nvSpPr>
        <p:spPr>
          <a:xfrm>
            <a:off x="457200" y="1463040"/>
            <a:ext cx="2743200" cy="1280160"/>
          </a:xfrm>
          <a:prstGeom prst="roundRect">
            <a:avLst>
              <a:gd name="adj" fmla="val 4286"/>
            </a:avLst>
          </a:prstGeom>
          <a:solidFill>
            <a:srgbClr val="EBF3FA"/>
          </a:solidFill>
          <a:ln w="12700">
            <a:solidFill>
              <a:srgbClr val="2E75B6"/>
            </a:solidFill>
            <a:prstDash val="solid"/>
          </a:ln>
        </p:spPr>
      </p:sp>
      <p:sp>
        <p:nvSpPr>
          <p:cNvPr id="4" name="Text 2"/>
          <p:cNvSpPr txBox="1"/>
          <p:nvPr/>
        </p:nvSpPr>
        <p:spPr>
          <a:xfrm>
            <a:off x="640080" y="1463040"/>
            <a:ext cx="2377440" cy="128016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Game A</a:t>
            </a:r>
            <a:endParaRPr lang="en-US" sz="2000" dirty="0"/>
          </a:p>
          <a:p>
            <a:pPr indent="0" marL="0">
              <a:buNone/>
            </a:pPr>
            <a:r>
              <a:rPr lang="en-US" sz="2000" dirty="0">
                <a:solidFill>
                  <a:srgbClr val="1F4E79"/>
                </a:solidFill>
                <a:latin typeface="Arial" pitchFamily="34" charset="0"/>
                <a:ea typeface="Arial" pitchFamily="34" charset="-122"/>
                <a:cs typeface="Arial" pitchFamily="34" charset="-120"/>
              </a:rPr>
              <a:t>the win (lucky or deserved)</a:t>
            </a:r>
            <a:endParaRPr lang="en-US" sz="2000" dirty="0"/>
          </a:p>
        </p:txBody>
      </p:sp>
      <p:sp>
        <p:nvSpPr>
          <p:cNvPr id="5" name="arrow"/>
          <p:cNvSpPr/>
          <p:nvPr/>
        </p:nvSpPr>
        <p:spPr>
          <a:xfrm>
            <a:off x="3337560" y="1920240"/>
            <a:ext cx="1554480" cy="365760"/>
          </a:xfrm>
          <a:prstGeom prst="rightArrow">
            <a:avLst/>
          </a:prstGeom>
          <a:solidFill>
            <a:srgbClr val="777777"/>
          </a:solidFill>
          <a:ln w="12700">
            <a:solidFill>
              <a:srgbClr val="777777"/>
            </a:solidFill>
            <a:prstDash val="solid"/>
          </a:ln>
        </p:spPr>
      </p:sp>
      <p:sp>
        <p:nvSpPr>
          <p:cNvPr id="6" name="Text 4"/>
          <p:cNvSpPr txBox="1"/>
          <p:nvPr/>
        </p:nvSpPr>
        <p:spPr>
          <a:xfrm>
            <a:off x="3154680" y="2377440"/>
            <a:ext cx="1920240" cy="548640"/>
          </a:xfrm>
          <a:prstGeom prst="rect">
            <a:avLst/>
          </a:prstGeom>
          <a:noFill/>
          <a:ln/>
        </p:spPr>
        <p:txBody>
          <a:bodyPr wrap="square" lIns="0" tIns="0" rIns="0" bIns="0" rtlCol="0" anchor="t"/>
          <a:lstStyle/>
          <a:p>
            <a:pPr algn="ctr" indent="0" marL="0">
              <a:buNone/>
            </a:pPr>
            <a:r>
              <a:rPr lang="en-US" sz="1400" dirty="0">
                <a:solidFill>
                  <a:srgbClr val="777777"/>
                </a:solidFill>
                <a:latin typeface="Arial" pitchFamily="34" charset="0"/>
                <a:ea typeface="Arial" pitchFamily="34" charset="-122"/>
                <a:cs typeface="Arial" pitchFamily="34" charset="-120"/>
              </a:rPr>
              <a:t>≤ 30 min, no game in between</a:t>
            </a:r>
            <a:endParaRPr lang="en-US" sz="1400" dirty="0"/>
          </a:p>
        </p:txBody>
      </p:sp>
      <p:sp>
        <p:nvSpPr>
          <p:cNvPr id="7" name="game B"/>
          <p:cNvSpPr/>
          <p:nvPr/>
        </p:nvSpPr>
        <p:spPr>
          <a:xfrm>
            <a:off x="5029200" y="1463040"/>
            <a:ext cx="3657600" cy="1280160"/>
          </a:xfrm>
          <a:prstGeom prst="roundRect">
            <a:avLst>
              <a:gd name="adj" fmla="val 4286"/>
            </a:avLst>
          </a:prstGeom>
          <a:solidFill>
            <a:srgbClr val="FFF2CC"/>
          </a:solidFill>
          <a:ln w="12700">
            <a:solidFill>
              <a:srgbClr val="C27C0E"/>
            </a:solidFill>
            <a:prstDash val="solid"/>
          </a:ln>
        </p:spPr>
      </p:sp>
      <p:sp>
        <p:nvSpPr>
          <p:cNvPr id="8" name="Text 6"/>
          <p:cNvSpPr txBox="1"/>
          <p:nvPr/>
        </p:nvSpPr>
        <p:spPr>
          <a:xfrm>
            <a:off x="5212080" y="1463040"/>
            <a:ext cx="3291840" cy="1280160"/>
          </a:xfrm>
          <a:prstGeom prst="rect">
            <a:avLst/>
          </a:prstGeom>
          <a:noFill/>
          <a:ln/>
        </p:spPr>
        <p:txBody>
          <a:bodyPr wrap="square" lIns="0" tIns="0" rIns="0" bIns="0" rtlCol="0" anchor="ctr"/>
          <a:lstStyle/>
          <a:p>
            <a:pPr indent="0" marL="0">
              <a:buNone/>
            </a:pPr>
            <a:r>
              <a:rPr lang="en-US" sz="2000" b="1" dirty="0">
                <a:solidFill>
                  <a:srgbClr val="C27C0E"/>
                </a:solidFill>
                <a:latin typeface="Arial" pitchFamily="34" charset="0"/>
                <a:ea typeface="Arial" pitchFamily="34" charset="-122"/>
                <a:cs typeface="Arial" pitchFamily="34" charset="-120"/>
              </a:rPr>
              <a:t>Game B</a:t>
            </a:r>
            <a:endParaRPr lang="en-US" sz="2000" dirty="0"/>
          </a:p>
          <a:p>
            <a:pPr indent="0" marL="0">
              <a:buNone/>
            </a:pPr>
            <a:r>
              <a:rPr lang="en-US" sz="2000" dirty="0">
                <a:solidFill>
                  <a:srgbClr val="C27C0E"/>
                </a:solidFill>
                <a:latin typeface="Arial" pitchFamily="34" charset="0"/>
                <a:ea typeface="Arial" pitchFamily="34" charset="-122"/>
                <a:cs typeface="Arial" pitchFamily="34" charset="-120"/>
              </a:rPr>
              <a:t>the next game: moves 15 to 30 are scored</a:t>
            </a:r>
            <a:endParaRPr lang="en-US" sz="2000" dirty="0"/>
          </a:p>
        </p:txBody>
      </p:sp>
      <p:sp>
        <p:nvSpPr>
          <p:cNvPr id="9" name="Text 7"/>
          <p:cNvSpPr txBox="1"/>
          <p:nvPr/>
        </p:nvSpPr>
        <p:spPr>
          <a:xfrm>
            <a:off x="457200" y="3200400"/>
            <a:ext cx="8229600" cy="12801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We measure how well game B was played</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Game A only tells us which group the pair is in</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The computer's score at the end of game A decides whether the win was lucky</a:t>
            </a:r>
            <a:endParaRPr lang="en-US" sz="2600" dirty="0"/>
          </a:p>
        </p:txBody>
      </p:sp>
      <p:sp>
        <p:nvSpPr>
          <p:cNvPr id="3" name="lucky zone"/>
          <p:cNvSpPr/>
          <p:nvPr/>
        </p:nvSpPr>
        <p:spPr>
          <a:xfrm>
            <a:off x="914400" y="1417320"/>
            <a:ext cx="3291840" cy="502920"/>
          </a:xfrm>
          <a:prstGeom prst="rect">
            <a:avLst/>
          </a:prstGeom>
          <a:solidFill>
            <a:srgbClr val="FFF2CC"/>
          </a:solidFill>
          <a:ln w="12700">
            <a:solidFill>
              <a:srgbClr val="C27C0E"/>
            </a:solidFill>
            <a:prstDash val="solid"/>
          </a:ln>
        </p:spPr>
      </p:sp>
      <p:sp>
        <p:nvSpPr>
          <p:cNvPr id="4" name="deserved zone"/>
          <p:cNvSpPr/>
          <p:nvPr/>
        </p:nvSpPr>
        <p:spPr>
          <a:xfrm>
            <a:off x="4206240" y="1417320"/>
            <a:ext cx="4023360" cy="502920"/>
          </a:xfrm>
          <a:prstGeom prst="rect">
            <a:avLst/>
          </a:prstGeom>
          <a:solidFill>
            <a:srgbClr val="EBF3FA"/>
          </a:solidFill>
          <a:ln w="12700">
            <a:solidFill>
              <a:srgbClr val="2E75B6"/>
            </a:solidFill>
            <a:prstDash val="solid"/>
          </a:ln>
        </p:spPr>
      </p:sp>
      <p:sp>
        <p:nvSpPr>
          <p:cNvPr id="5" name="Text 3"/>
          <p:cNvSpPr txBox="1"/>
          <p:nvPr/>
        </p:nvSpPr>
        <p:spPr>
          <a:xfrm>
            <a:off x="914400" y="1417320"/>
            <a:ext cx="3291840" cy="502920"/>
          </a:xfrm>
          <a:prstGeom prst="rect">
            <a:avLst/>
          </a:prstGeom>
          <a:noFill/>
          <a:ln/>
        </p:spPr>
        <p:txBody>
          <a:bodyPr wrap="square" lIns="0" tIns="0" rIns="0" bIns="0" rtlCol="0" anchor="ctr"/>
          <a:lstStyle/>
          <a:p>
            <a:pPr algn="ctr" indent="0" marL="0">
              <a:buNone/>
            </a:pPr>
            <a:r>
              <a:rPr lang="en-US" sz="1600" b="1" dirty="0">
                <a:solidFill>
                  <a:srgbClr val="C27C0E"/>
                </a:solidFill>
                <a:latin typeface="Arial" pitchFamily="34" charset="0"/>
                <a:ea typeface="Arial" pitchFamily="34" charset="-122"/>
                <a:cs typeface="Arial" pitchFamily="34" charset="-120"/>
              </a:rPr>
              <a:t>lucky</a:t>
            </a:r>
            <a:endParaRPr lang="en-US" sz="1600" dirty="0"/>
          </a:p>
        </p:txBody>
      </p:sp>
      <p:sp>
        <p:nvSpPr>
          <p:cNvPr id="6" name="Text 4"/>
          <p:cNvSpPr txBox="1"/>
          <p:nvPr/>
        </p:nvSpPr>
        <p:spPr>
          <a:xfrm>
            <a:off x="4206240" y="1417320"/>
            <a:ext cx="4023360" cy="502920"/>
          </a:xfrm>
          <a:prstGeom prst="rect">
            <a:avLst/>
          </a:prstGeom>
          <a:noFill/>
          <a:ln/>
        </p:spPr>
        <p:txBody>
          <a:bodyPr wrap="square" lIns="0" tIns="0" rIns="0" bIns="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deserved</a:t>
            </a:r>
            <a:endParaRPr lang="en-US" sz="1600" dirty="0"/>
          </a:p>
        </p:txBody>
      </p:sp>
      <p:sp>
        <p:nvSpPr>
          <p:cNvPr id="7" name="Text 5"/>
          <p:cNvSpPr txBox="1"/>
          <p:nvPr/>
        </p:nvSpPr>
        <p:spPr>
          <a:xfrm>
            <a:off x="502920" y="1965960"/>
            <a:ext cx="822960" cy="27432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-1000</a:t>
            </a:r>
            <a:endParaRPr lang="en-US" sz="1300" dirty="0"/>
          </a:p>
        </p:txBody>
      </p:sp>
      <p:sp>
        <p:nvSpPr>
          <p:cNvPr id="8" name="Text 6"/>
          <p:cNvSpPr txBox="1"/>
          <p:nvPr/>
        </p:nvSpPr>
        <p:spPr>
          <a:xfrm>
            <a:off x="3794760" y="1965960"/>
            <a:ext cx="822960" cy="27432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-100</a:t>
            </a:r>
            <a:endParaRPr lang="en-US" sz="1300" dirty="0"/>
          </a:p>
        </p:txBody>
      </p:sp>
      <p:sp>
        <p:nvSpPr>
          <p:cNvPr id="9" name="Text 7"/>
          <p:cNvSpPr txBox="1"/>
          <p:nvPr/>
        </p:nvSpPr>
        <p:spPr>
          <a:xfrm>
            <a:off x="4160520" y="1965960"/>
            <a:ext cx="822960" cy="27432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0</a:t>
            </a:r>
            <a:endParaRPr lang="en-US" sz="1300" dirty="0"/>
          </a:p>
        </p:txBody>
      </p:sp>
      <p:sp>
        <p:nvSpPr>
          <p:cNvPr id="10" name="Text 8"/>
          <p:cNvSpPr txBox="1"/>
          <p:nvPr/>
        </p:nvSpPr>
        <p:spPr>
          <a:xfrm>
            <a:off x="7818120" y="1965960"/>
            <a:ext cx="822960" cy="27432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+1000</a:t>
            </a:r>
            <a:endParaRPr lang="en-US" sz="1300" dirty="0"/>
          </a:p>
        </p:txBody>
      </p:sp>
      <p:sp>
        <p:nvSpPr>
          <p:cNvPr id="11" name="Text 9"/>
          <p:cNvSpPr txBox="1"/>
          <p:nvPr/>
        </p:nvSpPr>
        <p:spPr>
          <a:xfrm>
            <a:off x="2743200" y="2240280"/>
            <a:ext cx="3657600" cy="27432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winner's final score (cp)</a:t>
            </a:r>
            <a:endParaRPr lang="en-US" sz="1300" dirty="0"/>
          </a:p>
        </p:txBody>
      </p:sp>
      <p:sp>
        <p:nvSpPr>
          <p:cNvPr id="12" name="formula"/>
          <p:cNvSpPr/>
          <p:nvPr/>
        </p:nvSpPr>
        <p:spPr>
          <a:xfrm>
            <a:off x="457200" y="2743200"/>
            <a:ext cx="8229600" cy="640080"/>
          </a:xfrm>
          <a:prstGeom prst="roundRect">
            <a:avLst>
              <a:gd name="adj" fmla="val 8571"/>
            </a:avLst>
          </a:prstGeom>
          <a:solidFill>
            <a:srgbClr val="EBF3FA"/>
          </a:solidFill>
          <a:ln w="12700">
            <a:solidFill>
              <a:srgbClr val="2E75B6"/>
            </a:solidFill>
            <a:prstDash val="solid"/>
          </a:ln>
        </p:spPr>
      </p:sp>
      <p:sp>
        <p:nvSpPr>
          <p:cNvPr id="13" name="Text 11"/>
          <p:cNvSpPr txBox="1"/>
          <p:nvPr/>
        </p:nvSpPr>
        <p:spPr>
          <a:xfrm>
            <a:off x="640080" y="2743200"/>
            <a:ext cx="7863840" cy="640080"/>
          </a:xfrm>
          <a:prstGeom prst="rect">
            <a:avLst/>
          </a:prstGeom>
          <a:noFill/>
          <a:ln/>
        </p:spPr>
        <p:txBody>
          <a:bodyPr wrap="square" lIns="0" tIns="0" rIns="0" bIns="0" rtlCol="0" anchor="ctr"/>
          <a:lstStyle/>
          <a:p>
            <a:pPr algn="ctr" indent="0" marL="0">
              <a:buNone/>
            </a:pPr>
            <a:r>
              <a:rPr lang="en-US" sz="1700" b="1" dirty="0">
                <a:solidFill>
                  <a:srgbClr val="1F4E79"/>
                </a:solidFill>
                <a:latin typeface="Arial" pitchFamily="34" charset="0"/>
                <a:ea typeface="Arial" pitchFamily="34" charset="-122"/>
                <a:cs typeface="Arial" pitchFamily="34" charset="-120"/>
              </a:rPr>
              <a:t>lucky  if  S_final &lt; −100 cp     (S_final = engine score from the winner's side)</a:t>
            </a:r>
            <a:endParaRPr lang="en-US" sz="1700" dirty="0"/>
          </a:p>
        </p:txBody>
      </p:sp>
      <p:sp>
        <p:nvSpPr>
          <p:cNvPr id="14" name="Text 12"/>
          <p:cNvSpPr txBox="1"/>
          <p:nvPr/>
        </p:nvSpPr>
        <p:spPr>
          <a:xfrm>
            <a:off x="457200" y="3566160"/>
            <a:ext cx="8229600" cy="73152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Losing by more than a pawn when the clock ran out. Forced mates count as ±1000.</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Each lucky win is compared with a deserved win from the same rating band and game speed</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2011680"/>
                <a:gridCol w="2011680"/>
                <a:gridCol w="2011680"/>
              </a:tblGrid>
              <a:tr h="384048">
                <a:tc>
                  <a:txBody>
                    <a:bodyPr/>
                    <a:lstStyle/>
                    <a:p>
                      <a:pPr indent="0" marL="0">
                        <a:buNone/>
                      </a:pPr>
                      <a:r>
                        <a:rPr lang="en-US" sz="1600" b="1" dirty="0">
                          <a:solidFill>
                            <a:srgbClr val="FFFFFF"/>
                          </a:solidFill>
                          <a:latin typeface="Arial" pitchFamily="34" charset="0"/>
                          <a:ea typeface="Arial" pitchFamily="34" charset="-122"/>
                          <a:cs typeface="Arial" pitchFamily="34" charset="-120"/>
                        </a:rPr>
                        <a:t>Rating band</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Game speed</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Lucky pairs</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Deserved pairs</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84048">
                <a:tc>
                  <a:txBody>
                    <a:bodyPr/>
                    <a:lstStyle/>
                    <a:p>
                      <a:pPr indent="0" marL="0">
                        <a:buNone/>
                      </a:pPr>
                      <a:r>
                        <a:rPr lang="en-US" sz="1600" dirty="0">
                          <a:solidFill>
                            <a:srgbClr val="2D2D2D"/>
                          </a:solidFill>
                          <a:latin typeface="Arial" pitchFamily="34" charset="0"/>
                          <a:ea typeface="Arial" pitchFamily="34" charset="-122"/>
                          <a:cs typeface="Arial" pitchFamily="34" charset="-120"/>
                        </a:rPr>
                        <a:t>1500–1599</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10 minutes</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1,513</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1,513</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600" dirty="0">
                          <a:solidFill>
                            <a:srgbClr val="2D2D2D"/>
                          </a:solidFill>
                          <a:latin typeface="Arial" pitchFamily="34" charset="0"/>
                          <a:ea typeface="Arial" pitchFamily="34" charset="-122"/>
                          <a:cs typeface="Arial" pitchFamily="34" charset="-120"/>
                        </a:rPr>
                        <a:t>1600–1699</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10 minutes</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1,446</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1,446</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600" dirty="0">
                          <a:solidFill>
                            <a:srgbClr val="2D2D2D"/>
                          </a:solidFill>
                          <a:latin typeface="Arial" pitchFamily="34" charset="0"/>
                          <a:ea typeface="Arial" pitchFamily="34" charset="-122"/>
                          <a:cs typeface="Arial" pitchFamily="34" charset="-120"/>
                        </a:rPr>
                        <a:t>1700–1799</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10 minutes</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1,431</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1,431</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600" dirty="0">
                          <a:solidFill>
                            <a:srgbClr val="2D2D2D"/>
                          </a:solidFill>
                          <a:latin typeface="Arial" pitchFamily="34" charset="0"/>
                          <a:ea typeface="Arial" pitchFamily="34" charset="-122"/>
                          <a:cs typeface="Arial" pitchFamily="34" charset="-120"/>
                        </a:rPr>
                        <a:t>1400–1499</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10 minutes</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1,353</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1,353</a:t>
                      </a:r>
                      <a:endParaRPr lang="en-US" sz="16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3291840"/>
            <a:ext cx="8229600" cy="82296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247 such slots in total. Matching stops stronger or faster players from crowding one group.</a:t>
            </a:r>
            <a:endParaRPr lang="en-US" sz="2000" dirty="0"/>
          </a:p>
        </p:txBody>
      </p:sp>
      <p:sp>
        <p:nvSpPr>
          <p:cNvPr id="5" name="Text 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Study 2 sample; the four largest slots shown. 58 deserved pairs could not be matched (0.45%).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Every next game is scored with exactly the same computer settings</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2377440"/>
                <a:gridCol w="3840480"/>
              </a:tblGrid>
              <a:tr h="438912">
                <a:tc>
                  <a:txBody>
                    <a:bodyPr/>
                    <a:lstStyle/>
                    <a:p>
                      <a:pPr indent="0" marL="0">
                        <a:buNone/>
                      </a:pPr>
                      <a:r>
                        <a:rPr lang="en-US" sz="1500" b="1" dirty="0">
                          <a:solidFill>
                            <a:srgbClr val="FFFFFF"/>
                          </a:solidFill>
                          <a:latin typeface="Arial" pitchFamily="34" charset="0"/>
                          <a:ea typeface="Arial" pitchFamily="34" charset="-122"/>
                          <a:cs typeface="Arial" pitchFamily="34" charset="-120"/>
                        </a:rPr>
                        <a:t>Setting</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Value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Why</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438912">
                <a:tc>
                  <a:txBody>
                    <a:bodyPr/>
                    <a:lstStyle/>
                    <a:p>
                      <a:pPr indent="0" marL="0">
                        <a:buNone/>
                      </a:pPr>
                      <a:r>
                        <a:rPr lang="en-US" sz="1500" dirty="0">
                          <a:solidFill>
                            <a:srgbClr val="2D2D2D"/>
                          </a:solidFill>
                          <a:latin typeface="Arial" pitchFamily="34" charset="0"/>
                          <a:ea typeface="Arial" pitchFamily="34" charset="-122"/>
                          <a:cs typeface="Arial" pitchFamily="34" charset="-120"/>
                        </a:rPr>
                        <a:t>Engine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Stockfish 16</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Strong, free, standard in research</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500" dirty="0">
                          <a:solidFill>
                            <a:srgbClr val="2D2D2D"/>
                          </a:solidFill>
                          <a:latin typeface="Arial" pitchFamily="34" charset="0"/>
                          <a:ea typeface="Arial" pitchFamily="34" charset="-122"/>
                          <a:cs typeface="Arial" pitchFamily="34" charset="-120"/>
                        </a:rPr>
                        <a:t>Search depth</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15 moves ahead</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Same effort for every position, reproducible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500" dirty="0">
                          <a:solidFill>
                            <a:srgbClr val="2D2D2D"/>
                          </a:solidFill>
                          <a:latin typeface="Arial" pitchFamily="34" charset="0"/>
                          <a:ea typeface="Arial" pitchFamily="34" charset="-122"/>
                          <a:cs typeface="Arial" pitchFamily="34" charset="-120"/>
                        </a:rPr>
                        <a:t>Moves scored</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15 to 30</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Skips prepared openings, saves computer time (see Part 2)</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500" dirty="0">
                          <a:solidFill>
                            <a:srgbClr val="2D2D2D"/>
                          </a:solidFill>
                          <a:latin typeface="Arial" pitchFamily="34" charset="0"/>
                          <a:ea typeface="Arial" pitchFamily="34" charset="-122"/>
                          <a:cs typeface="Arial" pitchFamily="34" charset="-120"/>
                        </a:rPr>
                        <a:t>Score cap</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±1000 cp</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One missed mate cannot swamp a game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38912">
                <a:tc>
                  <a:txBody>
                    <a:bodyPr/>
                    <a:lstStyle/>
                    <a:p>
                      <a:pPr indent="0" marL="0">
                        <a:buNone/>
                      </a:pPr>
                      <a:r>
                        <a:rPr lang="en-US" sz="1500" dirty="0">
                          <a:solidFill>
                            <a:srgbClr val="2D2D2D"/>
                          </a:solidFill>
                          <a:latin typeface="Arial" pitchFamily="34" charset="0"/>
                          <a:ea typeface="Arial" pitchFamily="34" charset="-122"/>
                          <a:cs typeface="Arial" pitchFamily="34" charset="-120"/>
                        </a:rPr>
                        <a:t>Minimum</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5 scored moves</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Very short games are too noisy</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42,851 next games scored; two separate runs on the same games gave identical numbers in study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 regression compares the groups while holding rating, opponent and colour fixed</a:t>
            </a:r>
            <a:endParaRPr lang="en-US" sz="2600" dirty="0"/>
          </a:p>
        </p:txBody>
      </p:sp>
      <p:sp>
        <p:nvSpPr>
          <p:cNvPr id="3" name="formula"/>
          <p:cNvSpPr/>
          <p:nvPr/>
        </p:nvSpPr>
        <p:spPr>
          <a:xfrm>
            <a:off x="457200" y="1188720"/>
            <a:ext cx="8229600" cy="731520"/>
          </a:xfrm>
          <a:prstGeom prst="roundRect">
            <a:avLst>
              <a:gd name="adj" fmla="val 7500"/>
            </a:avLst>
          </a:prstGeom>
          <a:solidFill>
            <a:srgbClr val="EBF3FA"/>
          </a:solidFill>
          <a:ln w="12700">
            <a:solidFill>
              <a:srgbClr val="2E75B6"/>
            </a:solidFill>
            <a:prstDash val="solid"/>
          </a:ln>
        </p:spPr>
      </p:sp>
      <p:sp>
        <p:nvSpPr>
          <p:cNvPr id="4" name="Text 2"/>
          <p:cNvSpPr txBox="1"/>
          <p:nvPr/>
        </p:nvSpPr>
        <p:spPr>
          <a:xfrm>
            <a:off x="640080" y="1188720"/>
            <a:ext cx="7863840" cy="731520"/>
          </a:xfrm>
          <a:prstGeom prst="rect">
            <a:avLst/>
          </a:prstGeom>
          <a:noFill/>
          <a:ln/>
        </p:spPr>
        <p:txBody>
          <a:bodyPr wrap="square" lIns="0" tIns="0" rIns="0" bIns="0" rtlCol="0" anchor="ctr"/>
          <a:lstStyle/>
          <a:p>
            <a:pPr algn="ctr" indent="0" marL="0">
              <a:buNone/>
            </a:pPr>
            <a:r>
              <a:rPr lang="en-US" sz="1700" b="1" dirty="0">
                <a:solidFill>
                  <a:srgbClr val="1F4E79"/>
                </a:solidFill>
                <a:latin typeface="Arial" pitchFamily="34" charset="0"/>
                <a:ea typeface="Arial" pitchFamily="34" charset="-122"/>
                <a:cs typeface="Arial" pitchFamily="34" charset="-120"/>
              </a:rPr>
              <a:t>ACPL = β₀ + β₁·Lucky + β₂·Rating + β₃·Gap + β₄·White + speed + error</a:t>
            </a:r>
            <a:endParaRPr lang="en-US" sz="1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8229600" cy="914400"/>
        </p:xfrm>
        <a:graphic>
          <a:graphicData uri="http://schemas.openxmlformats.org/drawingml/2006/table">
            <a:tbl>
              <a:tblPr/>
              <a:tblGrid>
                <a:gridCol w="3108960"/>
                <a:gridCol w="1463040"/>
                <a:gridCol w="3657600"/>
              </a:tblGrid>
              <a:tr h="411480">
                <a:tc>
                  <a:txBody>
                    <a:bodyPr/>
                    <a:lstStyle/>
                    <a:p>
                      <a:pPr indent="0" marL="0">
                        <a:buNone/>
                      </a:pPr>
                      <a:r>
                        <a:rPr lang="en-US" sz="1500" b="1" dirty="0">
                          <a:solidFill>
                            <a:srgbClr val="FFFFFF"/>
                          </a:solidFill>
                          <a:latin typeface="Arial" pitchFamily="34" charset="0"/>
                          <a:ea typeface="Arial" pitchFamily="34" charset="-122"/>
                          <a:cs typeface="Arial" pitchFamily="34" charset="-120"/>
                        </a:rPr>
                        <a:t>Term</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Estimate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Plain meaning</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411480">
                <a:tc>
                  <a:txBody>
                    <a:bodyPr/>
                    <a:lstStyle/>
                    <a:p>
                      <a:pPr indent="0" marL="0">
                        <a:buNone/>
                      </a:pPr>
                      <a:r>
                        <a:rPr lang="en-US" sz="1500" b="1" dirty="0">
                          <a:solidFill>
                            <a:srgbClr val="C27C0E"/>
                          </a:solidFill>
                          <a:latin typeface="Arial" pitchFamily="34" charset="0"/>
                          <a:ea typeface="Arial" pitchFamily="34" charset="-122"/>
                          <a:cs typeface="Arial" pitchFamily="34" charset="-120"/>
                        </a:rPr>
                        <a:t>β₁ Lucky (1 if lucky, 0 if not)</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b="1" dirty="0">
                          <a:solidFill>
                            <a:srgbClr val="C27C0E"/>
                          </a:solidFill>
                          <a:latin typeface="Arial" pitchFamily="34" charset="0"/>
                          <a:ea typeface="Arial" pitchFamily="34" charset="-122"/>
                          <a:cs typeface="Arial" pitchFamily="34" charset="-120"/>
                        </a:rPr>
                        <a:t>+1.96 cp</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the effect we are testing</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500" dirty="0">
                          <a:solidFill>
                            <a:srgbClr val="2D2D2D"/>
                          </a:solidFill>
                          <a:latin typeface="Arial" pitchFamily="34" charset="0"/>
                          <a:ea typeface="Arial" pitchFamily="34" charset="-122"/>
                          <a:cs typeface="Arial" pitchFamily="34" charset="-120"/>
                        </a:rPr>
                        <a:t>β₂ per +100 rating</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−3.69 cp</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stronger players make smaller mistakes</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500" dirty="0">
                          <a:solidFill>
                            <a:srgbClr val="2D2D2D"/>
                          </a:solidFill>
                          <a:latin typeface="Arial" pitchFamily="34" charset="0"/>
                          <a:ea typeface="Arial" pitchFamily="34" charset="-122"/>
                          <a:cs typeface="Arial" pitchFamily="34" charset="-120"/>
                        </a:rPr>
                        <a:t>β₃ opponent +100 stronger</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+0.62 cp</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tougher opponents cause slightly more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500" dirty="0">
                          <a:solidFill>
                            <a:srgbClr val="2D2D2D"/>
                          </a:solidFill>
                          <a:latin typeface="Arial" pitchFamily="34" charset="0"/>
                          <a:ea typeface="Arial" pitchFamily="34" charset="-122"/>
                          <a:cs typeface="Arial" pitchFamily="34" charset="-120"/>
                        </a:rPr>
                        <a:t>β₄ playing White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−0.44 cp</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almost no difference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6" name="Text 3"/>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Ordinary least squares, standard errors clustered by player; 23,995 pairs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 confidence interval gives the range of believable values, and the p-value tests 'no effect'</a:t>
            </a:r>
            <a:endParaRPr lang="en-US" sz="2600" dirty="0"/>
          </a:p>
        </p:txBody>
      </p:sp>
      <p:sp>
        <p:nvSpPr>
          <p:cNvPr id="3" name="formula"/>
          <p:cNvSpPr/>
          <p:nvPr/>
        </p:nvSpPr>
        <p:spPr>
          <a:xfrm>
            <a:off x="457200" y="1188720"/>
            <a:ext cx="8229600" cy="685800"/>
          </a:xfrm>
          <a:prstGeom prst="roundRect">
            <a:avLst>
              <a:gd name="adj" fmla="val 8000"/>
            </a:avLst>
          </a:prstGeom>
          <a:solidFill>
            <a:srgbClr val="EBF3FA"/>
          </a:solidFill>
          <a:ln w="12700">
            <a:solidFill>
              <a:srgbClr val="2E75B6"/>
            </a:solidFill>
            <a:prstDash val="solid"/>
          </a:ln>
        </p:spPr>
      </p:sp>
      <p:sp>
        <p:nvSpPr>
          <p:cNvPr id="4" name="Text 2"/>
          <p:cNvSpPr txBox="1"/>
          <p:nvPr/>
        </p:nvSpPr>
        <p:spPr>
          <a:xfrm>
            <a:off x="640080" y="1188720"/>
            <a:ext cx="7863840" cy="685800"/>
          </a:xfrm>
          <a:prstGeom prst="rect">
            <a:avLst/>
          </a:prstGeom>
          <a:noFill/>
          <a:ln/>
        </p:spPr>
        <p:txBody>
          <a:bodyPr wrap="square" lIns="0" tIns="0" rIns="0" bIns="0" rtlCol="0" anchor="ctr"/>
          <a:lstStyle/>
          <a:p>
            <a:pPr algn="ctr" indent="0" marL="0">
              <a:buNone/>
            </a:pPr>
            <a:r>
              <a:rPr lang="en-US" sz="1700" b="1" dirty="0">
                <a:solidFill>
                  <a:srgbClr val="1F4E79"/>
                </a:solidFill>
                <a:latin typeface="Arial" pitchFamily="34" charset="0"/>
                <a:ea typeface="Arial" pitchFamily="34" charset="-122"/>
                <a:cs typeface="Arial" pitchFamily="34" charset="-120"/>
              </a:rPr>
              <a:t>95% interval = estimate ± 1.96 × SE      90% interval = estimate ± 1.645 × SE</a:t>
            </a:r>
            <a:endParaRPr lang="en-US" sz="1700" dirty="0"/>
          </a:p>
        </p:txBody>
      </p:sp>
      <p:sp>
        <p:nvSpPr>
          <p:cNvPr id="5" name="Text 3"/>
          <p:cNvSpPr txBox="1"/>
          <p:nvPr/>
        </p:nvSpPr>
        <p:spPr>
          <a:xfrm>
            <a:off x="457200" y="2057400"/>
            <a:ext cx="8229600" cy="411480"/>
          </a:xfrm>
          <a:prstGeom prst="rect">
            <a:avLst/>
          </a:prstGeom>
          <a:noFill/>
          <a:ln/>
        </p:spPr>
        <p:txBody>
          <a:bodyPr wrap="square" lIns="0" tIns="0" rIns="0" bIns="0" rtlCol="0" anchor="t"/>
          <a:lstStyle/>
          <a:p>
            <a:pPr indent="0" marL="0">
              <a:buNone/>
            </a:pPr>
            <a:r>
              <a:rPr lang="en-US" sz="2000" b="1" dirty="0">
                <a:solidFill>
                  <a:srgbClr val="1F4E79"/>
                </a:solidFill>
                <a:latin typeface="Arial" pitchFamily="34" charset="0"/>
                <a:ea typeface="Arial" pitchFamily="34" charset="-122"/>
                <a:cs typeface="Arial" pitchFamily="34" charset="-120"/>
              </a:rPr>
              <a:t>Our numbers: 1.96 ± 1.96 × 0.666 = 0.66 to 3.27 cp</a:t>
            </a:r>
            <a:endParaRPr lang="en-US" sz="2000" dirty="0"/>
          </a:p>
        </p:txBody>
      </p:sp>
      <p:sp>
        <p:nvSpPr>
          <p:cNvPr id="6" name="Text 4"/>
          <p:cNvSpPr txBox="1"/>
          <p:nvPr/>
        </p:nvSpPr>
        <p:spPr>
          <a:xfrm>
            <a:off x="457200" y="2651760"/>
            <a:ext cx="8229600" cy="19202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SE (standard error): how much the estimate would wobble with different games</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p-value 0.003: if lucky wins truly did nothing, a gap this big would appear 3 times in 1,000</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The decision rule was fixed in advance: each result is supported, refuted or inconclusive</a:t>
            </a:r>
            <a:endParaRPr lang="en-US" sz="2600" dirty="0"/>
          </a:p>
        </p:txBody>
      </p:sp>
      <p:sp>
        <p:nvSpPr>
          <p:cNvPr id="3" name="zone"/>
          <p:cNvSpPr/>
          <p:nvPr/>
        </p:nvSpPr>
        <p:spPr>
          <a:xfrm>
            <a:off x="3566160" y="1234440"/>
            <a:ext cx="3108960" cy="2148840"/>
          </a:xfrm>
          <a:prstGeom prst="rect">
            <a:avLst/>
          </a:prstGeom>
          <a:solidFill>
            <a:srgbClr val="EBF3FA"/>
          </a:solidFill>
          <a:ln w="12700">
            <a:solidFill>
              <a:srgbClr val="EBF3FA"/>
            </a:solidFill>
            <a:prstDash val="solid"/>
          </a:ln>
        </p:spPr>
      </p:sp>
      <p:sp>
        <p:nvSpPr>
          <p:cNvPr id="4" name="zero"/>
          <p:cNvSpPr/>
          <p:nvPr/>
        </p:nvSpPr>
        <p:spPr>
          <a:xfrm>
            <a:off x="5120640" y="1188720"/>
            <a:ext cx="0" cy="2240280"/>
          </a:xfrm>
          <a:prstGeom prst="line">
            <a:avLst/>
          </a:prstGeom>
          <a:noFill/>
          <a:ln w="12700">
            <a:solidFill>
              <a:srgbClr val="777777"/>
            </a:solidFill>
            <a:prstDash val="dash"/>
          </a:ln>
        </p:spPr>
      </p:sp>
      <p:sp>
        <p:nvSpPr>
          <p:cNvPr id="5" name="Text 3"/>
          <p:cNvSpPr txBox="1"/>
          <p:nvPr/>
        </p:nvSpPr>
        <p:spPr>
          <a:xfrm>
            <a:off x="457200" y="1325880"/>
            <a:ext cx="1463040" cy="36576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Supported</a:t>
            </a:r>
            <a:endParaRPr lang="en-US" sz="1500" dirty="0"/>
          </a:p>
        </p:txBody>
      </p:sp>
      <p:sp>
        <p:nvSpPr>
          <p:cNvPr id="6" name="rule Supported"/>
          <p:cNvSpPr/>
          <p:nvPr/>
        </p:nvSpPr>
        <p:spPr>
          <a:xfrm>
            <a:off x="4265676" y="1508760"/>
            <a:ext cx="1632204" cy="0"/>
          </a:xfrm>
          <a:prstGeom prst="line">
            <a:avLst/>
          </a:prstGeom>
          <a:noFill/>
          <a:ln w="38100">
            <a:solidFill>
              <a:srgbClr val="1F4E79"/>
            </a:solidFill>
            <a:prstDash val="solid"/>
          </a:ln>
        </p:spPr>
      </p:sp>
      <p:sp>
        <p:nvSpPr>
          <p:cNvPr id="7" name="Text 5"/>
          <p:cNvSpPr txBox="1"/>
          <p:nvPr/>
        </p:nvSpPr>
        <p:spPr>
          <a:xfrm>
            <a:off x="457200" y="2057400"/>
            <a:ext cx="1463040" cy="365760"/>
          </a:xfrm>
          <a:prstGeom prst="rect">
            <a:avLst/>
          </a:prstGeom>
          <a:noFill/>
          <a:ln/>
        </p:spPr>
        <p:txBody>
          <a:bodyPr wrap="square" lIns="0" tIns="0" rIns="0" bIns="0" rtlCol="0" anchor="ctr"/>
          <a:lstStyle/>
          <a:p>
            <a:pPr indent="0" marL="0">
              <a:buNone/>
            </a:pPr>
            <a:r>
              <a:rPr lang="en-US" sz="1500" b="1" dirty="0">
                <a:solidFill>
                  <a:srgbClr val="C27C0E"/>
                </a:solidFill>
                <a:latin typeface="Arial" pitchFamily="34" charset="0"/>
                <a:ea typeface="Arial" pitchFamily="34" charset="-122"/>
                <a:cs typeface="Arial" pitchFamily="34" charset="-120"/>
              </a:rPr>
              <a:t>Refuted</a:t>
            </a:r>
            <a:endParaRPr lang="en-US" sz="1500" dirty="0"/>
          </a:p>
        </p:txBody>
      </p:sp>
      <p:sp>
        <p:nvSpPr>
          <p:cNvPr id="8" name="rule Refuted"/>
          <p:cNvSpPr/>
          <p:nvPr/>
        </p:nvSpPr>
        <p:spPr>
          <a:xfrm>
            <a:off x="6986016" y="2240280"/>
            <a:ext cx="932688" cy="0"/>
          </a:xfrm>
          <a:prstGeom prst="line">
            <a:avLst/>
          </a:prstGeom>
          <a:noFill/>
          <a:ln w="38100">
            <a:solidFill>
              <a:srgbClr val="C27C0E"/>
            </a:solidFill>
            <a:prstDash val="solid"/>
          </a:ln>
        </p:spPr>
      </p:sp>
      <p:sp>
        <p:nvSpPr>
          <p:cNvPr id="9" name="Text 7"/>
          <p:cNvSpPr txBox="1"/>
          <p:nvPr/>
        </p:nvSpPr>
        <p:spPr>
          <a:xfrm>
            <a:off x="457200" y="2788920"/>
            <a:ext cx="1463040" cy="365760"/>
          </a:xfrm>
          <a:prstGeom prst="rect">
            <a:avLst/>
          </a:prstGeom>
          <a:noFill/>
          <a:ln/>
        </p:spPr>
        <p:txBody>
          <a:bodyPr wrap="square" lIns="0" tIns="0" rIns="0" bIns="0" rtlCol="0" anchor="ctr"/>
          <a:lstStyle/>
          <a:p>
            <a:pPr indent="0" marL="0">
              <a:buNone/>
            </a:pPr>
            <a:r>
              <a:rPr lang="en-US" sz="1500" b="1" dirty="0">
                <a:solidFill>
                  <a:srgbClr val="777777"/>
                </a:solidFill>
                <a:latin typeface="Arial" pitchFamily="34" charset="0"/>
                <a:ea typeface="Arial" pitchFamily="34" charset="-122"/>
                <a:cs typeface="Arial" pitchFamily="34" charset="-120"/>
              </a:rPr>
              <a:t>Inconclusive</a:t>
            </a:r>
            <a:endParaRPr lang="en-US" sz="1500" dirty="0"/>
          </a:p>
        </p:txBody>
      </p:sp>
      <p:sp>
        <p:nvSpPr>
          <p:cNvPr id="10" name="rule Inconclusive"/>
          <p:cNvSpPr/>
          <p:nvPr/>
        </p:nvSpPr>
        <p:spPr>
          <a:xfrm>
            <a:off x="5431536" y="2971800"/>
            <a:ext cx="2098548" cy="0"/>
          </a:xfrm>
          <a:prstGeom prst="line">
            <a:avLst/>
          </a:prstGeom>
          <a:noFill/>
          <a:ln w="38100">
            <a:solidFill>
              <a:srgbClr val="777777"/>
            </a:solidFill>
            <a:prstDash val="solid"/>
          </a:ln>
        </p:spPr>
      </p:sp>
      <p:sp>
        <p:nvSpPr>
          <p:cNvPr id="11" name="Text 9"/>
          <p:cNvSpPr txBox="1"/>
          <p:nvPr/>
        </p:nvSpPr>
        <p:spPr>
          <a:xfrm>
            <a:off x="1737360" y="342900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12" name="Text 10"/>
          <p:cNvSpPr txBox="1"/>
          <p:nvPr/>
        </p:nvSpPr>
        <p:spPr>
          <a:xfrm>
            <a:off x="3291840" y="342900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4846320" y="342900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0</a:t>
            </a:r>
            <a:endParaRPr lang="en-US" sz="1300" dirty="0"/>
          </a:p>
        </p:txBody>
      </p:sp>
      <p:sp>
        <p:nvSpPr>
          <p:cNvPr id="14" name="Text 12"/>
          <p:cNvSpPr txBox="1"/>
          <p:nvPr/>
        </p:nvSpPr>
        <p:spPr>
          <a:xfrm>
            <a:off x="6400800" y="342900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7955280" y="342900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16" name="Text 14"/>
          <p:cNvSpPr txBox="1"/>
          <p:nvPr/>
        </p:nvSpPr>
        <p:spPr>
          <a:xfrm>
            <a:off x="457200" y="3794760"/>
            <a:ext cx="8229600" cy="9144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Arial" pitchFamily="34" charset="0"/>
                <a:ea typeface="Arial" pitchFamily="34" charset="-122"/>
                <a:cs typeface="Arial" pitchFamily="34" charset="-120"/>
              </a:rPr>
              <a:t>Supported: whole 90% interval inside ±2 cp</a:t>
            </a:r>
            <a:endParaRPr lang="en-US" sz="1700" dirty="0"/>
          </a:p>
          <a:p>
            <a:pPr marL="342900" indent="-342900">
              <a:spcAft>
                <a:spcPts val="1000"/>
              </a:spcAft>
              <a:buSzPct val="100000"/>
              <a:buChar char="•"/>
            </a:pPr>
            <a:r>
              <a:rPr lang="en-US" sz="1700" dirty="0">
                <a:solidFill>
                  <a:schemeClr val="tx1"/>
                </a:solidFill>
                <a:latin typeface="Arial" pitchFamily="34" charset="0"/>
                <a:ea typeface="Arial" pitchFamily="34" charset="-122"/>
                <a:cs typeface="Arial" pitchFamily="34" charset="-120"/>
              </a:rPr>
              <a:t>Refuted: 95% interval misses 0 and gap is at least 2 cp</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About 10,700 pairs per group were needed, so we planned 13,000 to allow for losses</a:t>
            </a:r>
            <a:endParaRPr lang="en-US" sz="2600" dirty="0"/>
          </a:p>
        </p:txBody>
      </p:sp>
      <p:sp>
        <p:nvSpPr>
          <p:cNvPr id="3" name="formula"/>
          <p:cNvSpPr/>
          <p:nvPr/>
        </p:nvSpPr>
        <p:spPr>
          <a:xfrm>
            <a:off x="457200" y="1188720"/>
            <a:ext cx="8229600" cy="685800"/>
          </a:xfrm>
          <a:prstGeom prst="roundRect">
            <a:avLst>
              <a:gd name="adj" fmla="val 8000"/>
            </a:avLst>
          </a:prstGeom>
          <a:solidFill>
            <a:srgbClr val="EBF3FA"/>
          </a:solidFill>
          <a:ln w="12700">
            <a:solidFill>
              <a:srgbClr val="2E75B6"/>
            </a:solidFill>
            <a:prstDash val="solid"/>
          </a:ln>
        </p:spPr>
      </p:sp>
      <p:sp>
        <p:nvSpPr>
          <p:cNvPr id="4" name="Text 2"/>
          <p:cNvSpPr txBox="1"/>
          <p:nvPr/>
        </p:nvSpPr>
        <p:spPr>
          <a:xfrm>
            <a:off x="640080" y="1188720"/>
            <a:ext cx="7863840" cy="685800"/>
          </a:xfrm>
          <a:prstGeom prst="rect">
            <a:avLst/>
          </a:prstGeom>
          <a:noFill/>
          <a:ln/>
        </p:spPr>
        <p:txBody>
          <a:bodyPr wrap="square" lIns="0" tIns="0" rIns="0" bIns="0" rtlCol="0" anchor="ctr"/>
          <a:lstStyle/>
          <a:p>
            <a:pPr algn="ctr" indent="0" marL="0">
              <a:buNone/>
            </a:pPr>
            <a:r>
              <a:rPr lang="en-US" sz="2000" b="1" dirty="0">
                <a:solidFill>
                  <a:srgbClr val="1F4E79"/>
                </a:solidFill>
                <a:latin typeface="Arial" pitchFamily="34" charset="0"/>
                <a:ea typeface="Arial" pitchFamily="34" charset="-122"/>
                <a:cs typeface="Arial" pitchFamily="34" charset="-120"/>
              </a:rPr>
              <a:t>n = 2 × σ² × (z₁ + z₂)² ÷ Δ²</a:t>
            </a:r>
            <a:endParaRPr lang="en-US" sz="2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914400"/>
        </p:xfrm>
        <a:graphic>
          <a:graphicData uri="http://schemas.openxmlformats.org/drawingml/2006/table">
            <a:tbl>
              <a:tblPr/>
              <a:tblGrid>
                <a:gridCol w="1463040"/>
                <a:gridCol w="2194560"/>
                <a:gridCol w="4572000"/>
              </a:tblGrid>
              <a:tr h="384048">
                <a:tc>
                  <a:txBody>
                    <a:bodyPr/>
                    <a:lstStyle/>
                    <a:p>
                      <a:pPr indent="0" marL="0">
                        <a:buNone/>
                      </a:pPr>
                      <a:r>
                        <a:rPr lang="en-US" sz="1500" b="1" dirty="0">
                          <a:solidFill>
                            <a:srgbClr val="FFFFFF"/>
                          </a:solidFill>
                          <a:latin typeface="Arial" pitchFamily="34" charset="0"/>
                          <a:ea typeface="Arial" pitchFamily="34" charset="-122"/>
                          <a:cs typeface="Arial" pitchFamily="34" charset="-120"/>
                        </a:rPr>
                        <a:t>Symbol</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Value</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Meaning</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84048">
                <a:tc>
                  <a:txBody>
                    <a:bodyPr/>
                    <a:lstStyle/>
                    <a:p>
                      <a:pPr indent="0" marL="0">
                        <a:buNone/>
                      </a:pPr>
                      <a:r>
                        <a:rPr lang="en-US" sz="1500" dirty="0">
                          <a:solidFill>
                            <a:srgbClr val="2D2D2D"/>
                          </a:solidFill>
                          <a:latin typeface="Arial" pitchFamily="34" charset="0"/>
                          <a:ea typeface="Arial" pitchFamily="34" charset="-122"/>
                          <a:cs typeface="Arial" pitchFamily="34" charset="-120"/>
                        </a:rPr>
                        <a:t>σ</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50 cp</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spread of ACPL between games (from study 1)</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500" dirty="0">
                          <a:solidFill>
                            <a:srgbClr val="2D2D2D"/>
                          </a:solidFill>
                          <a:latin typeface="Arial" pitchFamily="34" charset="0"/>
                          <a:ea typeface="Arial" pitchFamily="34" charset="-122"/>
                          <a:cs typeface="Arial" pitchFamily="34" charset="-120"/>
                        </a:rPr>
                        <a:t>z₁ , z₂</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1.645 , 1.282</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set by 5% error rate and 80% power</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500" dirty="0">
                          <a:solidFill>
                            <a:srgbClr val="2D2D2D"/>
                          </a:solidFill>
                          <a:latin typeface="Arial" pitchFamily="34" charset="0"/>
                          <a:ea typeface="Arial" pitchFamily="34" charset="-122"/>
                          <a:cs typeface="Arial" pitchFamily="34" charset="-120"/>
                        </a:rPr>
                        <a:t>Δ</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2 cp</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smallest difference we decided matters</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500" b="1" dirty="0">
                          <a:solidFill>
                            <a:srgbClr val="2D2D2D"/>
                          </a:solidFill>
                          <a:latin typeface="Arial" pitchFamily="34" charset="0"/>
                          <a:ea typeface="Arial" pitchFamily="34" charset="-122"/>
                          <a:cs typeface="Arial" pitchFamily="34" charset="-120"/>
                        </a:rPr>
                        <a:t>n</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b="1" dirty="0">
                          <a:solidFill>
                            <a:srgbClr val="2D2D2D"/>
                          </a:solidFill>
                          <a:latin typeface="Arial" pitchFamily="34" charset="0"/>
                          <a:ea typeface="Arial" pitchFamily="34" charset="-122"/>
                          <a:cs typeface="Arial" pitchFamily="34" charset="-120"/>
                        </a:rPr>
                        <a:t>≈ 10,700</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D2D2D"/>
                          </a:solidFill>
                          <a:latin typeface="Arial" pitchFamily="34" charset="0"/>
                          <a:ea typeface="Arial" pitchFamily="34" charset="-122"/>
                          <a:cs typeface="Arial" pitchFamily="34" charset="-120"/>
                        </a:rPr>
                        <a:t>pairs per group needed</a:t>
                      </a:r>
                      <a:endParaRPr lang="en-US" sz="15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7863840" cy="457200"/>
          </a:xfrm>
          <a:prstGeom prst="rect">
            <a:avLst/>
          </a:prstGeom>
          <a:noFill/>
          <a:ln/>
        </p:spPr>
        <p:txBody>
          <a:bodyPr wrap="square" lIns="0" tIns="0" rIns="0" bIns="0" rtlCol="0" anchor="t"/>
          <a:lstStyle/>
          <a:p>
            <a:pPr algn="l" indent="0" marL="0">
              <a:buNone/>
            </a:pPr>
            <a:r>
              <a:rPr lang="en-US" sz="1800" dirty="0">
                <a:solidFill>
                  <a:schemeClr val="accent5"/>
                </a:solidFill>
              </a:rPr>
              <a:t>Part 5</a:t>
            </a:r>
            <a:endParaRPr lang="en-US" sz="1800" dirty="0"/>
          </a:p>
        </p:txBody>
      </p:sp>
      <p:sp>
        <p:nvSpPr>
          <p:cNvPr id="3" name="Text 0"/>
          <p:cNvSpPr/>
          <p:nvPr>
            <p:ph idx="101" type="title" hasCustomPrompt="1"/>
          </p:nvPr>
        </p:nvSpPr>
        <p:spPr>
          <a:xfrm>
            <a:off x="640080" y="2011680"/>
            <a:ext cx="7863840" cy="1280160"/>
          </a:xfrm>
          <a:prstGeom prst="rect">
            <a:avLst/>
          </a:prstGeom>
          <a:noFill/>
          <a:ln/>
        </p:spPr>
        <p:txBody>
          <a:bodyPr wrap="square" lIns="0" tIns="0" rIns="0" bIns="0" rtlCol="0" anchor="t"/>
          <a:lstStyle/>
          <a:p>
            <a:pPr algn="l" indent="0" marL="0">
              <a:buNone/>
            </a:pPr>
            <a:r>
              <a:rPr lang="en-US" sz="3600" b="1" dirty="0">
                <a:solidFill>
                  <a:schemeClr val="bg1"/>
                </a:solidFill>
              </a:rPr>
              <a:t>Results</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Lucky winners made 1.96 cp more mistakes per move in their next game (p = 0.003)</a:t>
            </a:r>
            <a:endParaRPr lang="en-US" sz="2600" dirty="0"/>
          </a:p>
        </p:txBody>
      </p:sp>
      <p:sp>
        <p:nvSpPr>
          <p:cNvPr id="3" name="zone"/>
          <p:cNvSpPr/>
          <p:nvPr/>
        </p:nvSpPr>
        <p:spPr>
          <a:xfrm>
            <a:off x="3063240" y="1371600"/>
            <a:ext cx="1371600" cy="1645920"/>
          </a:xfrm>
          <a:prstGeom prst="rect">
            <a:avLst/>
          </a:prstGeom>
          <a:solidFill>
            <a:srgbClr val="EBF3FA"/>
          </a:solidFill>
          <a:ln w="12700">
            <a:solidFill>
              <a:srgbClr val="EBF3FA"/>
            </a:solidFill>
            <a:prstDash val="solid"/>
          </a:ln>
        </p:spPr>
      </p:sp>
      <p:sp>
        <p:nvSpPr>
          <p:cNvPr id="4" name="Text 2"/>
          <p:cNvSpPr txBox="1"/>
          <p:nvPr/>
        </p:nvSpPr>
        <p:spPr>
          <a:xfrm>
            <a:off x="2606040" y="3364992"/>
            <a:ext cx="2286000" cy="256032"/>
          </a:xfrm>
          <a:prstGeom prst="rect">
            <a:avLst/>
          </a:prstGeom>
          <a:noFill/>
          <a:ln/>
        </p:spPr>
        <p:txBody>
          <a:bodyPr wrap="square" lIns="0" tIns="0" rIns="0" bIns="0" rtlCol="0" anchor="t"/>
          <a:lstStyle/>
          <a:p>
            <a:pPr algn="ctr" indent="0" marL="0">
              <a:buNone/>
            </a:pPr>
            <a:r>
              <a:rPr lang="en-US" sz="1300" dirty="0">
                <a:solidFill>
                  <a:srgbClr val="2E75B6"/>
                </a:solidFill>
                <a:latin typeface="Arial" pitchFamily="34" charset="0"/>
                <a:ea typeface="Arial" pitchFamily="34" charset="-122"/>
                <a:cs typeface="Arial" pitchFamily="34" charset="-120"/>
              </a:rPr>
              <a:t>"no real difference" zone: ±2 cp</a:t>
            </a:r>
            <a:endParaRPr lang="en-US" sz="1300" dirty="0"/>
          </a:p>
        </p:txBody>
      </p:sp>
      <p:sp>
        <p:nvSpPr>
          <p:cNvPr id="5" name="zero"/>
          <p:cNvSpPr/>
          <p:nvPr/>
        </p:nvSpPr>
        <p:spPr>
          <a:xfrm>
            <a:off x="3749040" y="1325880"/>
            <a:ext cx="0" cy="1737360"/>
          </a:xfrm>
          <a:prstGeom prst="line">
            <a:avLst/>
          </a:prstGeom>
          <a:noFill/>
          <a:ln w="12700">
            <a:solidFill>
              <a:srgbClr val="777777"/>
            </a:solidFill>
            <a:prstDash val="dash"/>
          </a:ln>
        </p:spPr>
      </p:sp>
      <p:sp>
        <p:nvSpPr>
          <p:cNvPr id="6" name="Text 4"/>
          <p:cNvSpPr txBox="1"/>
          <p:nvPr/>
        </p:nvSpPr>
        <p:spPr>
          <a:xfrm>
            <a:off x="457200" y="1554480"/>
            <a:ext cx="1783080" cy="457200"/>
          </a:xfrm>
          <a:prstGeom prst="rect">
            <a:avLst/>
          </a:prstGeom>
          <a:noFill/>
          <a:ln/>
        </p:spPr>
        <p:txBody>
          <a:bodyPr wrap="square" lIns="0" tIns="0" rIns="0" bIns="0" rtlCol="0" anchor="ctr"/>
          <a:lstStyle/>
          <a:p>
            <a:pPr indent="0" marL="0">
              <a:buNone/>
            </a:pPr>
            <a:r>
              <a:rPr lang="en-US" sz="1400" b="1" dirty="0">
                <a:solidFill>
                  <a:srgbClr val="C27C0E"/>
                </a:solidFill>
                <a:latin typeface="Arial" pitchFamily="34" charset="0"/>
                <a:ea typeface="Arial" pitchFamily="34" charset="-122"/>
                <a:cs typeface="Arial" pitchFamily="34" charset="-120"/>
              </a:rPr>
              <a:t>Lucky minus deserved, 90% interval</a:t>
            </a:r>
            <a:endParaRPr lang="en-US" sz="1400" dirty="0"/>
          </a:p>
        </p:txBody>
      </p:sp>
      <p:sp>
        <p:nvSpPr>
          <p:cNvPr id="7" name="ci 0"/>
          <p:cNvSpPr/>
          <p:nvPr/>
        </p:nvSpPr>
        <p:spPr>
          <a:xfrm>
            <a:off x="4047363" y="1783080"/>
            <a:ext cx="750951" cy="0"/>
          </a:xfrm>
          <a:prstGeom prst="line">
            <a:avLst/>
          </a:prstGeom>
          <a:noFill/>
          <a:ln w="31750">
            <a:solidFill>
              <a:srgbClr val="C27C0E"/>
            </a:solidFill>
            <a:prstDash val="solid"/>
          </a:ln>
        </p:spPr>
      </p:sp>
      <p:sp>
        <p:nvSpPr>
          <p:cNvPr id="8" name="est 0"/>
          <p:cNvSpPr/>
          <p:nvPr/>
        </p:nvSpPr>
        <p:spPr>
          <a:xfrm>
            <a:off x="4347972" y="1709928"/>
            <a:ext cx="146304" cy="146304"/>
          </a:xfrm>
          <a:prstGeom prst="ellipse">
            <a:avLst/>
          </a:prstGeom>
          <a:solidFill>
            <a:srgbClr val="C27C0E"/>
          </a:solidFill>
          <a:ln w="12700">
            <a:solidFill>
              <a:srgbClr val="C27C0E"/>
            </a:solidFill>
            <a:prstDash val="solid"/>
          </a:ln>
        </p:spPr>
      </p:sp>
      <p:sp>
        <p:nvSpPr>
          <p:cNvPr id="9" name="Text 7"/>
          <p:cNvSpPr txBox="1"/>
          <p:nvPr/>
        </p:nvSpPr>
        <p:spPr>
          <a:xfrm>
            <a:off x="4871466" y="1655064"/>
            <a:ext cx="548640" cy="256032"/>
          </a:xfrm>
          <a:prstGeom prst="rect">
            <a:avLst/>
          </a:prstGeom>
          <a:noFill/>
          <a:ln/>
        </p:spPr>
        <p:txBody>
          <a:bodyPr wrap="square" lIns="0" tIns="0" rIns="0" bIns="0" rtlCol="0" anchor="ctr"/>
          <a:lstStyle/>
          <a:p>
            <a:pPr indent="0" marL="0">
              <a:buNone/>
            </a:pPr>
            <a:r>
              <a:rPr lang="en-US" sz="1300" b="1" dirty="0">
                <a:solidFill>
                  <a:srgbClr val="C27C0E"/>
                </a:solidFill>
                <a:latin typeface="Arial" pitchFamily="34" charset="0"/>
                <a:ea typeface="Arial" pitchFamily="34" charset="-122"/>
                <a:cs typeface="Arial" pitchFamily="34" charset="-120"/>
              </a:rPr>
              <a:t>+1.96</a:t>
            </a:r>
            <a:endParaRPr lang="en-US" sz="1300" dirty="0"/>
          </a:p>
        </p:txBody>
      </p:sp>
      <p:sp>
        <p:nvSpPr>
          <p:cNvPr id="10" name="Text 8"/>
          <p:cNvSpPr txBox="1"/>
          <p:nvPr/>
        </p:nvSpPr>
        <p:spPr>
          <a:xfrm>
            <a:off x="457200" y="2377440"/>
            <a:ext cx="178308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Lucky minus deserved, 95% interval</a:t>
            </a:r>
            <a:endParaRPr lang="en-US" sz="1400" dirty="0"/>
          </a:p>
        </p:txBody>
      </p:sp>
      <p:sp>
        <p:nvSpPr>
          <p:cNvPr id="11" name="ci 1"/>
          <p:cNvSpPr/>
          <p:nvPr/>
        </p:nvSpPr>
        <p:spPr>
          <a:xfrm>
            <a:off x="3975354" y="2606040"/>
            <a:ext cx="894969" cy="0"/>
          </a:xfrm>
          <a:prstGeom prst="line">
            <a:avLst/>
          </a:prstGeom>
          <a:noFill/>
          <a:ln w="31750">
            <a:solidFill>
              <a:srgbClr val="1F4E79"/>
            </a:solidFill>
            <a:prstDash val="solid"/>
          </a:ln>
        </p:spPr>
      </p:sp>
      <p:sp>
        <p:nvSpPr>
          <p:cNvPr id="12" name="est 1"/>
          <p:cNvSpPr/>
          <p:nvPr/>
        </p:nvSpPr>
        <p:spPr>
          <a:xfrm>
            <a:off x="4347972" y="2532888"/>
            <a:ext cx="146304" cy="146304"/>
          </a:xfrm>
          <a:prstGeom prst="ellipse">
            <a:avLst/>
          </a:prstGeom>
          <a:solidFill>
            <a:srgbClr val="1F4E79"/>
          </a:solidFill>
          <a:ln w="12700">
            <a:solidFill>
              <a:srgbClr val="1F4E79"/>
            </a:solidFill>
            <a:prstDash val="solid"/>
          </a:ln>
        </p:spPr>
      </p:sp>
      <p:sp>
        <p:nvSpPr>
          <p:cNvPr id="13" name="Text 11"/>
          <p:cNvSpPr txBox="1"/>
          <p:nvPr/>
        </p:nvSpPr>
        <p:spPr>
          <a:xfrm>
            <a:off x="4943475" y="2478024"/>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+1.96</a:t>
            </a:r>
            <a:endParaRPr lang="en-US" sz="1300" dirty="0"/>
          </a:p>
        </p:txBody>
      </p:sp>
      <p:sp>
        <p:nvSpPr>
          <p:cNvPr id="14" name="axis"/>
          <p:cNvSpPr/>
          <p:nvPr/>
        </p:nvSpPr>
        <p:spPr>
          <a:xfrm>
            <a:off x="2377440" y="3063240"/>
            <a:ext cx="2743200" cy="0"/>
          </a:xfrm>
          <a:prstGeom prst="line">
            <a:avLst/>
          </a:prstGeom>
          <a:noFill/>
          <a:ln w="12700">
            <a:solidFill>
              <a:srgbClr val="777777"/>
            </a:solidFill>
            <a:prstDash val="solid"/>
          </a:ln>
        </p:spPr>
      </p:sp>
      <p:sp>
        <p:nvSpPr>
          <p:cNvPr id="15" name="Text 13"/>
          <p:cNvSpPr txBox="1"/>
          <p:nvPr/>
        </p:nvSpPr>
        <p:spPr>
          <a:xfrm>
            <a:off x="2103120" y="309981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16" name="Text 14"/>
          <p:cNvSpPr txBox="1"/>
          <p:nvPr/>
        </p:nvSpPr>
        <p:spPr>
          <a:xfrm>
            <a:off x="2788920" y="309981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17" name="Text 15"/>
          <p:cNvSpPr txBox="1"/>
          <p:nvPr/>
        </p:nvSpPr>
        <p:spPr>
          <a:xfrm>
            <a:off x="3474720" y="309981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0</a:t>
            </a:r>
            <a:endParaRPr lang="en-US" sz="1300" dirty="0"/>
          </a:p>
        </p:txBody>
      </p:sp>
      <p:sp>
        <p:nvSpPr>
          <p:cNvPr id="18" name="Text 16"/>
          <p:cNvSpPr txBox="1"/>
          <p:nvPr/>
        </p:nvSpPr>
        <p:spPr>
          <a:xfrm>
            <a:off x="4160520" y="309981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19" name="Text 17"/>
          <p:cNvSpPr txBox="1"/>
          <p:nvPr/>
        </p:nvSpPr>
        <p:spPr>
          <a:xfrm>
            <a:off x="4846320" y="309981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20" name="Text 18"/>
          <p:cNvSpPr txBox="1"/>
          <p:nvPr/>
        </p:nvSpPr>
        <p:spPr>
          <a:xfrm>
            <a:off x="2377440" y="3666744"/>
            <a:ext cx="2743200" cy="256032"/>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Difference in next-game ACPL, cp</a:t>
            </a:r>
            <a:endParaRPr lang="en-US" sz="1300" dirty="0"/>
          </a:p>
        </p:txBody>
      </p:sp>
      <p:sp>
        <p:nvSpPr>
          <p:cNvPr id="21" name="Text 19"/>
          <p:cNvSpPr txBox="1"/>
          <p:nvPr/>
        </p:nvSpPr>
        <p:spPr>
          <a:xfrm>
            <a:off x="5669280" y="1234440"/>
            <a:ext cx="301752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What it means</a:t>
            </a:r>
            <a:endParaRPr lang="en-US" sz="2000" dirty="0"/>
          </a:p>
        </p:txBody>
      </p:sp>
      <p:sp>
        <p:nvSpPr>
          <p:cNvPr id="22" name="Text 20"/>
          <p:cNvSpPr txBox="1"/>
          <p:nvPr/>
        </p:nvSpPr>
        <p:spPr>
          <a:xfrm>
            <a:off x="5669280" y="1691640"/>
            <a:ext cx="301752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Not chance: p = 0.003</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Not equal: it leaves the ±2 zone</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Official verdict: inconclusive, as 1.96 &lt; 2</a:t>
            </a:r>
            <a:endParaRPr lang="en-US" sz="2000" dirty="0"/>
          </a:p>
        </p:txBody>
      </p:sp>
      <p:sp>
        <p:nvSpPr>
          <p:cNvPr id="23" name="Text 21"/>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Raw means: 74.38 cp after a lucky win, 72.28 after a deserved win; 12,033 and 11,962 pairs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Every check gives the same answer: lucky winners play 1.8 to 2.3 cp worse</a:t>
            </a:r>
            <a:endParaRPr lang="en-US" sz="2600" dirty="0"/>
          </a:p>
        </p:txBody>
      </p:sp>
      <p:sp>
        <p:nvSpPr>
          <p:cNvPr id="3" name="zero"/>
          <p:cNvSpPr/>
          <p:nvPr/>
        </p:nvSpPr>
        <p:spPr>
          <a:xfrm>
            <a:off x="3879669" y="1143000"/>
            <a:ext cx="0" cy="2670048"/>
          </a:xfrm>
          <a:prstGeom prst="line">
            <a:avLst/>
          </a:prstGeom>
          <a:noFill/>
          <a:ln w="12700">
            <a:solidFill>
              <a:srgbClr val="777777"/>
            </a:solidFill>
            <a:prstDash val="dash"/>
          </a:ln>
        </p:spPr>
      </p:sp>
      <p:sp>
        <p:nvSpPr>
          <p:cNvPr id="4" name="Text 2"/>
          <p:cNvSpPr txBox="1"/>
          <p:nvPr/>
        </p:nvSpPr>
        <p:spPr>
          <a:xfrm>
            <a:off x="457200" y="1175004"/>
            <a:ext cx="2240280" cy="457200"/>
          </a:xfrm>
          <a:prstGeom prst="rect">
            <a:avLst/>
          </a:prstGeom>
          <a:noFill/>
          <a:ln/>
        </p:spPr>
        <p:txBody>
          <a:bodyPr wrap="square" lIns="0" tIns="0" rIns="0" bIns="0" rtlCol="0" anchor="ctr"/>
          <a:lstStyle/>
          <a:p>
            <a:pPr indent="0" marL="0">
              <a:buNone/>
            </a:pPr>
            <a:r>
              <a:rPr lang="en-US" sz="1400" b="1" dirty="0">
                <a:solidFill>
                  <a:srgbClr val="C27C0E"/>
                </a:solidFill>
                <a:latin typeface="Arial" pitchFamily="34" charset="0"/>
                <a:ea typeface="Arial" pitchFamily="34" charset="-122"/>
                <a:cs typeface="Arial" pitchFamily="34" charset="-120"/>
              </a:rPr>
              <a:t>Main result</a:t>
            </a:r>
            <a:endParaRPr lang="en-US" sz="1400" dirty="0"/>
          </a:p>
        </p:txBody>
      </p:sp>
      <p:sp>
        <p:nvSpPr>
          <p:cNvPr id="5" name="ci 0"/>
          <p:cNvSpPr/>
          <p:nvPr/>
        </p:nvSpPr>
        <p:spPr>
          <a:xfrm>
            <a:off x="4224528" y="1403604"/>
            <a:ext cx="1363762" cy="0"/>
          </a:xfrm>
          <a:prstGeom prst="line">
            <a:avLst/>
          </a:prstGeom>
          <a:noFill/>
          <a:ln w="31750">
            <a:solidFill>
              <a:srgbClr val="C27C0E"/>
            </a:solidFill>
            <a:prstDash val="solid"/>
          </a:ln>
        </p:spPr>
      </p:sp>
      <p:sp>
        <p:nvSpPr>
          <p:cNvPr id="6" name="est 0"/>
          <p:cNvSpPr/>
          <p:nvPr/>
        </p:nvSpPr>
        <p:spPr>
          <a:xfrm>
            <a:off x="4830645" y="1330452"/>
            <a:ext cx="146304" cy="146304"/>
          </a:xfrm>
          <a:prstGeom prst="ellipse">
            <a:avLst/>
          </a:prstGeom>
          <a:solidFill>
            <a:srgbClr val="C27C0E"/>
          </a:solidFill>
          <a:ln w="12700">
            <a:solidFill>
              <a:srgbClr val="C27C0E"/>
            </a:solidFill>
            <a:prstDash val="solid"/>
          </a:ln>
        </p:spPr>
      </p:sp>
      <p:sp>
        <p:nvSpPr>
          <p:cNvPr id="7" name="Text 5"/>
          <p:cNvSpPr txBox="1"/>
          <p:nvPr/>
        </p:nvSpPr>
        <p:spPr>
          <a:xfrm>
            <a:off x="5661442" y="1275588"/>
            <a:ext cx="548640" cy="256032"/>
          </a:xfrm>
          <a:prstGeom prst="rect">
            <a:avLst/>
          </a:prstGeom>
          <a:noFill/>
          <a:ln/>
        </p:spPr>
        <p:txBody>
          <a:bodyPr wrap="square" lIns="0" tIns="0" rIns="0" bIns="0" rtlCol="0" anchor="ctr"/>
          <a:lstStyle/>
          <a:p>
            <a:pPr indent="0" marL="0">
              <a:buNone/>
            </a:pPr>
            <a:r>
              <a:rPr lang="en-US" sz="1300" b="1" dirty="0">
                <a:solidFill>
                  <a:srgbClr val="C27C0E"/>
                </a:solidFill>
                <a:latin typeface="Arial" pitchFamily="34" charset="0"/>
                <a:ea typeface="Arial" pitchFamily="34" charset="-122"/>
                <a:cs typeface="Arial" pitchFamily="34" charset="-120"/>
              </a:rPr>
              <a:t>+1.96</a:t>
            </a:r>
            <a:endParaRPr lang="en-US" sz="1300" dirty="0"/>
          </a:p>
        </p:txBody>
      </p:sp>
      <p:sp>
        <p:nvSpPr>
          <p:cNvPr id="8" name="Text 6"/>
          <p:cNvSpPr txBox="1"/>
          <p:nvPr/>
        </p:nvSpPr>
        <p:spPr>
          <a:xfrm>
            <a:off x="457200" y="1604772"/>
            <a:ext cx="224028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10-minute games only</a:t>
            </a:r>
            <a:endParaRPr lang="en-US" sz="1400" dirty="0"/>
          </a:p>
        </p:txBody>
      </p:sp>
      <p:sp>
        <p:nvSpPr>
          <p:cNvPr id="9" name="ci 1"/>
          <p:cNvSpPr/>
          <p:nvPr/>
        </p:nvSpPr>
        <p:spPr>
          <a:xfrm>
            <a:off x="4308130" y="1833372"/>
            <a:ext cx="1536192" cy="0"/>
          </a:xfrm>
          <a:prstGeom prst="line">
            <a:avLst/>
          </a:prstGeom>
          <a:noFill/>
          <a:ln w="31750">
            <a:solidFill>
              <a:srgbClr val="1F4E79"/>
            </a:solidFill>
            <a:prstDash val="solid"/>
          </a:ln>
        </p:spPr>
      </p:sp>
      <p:sp>
        <p:nvSpPr>
          <p:cNvPr id="10" name="est 1"/>
          <p:cNvSpPr/>
          <p:nvPr/>
        </p:nvSpPr>
        <p:spPr>
          <a:xfrm>
            <a:off x="5003074" y="1760220"/>
            <a:ext cx="146304" cy="146304"/>
          </a:xfrm>
          <a:prstGeom prst="ellipse">
            <a:avLst/>
          </a:prstGeom>
          <a:solidFill>
            <a:srgbClr val="1F4E79"/>
          </a:solidFill>
          <a:ln w="12700">
            <a:solidFill>
              <a:srgbClr val="1F4E79"/>
            </a:solidFill>
            <a:prstDash val="solid"/>
          </a:ln>
        </p:spPr>
      </p:sp>
      <p:sp>
        <p:nvSpPr>
          <p:cNvPr id="11" name="Text 9"/>
          <p:cNvSpPr txBox="1"/>
          <p:nvPr/>
        </p:nvSpPr>
        <p:spPr>
          <a:xfrm>
            <a:off x="5917474" y="1705356"/>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+2.29</a:t>
            </a:r>
            <a:endParaRPr lang="en-US" sz="1300" dirty="0"/>
          </a:p>
        </p:txBody>
      </p:sp>
      <p:sp>
        <p:nvSpPr>
          <p:cNvPr id="12" name="Text 10"/>
          <p:cNvSpPr txBox="1"/>
          <p:nvPr/>
        </p:nvSpPr>
        <p:spPr>
          <a:xfrm>
            <a:off x="457200" y="2034540"/>
            <a:ext cx="224028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Rematches removed</a:t>
            </a:r>
            <a:endParaRPr lang="en-US" sz="1400" dirty="0"/>
          </a:p>
        </p:txBody>
      </p:sp>
      <p:sp>
        <p:nvSpPr>
          <p:cNvPr id="13" name="ci 2"/>
          <p:cNvSpPr/>
          <p:nvPr/>
        </p:nvSpPr>
        <p:spPr>
          <a:xfrm>
            <a:off x="4156601" y="2263140"/>
            <a:ext cx="1384663" cy="0"/>
          </a:xfrm>
          <a:prstGeom prst="line">
            <a:avLst/>
          </a:prstGeom>
          <a:noFill/>
          <a:ln w="31750">
            <a:solidFill>
              <a:srgbClr val="1F4E79"/>
            </a:solidFill>
            <a:prstDash val="solid"/>
          </a:ln>
        </p:spPr>
      </p:sp>
      <p:sp>
        <p:nvSpPr>
          <p:cNvPr id="14" name="est 2"/>
          <p:cNvSpPr/>
          <p:nvPr/>
        </p:nvSpPr>
        <p:spPr>
          <a:xfrm>
            <a:off x="4773168" y="2189988"/>
            <a:ext cx="146304" cy="146304"/>
          </a:xfrm>
          <a:prstGeom prst="ellipse">
            <a:avLst/>
          </a:prstGeom>
          <a:solidFill>
            <a:srgbClr val="1F4E79"/>
          </a:solidFill>
          <a:ln w="12700">
            <a:solidFill>
              <a:srgbClr val="1F4E79"/>
            </a:solidFill>
            <a:prstDash val="solid"/>
          </a:ln>
        </p:spPr>
      </p:sp>
      <p:sp>
        <p:nvSpPr>
          <p:cNvPr id="15" name="Text 13"/>
          <p:cNvSpPr txBox="1"/>
          <p:nvPr/>
        </p:nvSpPr>
        <p:spPr>
          <a:xfrm>
            <a:off x="5614416" y="2135124"/>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+1.85</a:t>
            </a:r>
            <a:endParaRPr lang="en-US" sz="1300" dirty="0"/>
          </a:p>
        </p:txBody>
      </p:sp>
      <p:sp>
        <p:nvSpPr>
          <p:cNvPr id="16" name="Text 14"/>
          <p:cNvSpPr txBox="1"/>
          <p:nvPr/>
        </p:nvSpPr>
        <p:spPr>
          <a:xfrm>
            <a:off x="457200" y="2464308"/>
            <a:ext cx="224028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Rating 1200–1600</a:t>
            </a:r>
            <a:endParaRPr lang="en-US" sz="1400" dirty="0"/>
          </a:p>
        </p:txBody>
      </p:sp>
      <p:sp>
        <p:nvSpPr>
          <p:cNvPr id="17" name="ci 3"/>
          <p:cNvSpPr/>
          <p:nvPr/>
        </p:nvSpPr>
        <p:spPr>
          <a:xfrm>
            <a:off x="3790841" y="2692908"/>
            <a:ext cx="2074382" cy="0"/>
          </a:xfrm>
          <a:prstGeom prst="line">
            <a:avLst/>
          </a:prstGeom>
          <a:noFill/>
          <a:ln w="31750">
            <a:solidFill>
              <a:srgbClr val="1F4E79"/>
            </a:solidFill>
            <a:prstDash val="solid"/>
          </a:ln>
        </p:spPr>
      </p:sp>
      <p:sp>
        <p:nvSpPr>
          <p:cNvPr id="18" name="est 3"/>
          <p:cNvSpPr/>
          <p:nvPr/>
        </p:nvSpPr>
        <p:spPr>
          <a:xfrm>
            <a:off x="4757493" y="2619756"/>
            <a:ext cx="146304" cy="146304"/>
          </a:xfrm>
          <a:prstGeom prst="ellipse">
            <a:avLst/>
          </a:prstGeom>
          <a:solidFill>
            <a:srgbClr val="1F4E79"/>
          </a:solidFill>
          <a:ln w="12700">
            <a:solidFill>
              <a:srgbClr val="1F4E79"/>
            </a:solidFill>
            <a:prstDash val="solid"/>
          </a:ln>
        </p:spPr>
      </p:sp>
      <p:sp>
        <p:nvSpPr>
          <p:cNvPr id="19" name="Text 17"/>
          <p:cNvSpPr txBox="1"/>
          <p:nvPr/>
        </p:nvSpPr>
        <p:spPr>
          <a:xfrm>
            <a:off x="5938375" y="2564892"/>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+1.82</a:t>
            </a:r>
            <a:endParaRPr lang="en-US" sz="1300" dirty="0"/>
          </a:p>
        </p:txBody>
      </p:sp>
      <p:sp>
        <p:nvSpPr>
          <p:cNvPr id="20" name="Text 18"/>
          <p:cNvSpPr txBox="1"/>
          <p:nvPr/>
        </p:nvSpPr>
        <p:spPr>
          <a:xfrm>
            <a:off x="457200" y="2894076"/>
            <a:ext cx="224028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Rating 1600–2000</a:t>
            </a:r>
            <a:endParaRPr lang="en-US" sz="1400" dirty="0"/>
          </a:p>
        </p:txBody>
      </p:sp>
      <p:sp>
        <p:nvSpPr>
          <p:cNvPr id="21" name="ci 4"/>
          <p:cNvSpPr/>
          <p:nvPr/>
        </p:nvSpPr>
        <p:spPr>
          <a:xfrm>
            <a:off x="4120025" y="3122676"/>
            <a:ext cx="1734747" cy="0"/>
          </a:xfrm>
          <a:prstGeom prst="line">
            <a:avLst/>
          </a:prstGeom>
          <a:noFill/>
          <a:ln w="31750">
            <a:solidFill>
              <a:srgbClr val="1F4E79"/>
            </a:solidFill>
            <a:prstDash val="solid"/>
          </a:ln>
        </p:spPr>
      </p:sp>
      <p:sp>
        <p:nvSpPr>
          <p:cNvPr id="22" name="est 4"/>
          <p:cNvSpPr/>
          <p:nvPr/>
        </p:nvSpPr>
        <p:spPr>
          <a:xfrm>
            <a:off x="4914247" y="3049524"/>
            <a:ext cx="146304" cy="146304"/>
          </a:xfrm>
          <a:prstGeom prst="ellipse">
            <a:avLst/>
          </a:prstGeom>
          <a:solidFill>
            <a:srgbClr val="1F4E79"/>
          </a:solidFill>
          <a:ln w="12700">
            <a:solidFill>
              <a:srgbClr val="1F4E79"/>
            </a:solidFill>
            <a:prstDash val="solid"/>
          </a:ln>
        </p:spPr>
      </p:sp>
      <p:sp>
        <p:nvSpPr>
          <p:cNvPr id="23" name="Text 21"/>
          <p:cNvSpPr txBox="1"/>
          <p:nvPr/>
        </p:nvSpPr>
        <p:spPr>
          <a:xfrm>
            <a:off x="5927925" y="2994660"/>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+2.12</a:t>
            </a:r>
            <a:endParaRPr lang="en-US" sz="1300" dirty="0"/>
          </a:p>
        </p:txBody>
      </p:sp>
      <p:sp>
        <p:nvSpPr>
          <p:cNvPr id="24" name="Text 22"/>
          <p:cNvSpPr txBox="1"/>
          <p:nvPr/>
        </p:nvSpPr>
        <p:spPr>
          <a:xfrm>
            <a:off x="457200" y="3323844"/>
            <a:ext cx="224028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Lucky = losing by 3+ pawns</a:t>
            </a:r>
            <a:endParaRPr lang="en-US" sz="1400" dirty="0"/>
          </a:p>
        </p:txBody>
      </p:sp>
      <p:sp>
        <p:nvSpPr>
          <p:cNvPr id="25" name="ci 5"/>
          <p:cNvSpPr/>
          <p:nvPr/>
        </p:nvSpPr>
        <p:spPr>
          <a:xfrm>
            <a:off x="4146151" y="3552444"/>
            <a:ext cx="1473490" cy="0"/>
          </a:xfrm>
          <a:prstGeom prst="line">
            <a:avLst/>
          </a:prstGeom>
          <a:noFill/>
          <a:ln w="31750">
            <a:solidFill>
              <a:srgbClr val="1F4E79"/>
            </a:solidFill>
            <a:prstDash val="solid"/>
          </a:ln>
        </p:spPr>
      </p:sp>
      <p:sp>
        <p:nvSpPr>
          <p:cNvPr id="26" name="est 5"/>
          <p:cNvSpPr/>
          <p:nvPr/>
        </p:nvSpPr>
        <p:spPr>
          <a:xfrm>
            <a:off x="4809744" y="3479292"/>
            <a:ext cx="146304" cy="146304"/>
          </a:xfrm>
          <a:prstGeom prst="ellipse">
            <a:avLst/>
          </a:prstGeom>
          <a:solidFill>
            <a:srgbClr val="1F4E79"/>
          </a:solidFill>
          <a:ln w="12700">
            <a:solidFill>
              <a:srgbClr val="1F4E79"/>
            </a:solidFill>
            <a:prstDash val="solid"/>
          </a:ln>
        </p:spPr>
      </p:sp>
      <p:sp>
        <p:nvSpPr>
          <p:cNvPr id="27" name="Text 25"/>
          <p:cNvSpPr txBox="1"/>
          <p:nvPr/>
        </p:nvSpPr>
        <p:spPr>
          <a:xfrm>
            <a:off x="5692793" y="3424428"/>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+1.92</a:t>
            </a:r>
            <a:endParaRPr lang="en-US" sz="1300" dirty="0"/>
          </a:p>
        </p:txBody>
      </p:sp>
      <p:sp>
        <p:nvSpPr>
          <p:cNvPr id="28" name="axis"/>
          <p:cNvSpPr/>
          <p:nvPr/>
        </p:nvSpPr>
        <p:spPr>
          <a:xfrm>
            <a:off x="2834640" y="3813048"/>
            <a:ext cx="3657600" cy="0"/>
          </a:xfrm>
          <a:prstGeom prst="line">
            <a:avLst/>
          </a:prstGeom>
          <a:noFill/>
          <a:ln w="12700">
            <a:solidFill>
              <a:srgbClr val="777777"/>
            </a:solidFill>
            <a:prstDash val="solid"/>
          </a:ln>
        </p:spPr>
      </p:sp>
      <p:sp>
        <p:nvSpPr>
          <p:cNvPr id="29" name="Text 27"/>
          <p:cNvSpPr txBox="1"/>
          <p:nvPr/>
        </p:nvSpPr>
        <p:spPr>
          <a:xfrm>
            <a:off x="2560320" y="3849624"/>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30" name="Text 28"/>
          <p:cNvSpPr txBox="1"/>
          <p:nvPr/>
        </p:nvSpPr>
        <p:spPr>
          <a:xfrm>
            <a:off x="3605349" y="3849624"/>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0</a:t>
            </a:r>
            <a:endParaRPr lang="en-US" sz="1300" dirty="0"/>
          </a:p>
        </p:txBody>
      </p:sp>
      <p:sp>
        <p:nvSpPr>
          <p:cNvPr id="31" name="Text 29"/>
          <p:cNvSpPr txBox="1"/>
          <p:nvPr/>
        </p:nvSpPr>
        <p:spPr>
          <a:xfrm>
            <a:off x="4650377" y="3849624"/>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32" name="Text 30"/>
          <p:cNvSpPr txBox="1"/>
          <p:nvPr/>
        </p:nvSpPr>
        <p:spPr>
          <a:xfrm>
            <a:off x="5695406" y="3849624"/>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33" name="Text 31"/>
          <p:cNvSpPr txBox="1"/>
          <p:nvPr/>
        </p:nvSpPr>
        <p:spPr>
          <a:xfrm>
            <a:off x="2834640" y="4416552"/>
            <a:ext cx="3657600" cy="256032"/>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Lucky minus deserved, cp (95% interval)</a:t>
            </a:r>
            <a:endParaRPr lang="en-US" sz="1300" dirty="0"/>
          </a:p>
        </p:txBody>
      </p:sp>
      <p:sp>
        <p:nvSpPr>
          <p:cNvPr id="34" name="Text 32"/>
          <p:cNvSpPr txBox="1"/>
          <p:nvPr/>
        </p:nvSpPr>
        <p:spPr>
          <a:xfrm>
            <a:off x="6766560" y="1188720"/>
            <a:ext cx="192024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Why checks</a:t>
            </a:r>
            <a:endParaRPr lang="en-US" sz="2000" dirty="0"/>
          </a:p>
        </p:txBody>
      </p:sp>
      <p:sp>
        <p:nvSpPr>
          <p:cNvPr id="35" name="Text 33"/>
          <p:cNvSpPr txBox="1"/>
          <p:nvPr/>
        </p:nvSpPr>
        <p:spPr>
          <a:xfrm>
            <a:off x="6766560" y="1645920"/>
            <a:ext cx="1920240" cy="201168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A real effect should survive changes to the method.</a:t>
            </a:r>
            <a:endParaRPr lang="en-US" sz="2000" dirty="0"/>
          </a:p>
        </p:txBody>
      </p:sp>
      <p:sp>
        <p:nvSpPr>
          <p:cNvPr id="36" name="Text 34"/>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A mixed model with a separate starting level per player also gave 1.96 cp (95% interval 0.66 to 3.27)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The type of win itself still barely matters: every gap stayed within about 3 cp</a:t>
            </a:r>
            <a:endParaRPr lang="en-US" sz="2600" dirty="0"/>
          </a:p>
        </p:txBody>
      </p:sp>
      <p:sp>
        <p:nvSpPr>
          <p:cNvPr id="3" name="zone"/>
          <p:cNvSpPr/>
          <p:nvPr/>
        </p:nvSpPr>
        <p:spPr>
          <a:xfrm>
            <a:off x="3051810" y="1325880"/>
            <a:ext cx="2400300" cy="1975104"/>
          </a:xfrm>
          <a:prstGeom prst="rect">
            <a:avLst/>
          </a:prstGeom>
          <a:solidFill>
            <a:srgbClr val="EBF3FA"/>
          </a:solidFill>
          <a:ln w="12700">
            <a:solidFill>
              <a:srgbClr val="EBF3FA"/>
            </a:solidFill>
            <a:prstDash val="solid"/>
          </a:ln>
        </p:spPr>
      </p:sp>
      <p:sp>
        <p:nvSpPr>
          <p:cNvPr id="4" name="Text 2"/>
          <p:cNvSpPr txBox="1"/>
          <p:nvPr/>
        </p:nvSpPr>
        <p:spPr>
          <a:xfrm>
            <a:off x="2594610" y="3648456"/>
            <a:ext cx="3314700" cy="256032"/>
          </a:xfrm>
          <a:prstGeom prst="rect">
            <a:avLst/>
          </a:prstGeom>
          <a:noFill/>
          <a:ln/>
        </p:spPr>
        <p:txBody>
          <a:bodyPr wrap="square" lIns="0" tIns="0" rIns="0" bIns="0" rtlCol="0" anchor="t"/>
          <a:lstStyle/>
          <a:p>
            <a:pPr algn="ctr" indent="0" marL="0">
              <a:buNone/>
            </a:pPr>
            <a:r>
              <a:rPr lang="en-US" sz="1300" dirty="0">
                <a:solidFill>
                  <a:srgbClr val="2E75B6"/>
                </a:solidFill>
                <a:latin typeface="Arial" pitchFamily="34" charset="0"/>
                <a:ea typeface="Arial" pitchFamily="34" charset="-122"/>
                <a:cs typeface="Arial" pitchFamily="34" charset="-120"/>
              </a:rPr>
              <a:t>"no real difference" zone: ±3 cp</a:t>
            </a:r>
            <a:endParaRPr lang="en-US" sz="1300" dirty="0"/>
          </a:p>
        </p:txBody>
      </p:sp>
      <p:sp>
        <p:nvSpPr>
          <p:cNvPr id="5" name="zero"/>
          <p:cNvSpPr/>
          <p:nvPr/>
        </p:nvSpPr>
        <p:spPr>
          <a:xfrm>
            <a:off x="4251960" y="1280160"/>
            <a:ext cx="0" cy="2066544"/>
          </a:xfrm>
          <a:prstGeom prst="line">
            <a:avLst/>
          </a:prstGeom>
          <a:noFill/>
          <a:ln w="12700">
            <a:solidFill>
              <a:srgbClr val="777777"/>
            </a:solidFill>
            <a:prstDash val="dash"/>
          </a:ln>
        </p:spPr>
      </p:sp>
      <p:sp>
        <p:nvSpPr>
          <p:cNvPr id="6" name="Text 4"/>
          <p:cNvSpPr txBox="1"/>
          <p:nvPr/>
        </p:nvSpPr>
        <p:spPr>
          <a:xfrm>
            <a:off x="457200" y="1426464"/>
            <a:ext cx="205740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Time minus checkmate</a:t>
            </a:r>
            <a:endParaRPr lang="en-US" sz="1400" dirty="0"/>
          </a:p>
        </p:txBody>
      </p:sp>
      <p:sp>
        <p:nvSpPr>
          <p:cNvPr id="7" name="ci 0"/>
          <p:cNvSpPr/>
          <p:nvPr/>
        </p:nvSpPr>
        <p:spPr>
          <a:xfrm>
            <a:off x="3415856" y="1655064"/>
            <a:ext cx="1240155" cy="0"/>
          </a:xfrm>
          <a:prstGeom prst="line">
            <a:avLst/>
          </a:prstGeom>
          <a:noFill/>
          <a:ln w="31750">
            <a:solidFill>
              <a:srgbClr val="1F4E79"/>
            </a:solidFill>
            <a:prstDash val="solid"/>
          </a:ln>
        </p:spPr>
      </p:sp>
      <p:sp>
        <p:nvSpPr>
          <p:cNvPr id="8" name="est 0"/>
          <p:cNvSpPr/>
          <p:nvPr/>
        </p:nvSpPr>
        <p:spPr>
          <a:xfrm>
            <a:off x="3962781" y="1581912"/>
            <a:ext cx="146304" cy="146304"/>
          </a:xfrm>
          <a:prstGeom prst="ellipse">
            <a:avLst/>
          </a:prstGeom>
          <a:solidFill>
            <a:srgbClr val="1F4E79"/>
          </a:solidFill>
          <a:ln w="12700">
            <a:solidFill>
              <a:srgbClr val="1F4E79"/>
            </a:solidFill>
            <a:prstDash val="solid"/>
          </a:ln>
        </p:spPr>
      </p:sp>
      <p:sp>
        <p:nvSpPr>
          <p:cNvPr id="9" name="Text 7"/>
          <p:cNvSpPr txBox="1"/>
          <p:nvPr/>
        </p:nvSpPr>
        <p:spPr>
          <a:xfrm>
            <a:off x="4729163" y="1527048"/>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-0.54</a:t>
            </a:r>
            <a:endParaRPr lang="en-US" sz="1300" dirty="0"/>
          </a:p>
        </p:txBody>
      </p:sp>
      <p:sp>
        <p:nvSpPr>
          <p:cNvPr id="10" name="Text 8"/>
          <p:cNvSpPr txBox="1"/>
          <p:nvPr/>
        </p:nvSpPr>
        <p:spPr>
          <a:xfrm>
            <a:off x="457200" y="2084832"/>
            <a:ext cx="205740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Resignation minus checkmate</a:t>
            </a:r>
            <a:endParaRPr lang="en-US" sz="1400" dirty="0"/>
          </a:p>
        </p:txBody>
      </p:sp>
      <p:sp>
        <p:nvSpPr>
          <p:cNvPr id="11" name="ci 1"/>
          <p:cNvSpPr/>
          <p:nvPr/>
        </p:nvSpPr>
        <p:spPr>
          <a:xfrm>
            <a:off x="4011930" y="2313432"/>
            <a:ext cx="1256157" cy="0"/>
          </a:xfrm>
          <a:prstGeom prst="line">
            <a:avLst/>
          </a:prstGeom>
          <a:noFill/>
          <a:ln w="31750">
            <a:solidFill>
              <a:srgbClr val="1F4E79"/>
            </a:solidFill>
            <a:prstDash val="solid"/>
          </a:ln>
        </p:spPr>
      </p:sp>
      <p:sp>
        <p:nvSpPr>
          <p:cNvPr id="12" name="est 1"/>
          <p:cNvSpPr/>
          <p:nvPr/>
        </p:nvSpPr>
        <p:spPr>
          <a:xfrm>
            <a:off x="4566857" y="2240280"/>
            <a:ext cx="146304" cy="146304"/>
          </a:xfrm>
          <a:prstGeom prst="ellipse">
            <a:avLst/>
          </a:prstGeom>
          <a:solidFill>
            <a:srgbClr val="1F4E79"/>
          </a:solidFill>
          <a:ln w="12700">
            <a:solidFill>
              <a:srgbClr val="1F4E79"/>
            </a:solidFill>
            <a:prstDash val="solid"/>
          </a:ln>
        </p:spPr>
      </p:sp>
      <p:sp>
        <p:nvSpPr>
          <p:cNvPr id="13" name="Text 11"/>
          <p:cNvSpPr txBox="1"/>
          <p:nvPr/>
        </p:nvSpPr>
        <p:spPr>
          <a:xfrm>
            <a:off x="5341239" y="2185416"/>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+0.97</a:t>
            </a:r>
            <a:endParaRPr lang="en-US" sz="1300" dirty="0"/>
          </a:p>
        </p:txBody>
      </p:sp>
      <p:sp>
        <p:nvSpPr>
          <p:cNvPr id="14" name="Text 12"/>
          <p:cNvSpPr txBox="1"/>
          <p:nvPr/>
        </p:nvSpPr>
        <p:spPr>
          <a:xfrm>
            <a:off x="457200" y="2743200"/>
            <a:ext cx="2057400" cy="457200"/>
          </a:xfrm>
          <a:prstGeom prst="rect">
            <a:avLst/>
          </a:prstGeom>
          <a:noFill/>
          <a:ln/>
        </p:spPr>
        <p:txBody>
          <a:bodyPr wrap="square" lIns="0" tIns="0" rIns="0" bIns="0" rtlCol="0" anchor="ctr"/>
          <a:lstStyle/>
          <a:p>
            <a:pPr indent="0" marL="0">
              <a:buNone/>
            </a:pPr>
            <a:r>
              <a:rPr lang="en-US" sz="1400" b="1" dirty="0">
                <a:solidFill>
                  <a:srgbClr val="C27C0E"/>
                </a:solidFill>
                <a:latin typeface="Arial" pitchFamily="34" charset="0"/>
                <a:ea typeface="Arial" pitchFamily="34" charset="-122"/>
                <a:cs typeface="Arial" pitchFamily="34" charset="-120"/>
              </a:rPr>
              <a:t>Time minus resignation</a:t>
            </a:r>
            <a:endParaRPr lang="en-US" sz="1400" dirty="0"/>
          </a:p>
        </p:txBody>
      </p:sp>
      <p:sp>
        <p:nvSpPr>
          <p:cNvPr id="15" name="ci 2"/>
          <p:cNvSpPr/>
          <p:nvPr/>
        </p:nvSpPr>
        <p:spPr>
          <a:xfrm>
            <a:off x="3031808" y="2971800"/>
            <a:ext cx="1232154" cy="0"/>
          </a:xfrm>
          <a:prstGeom prst="line">
            <a:avLst/>
          </a:prstGeom>
          <a:noFill/>
          <a:ln w="31750">
            <a:solidFill>
              <a:srgbClr val="C27C0E"/>
            </a:solidFill>
            <a:prstDash val="solid"/>
          </a:ln>
        </p:spPr>
      </p:sp>
      <p:sp>
        <p:nvSpPr>
          <p:cNvPr id="16" name="est 2"/>
          <p:cNvSpPr/>
          <p:nvPr/>
        </p:nvSpPr>
        <p:spPr>
          <a:xfrm>
            <a:off x="3574733" y="2898648"/>
            <a:ext cx="146304" cy="146304"/>
          </a:xfrm>
          <a:prstGeom prst="ellipse">
            <a:avLst/>
          </a:prstGeom>
          <a:solidFill>
            <a:srgbClr val="C27C0E"/>
          </a:solidFill>
          <a:ln w="12700">
            <a:solidFill>
              <a:srgbClr val="C27C0E"/>
            </a:solidFill>
            <a:prstDash val="solid"/>
          </a:ln>
        </p:spPr>
      </p:sp>
      <p:sp>
        <p:nvSpPr>
          <p:cNvPr id="17" name="Text 15"/>
          <p:cNvSpPr txBox="1"/>
          <p:nvPr/>
        </p:nvSpPr>
        <p:spPr>
          <a:xfrm>
            <a:off x="4337114" y="2843784"/>
            <a:ext cx="548640" cy="256032"/>
          </a:xfrm>
          <a:prstGeom prst="rect">
            <a:avLst/>
          </a:prstGeom>
          <a:noFill/>
          <a:ln/>
        </p:spPr>
        <p:txBody>
          <a:bodyPr wrap="square" lIns="0" tIns="0" rIns="0" bIns="0" rtlCol="0" anchor="ctr"/>
          <a:lstStyle/>
          <a:p>
            <a:pPr indent="0" marL="0">
              <a:buNone/>
            </a:pPr>
            <a:r>
              <a:rPr lang="en-US" sz="1300" b="1" dirty="0">
                <a:solidFill>
                  <a:srgbClr val="C27C0E"/>
                </a:solidFill>
                <a:latin typeface="Arial" pitchFamily="34" charset="0"/>
                <a:ea typeface="Arial" pitchFamily="34" charset="-122"/>
                <a:cs typeface="Arial" pitchFamily="34" charset="-120"/>
              </a:rPr>
              <a:t>-1.51</a:t>
            </a:r>
            <a:endParaRPr lang="en-US" sz="1300" dirty="0"/>
          </a:p>
        </p:txBody>
      </p:sp>
      <p:sp>
        <p:nvSpPr>
          <p:cNvPr id="18" name="axis"/>
          <p:cNvSpPr/>
          <p:nvPr/>
        </p:nvSpPr>
        <p:spPr>
          <a:xfrm>
            <a:off x="2651760" y="3346704"/>
            <a:ext cx="3200400" cy="0"/>
          </a:xfrm>
          <a:prstGeom prst="line">
            <a:avLst/>
          </a:prstGeom>
          <a:noFill/>
          <a:ln w="12700">
            <a:solidFill>
              <a:srgbClr val="777777"/>
            </a:solidFill>
            <a:prstDash val="solid"/>
          </a:ln>
        </p:spPr>
      </p:sp>
      <p:sp>
        <p:nvSpPr>
          <p:cNvPr id="19" name="Text 17"/>
          <p:cNvSpPr txBox="1"/>
          <p:nvPr/>
        </p:nvSpPr>
        <p:spPr>
          <a:xfrm>
            <a:off x="2377440" y="338328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20" name="Text 18"/>
          <p:cNvSpPr txBox="1"/>
          <p:nvPr/>
        </p:nvSpPr>
        <p:spPr>
          <a:xfrm>
            <a:off x="3177540" y="338328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21" name="Text 19"/>
          <p:cNvSpPr txBox="1"/>
          <p:nvPr/>
        </p:nvSpPr>
        <p:spPr>
          <a:xfrm>
            <a:off x="3977640" y="338328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0</a:t>
            </a:r>
            <a:endParaRPr lang="en-US" sz="1300" dirty="0"/>
          </a:p>
        </p:txBody>
      </p:sp>
      <p:sp>
        <p:nvSpPr>
          <p:cNvPr id="22" name="Text 20"/>
          <p:cNvSpPr txBox="1"/>
          <p:nvPr/>
        </p:nvSpPr>
        <p:spPr>
          <a:xfrm>
            <a:off x="4777740" y="338328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23" name="Text 21"/>
          <p:cNvSpPr txBox="1"/>
          <p:nvPr/>
        </p:nvSpPr>
        <p:spPr>
          <a:xfrm>
            <a:off x="5577840" y="338328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2651760" y="3950208"/>
            <a:ext cx="3200400" cy="256032"/>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Difference in next-game ACPL, cp (90% interval)</a:t>
            </a:r>
            <a:endParaRPr lang="en-US" sz="1300" dirty="0"/>
          </a:p>
        </p:txBody>
      </p:sp>
      <p:sp>
        <p:nvSpPr>
          <p:cNvPr id="25" name="Text 23"/>
          <p:cNvSpPr txBox="1"/>
          <p:nvPr/>
        </p:nvSpPr>
        <p:spPr>
          <a:xfrm>
            <a:off x="6035040" y="1234440"/>
            <a:ext cx="265176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Verdict: inconclusive</a:t>
            </a:r>
            <a:endParaRPr lang="en-US" sz="2000" dirty="0"/>
          </a:p>
        </p:txBody>
      </p:sp>
      <p:sp>
        <p:nvSpPr>
          <p:cNvPr id="26" name="Text 24"/>
          <p:cNvSpPr txBox="1"/>
          <p:nvPr/>
        </p:nvSpPr>
        <p:spPr>
          <a:xfrm>
            <a:off x="6035040" y="1691640"/>
            <a:ext cx="265176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No gap was significant (p = 0.26)</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One interval misses the zone by 0.05 cp</a:t>
            </a:r>
            <a:endParaRPr lang="en-US" sz="2000" dirty="0"/>
          </a:p>
        </p:txBody>
      </p:sp>
      <p:sp>
        <p:nvSpPr>
          <p:cNvPr id="27" name="Text 25"/>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About 6,000 pairs per group after a win on time, by checkmate and by resignation; Holm-corrected tests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Two separate studies on different games point the same way</a:t>
            </a:r>
            <a:endParaRPr lang="en-US" sz="2600" dirty="0"/>
          </a:p>
        </p:txBody>
      </p:sp>
      <p:sp>
        <p:nvSpPr>
          <p:cNvPr id="3" name="zero"/>
          <p:cNvSpPr/>
          <p:nvPr/>
        </p:nvSpPr>
        <p:spPr>
          <a:xfrm>
            <a:off x="3977640" y="1417320"/>
            <a:ext cx="0" cy="1828800"/>
          </a:xfrm>
          <a:prstGeom prst="line">
            <a:avLst/>
          </a:prstGeom>
          <a:noFill/>
          <a:ln w="12700">
            <a:solidFill>
              <a:srgbClr val="777777"/>
            </a:solidFill>
            <a:prstDash val="dash"/>
          </a:ln>
        </p:spPr>
      </p:sp>
      <p:sp>
        <p:nvSpPr>
          <p:cNvPr id="4" name="Text 2"/>
          <p:cNvSpPr txBox="1"/>
          <p:nvPr/>
        </p:nvSpPr>
        <p:spPr>
          <a:xfrm>
            <a:off x="457200" y="1668780"/>
            <a:ext cx="2606040" cy="457200"/>
          </a:xfrm>
          <a:prstGeom prst="rect">
            <a:avLst/>
          </a:prstGeom>
          <a:noFill/>
          <a:ln/>
        </p:spPr>
        <p:txBody>
          <a:bodyPr wrap="square" lIns="0" tIns="0" rIns="0" bIns="0" rtlCol="0" anchor="ctr"/>
          <a:lstStyle/>
          <a:p>
            <a:pPr indent="0" marL="0">
              <a:buNone/>
            </a:pPr>
            <a:r>
              <a:rPr lang="en-US" sz="1400" dirty="0">
                <a:solidFill>
                  <a:schemeClr val="tx1"/>
                </a:solidFill>
                <a:latin typeface="Arial" pitchFamily="34" charset="0"/>
                <a:ea typeface="Arial" pitchFamily="34" charset="-122"/>
                <a:cs typeface="Arial" pitchFamily="34" charset="-120"/>
              </a:rPr>
              <a:t>Study 1: lucky vs checkmate (unplanned, n = 1,288)</a:t>
            </a:r>
            <a:endParaRPr lang="en-US" sz="1400" dirty="0"/>
          </a:p>
        </p:txBody>
      </p:sp>
      <p:sp>
        <p:nvSpPr>
          <p:cNvPr id="5" name="ci 0"/>
          <p:cNvSpPr/>
          <p:nvPr/>
        </p:nvSpPr>
        <p:spPr>
          <a:xfrm>
            <a:off x="3655085" y="1897380"/>
            <a:ext cx="2374468" cy="0"/>
          </a:xfrm>
          <a:prstGeom prst="line">
            <a:avLst/>
          </a:prstGeom>
          <a:noFill/>
          <a:ln w="31750">
            <a:solidFill>
              <a:srgbClr val="1F4E79"/>
            </a:solidFill>
            <a:prstDash val="solid"/>
          </a:ln>
        </p:spPr>
      </p:sp>
      <p:sp>
        <p:nvSpPr>
          <p:cNvPr id="6" name="est 0"/>
          <p:cNvSpPr/>
          <p:nvPr/>
        </p:nvSpPr>
        <p:spPr>
          <a:xfrm>
            <a:off x="4771111" y="1824228"/>
            <a:ext cx="146304" cy="146304"/>
          </a:xfrm>
          <a:prstGeom prst="ellipse">
            <a:avLst/>
          </a:prstGeom>
          <a:solidFill>
            <a:srgbClr val="1F4E79"/>
          </a:solidFill>
          <a:ln w="12700">
            <a:solidFill>
              <a:srgbClr val="1F4E79"/>
            </a:solidFill>
            <a:prstDash val="solid"/>
          </a:ln>
        </p:spPr>
      </p:sp>
      <p:sp>
        <p:nvSpPr>
          <p:cNvPr id="7" name="Text 5"/>
          <p:cNvSpPr txBox="1"/>
          <p:nvPr/>
        </p:nvSpPr>
        <p:spPr>
          <a:xfrm>
            <a:off x="6102706" y="1769364"/>
            <a:ext cx="548640" cy="256032"/>
          </a:xfrm>
          <a:prstGeom prst="rect">
            <a:avLst/>
          </a:prstGeom>
          <a:noFill/>
          <a:ln/>
        </p:spPr>
        <p:txBody>
          <a:bodyPr wrap="square" lIns="0" tIns="0" rIns="0" bIns="0" rtlCol="0" anchor="ctr"/>
          <a:lstStyle/>
          <a:p>
            <a:pPr indent="0" marL="0">
              <a:buNone/>
            </a:pPr>
            <a:r>
              <a:rPr lang="en-US" sz="1300" b="1" dirty="0">
                <a:solidFill>
                  <a:srgbClr val="1F4E79"/>
                </a:solidFill>
                <a:latin typeface="Arial" pitchFamily="34" charset="0"/>
                <a:ea typeface="Arial" pitchFamily="34" charset="-122"/>
                <a:cs typeface="Arial" pitchFamily="34" charset="-120"/>
              </a:rPr>
              <a:t>+2.23</a:t>
            </a:r>
            <a:endParaRPr lang="en-US" sz="1300" dirty="0"/>
          </a:p>
        </p:txBody>
      </p:sp>
      <p:sp>
        <p:nvSpPr>
          <p:cNvPr id="8" name="Text 6"/>
          <p:cNvSpPr txBox="1"/>
          <p:nvPr/>
        </p:nvSpPr>
        <p:spPr>
          <a:xfrm>
            <a:off x="457200" y="2537460"/>
            <a:ext cx="2606040" cy="457200"/>
          </a:xfrm>
          <a:prstGeom prst="rect">
            <a:avLst/>
          </a:prstGeom>
          <a:noFill/>
          <a:ln/>
        </p:spPr>
        <p:txBody>
          <a:bodyPr wrap="square" lIns="0" tIns="0" rIns="0" bIns="0" rtlCol="0" anchor="ctr"/>
          <a:lstStyle/>
          <a:p>
            <a:pPr indent="0" marL="0">
              <a:buNone/>
            </a:pPr>
            <a:r>
              <a:rPr lang="en-US" sz="1400" b="1" dirty="0">
                <a:solidFill>
                  <a:srgbClr val="C27C0E"/>
                </a:solidFill>
                <a:latin typeface="Arial" pitchFamily="34" charset="0"/>
                <a:ea typeface="Arial" pitchFamily="34" charset="-122"/>
                <a:cs typeface="Arial" pitchFamily="34" charset="-120"/>
              </a:rPr>
              <a:t>Study 2: lucky vs deserved (planned, n = 12,033)</a:t>
            </a:r>
            <a:endParaRPr lang="en-US" sz="1400" dirty="0"/>
          </a:p>
        </p:txBody>
      </p:sp>
      <p:sp>
        <p:nvSpPr>
          <p:cNvPr id="9" name="ci 1"/>
          <p:cNvSpPr/>
          <p:nvPr/>
        </p:nvSpPr>
        <p:spPr>
          <a:xfrm>
            <a:off x="4234129" y="2766060"/>
            <a:ext cx="1014298" cy="0"/>
          </a:xfrm>
          <a:prstGeom prst="line">
            <a:avLst/>
          </a:prstGeom>
          <a:noFill/>
          <a:ln w="31750">
            <a:solidFill>
              <a:srgbClr val="C27C0E"/>
            </a:solidFill>
            <a:prstDash val="solid"/>
          </a:ln>
        </p:spPr>
      </p:sp>
      <p:sp>
        <p:nvSpPr>
          <p:cNvPr id="10" name="est 1"/>
          <p:cNvSpPr/>
          <p:nvPr/>
        </p:nvSpPr>
        <p:spPr>
          <a:xfrm>
            <a:off x="4666183" y="2692908"/>
            <a:ext cx="146304" cy="146304"/>
          </a:xfrm>
          <a:prstGeom prst="ellipse">
            <a:avLst/>
          </a:prstGeom>
          <a:solidFill>
            <a:srgbClr val="C27C0E"/>
          </a:solidFill>
          <a:ln w="12700">
            <a:solidFill>
              <a:srgbClr val="C27C0E"/>
            </a:solidFill>
            <a:prstDash val="solid"/>
          </a:ln>
        </p:spPr>
      </p:sp>
      <p:sp>
        <p:nvSpPr>
          <p:cNvPr id="11" name="Text 9"/>
          <p:cNvSpPr txBox="1"/>
          <p:nvPr/>
        </p:nvSpPr>
        <p:spPr>
          <a:xfrm>
            <a:off x="5321579" y="2638044"/>
            <a:ext cx="548640" cy="256032"/>
          </a:xfrm>
          <a:prstGeom prst="rect">
            <a:avLst/>
          </a:prstGeom>
          <a:noFill/>
          <a:ln/>
        </p:spPr>
        <p:txBody>
          <a:bodyPr wrap="square" lIns="0" tIns="0" rIns="0" bIns="0" rtlCol="0" anchor="ctr"/>
          <a:lstStyle/>
          <a:p>
            <a:pPr indent="0" marL="0">
              <a:buNone/>
            </a:pPr>
            <a:r>
              <a:rPr lang="en-US" sz="1300" b="1" dirty="0">
                <a:solidFill>
                  <a:srgbClr val="C27C0E"/>
                </a:solidFill>
                <a:latin typeface="Arial" pitchFamily="34" charset="0"/>
                <a:ea typeface="Arial" pitchFamily="34" charset="-122"/>
                <a:cs typeface="Arial" pitchFamily="34" charset="-120"/>
              </a:rPr>
              <a:t>+1.96</a:t>
            </a:r>
            <a:endParaRPr lang="en-US" sz="1300" dirty="0"/>
          </a:p>
        </p:txBody>
      </p:sp>
      <p:sp>
        <p:nvSpPr>
          <p:cNvPr id="12" name="axis"/>
          <p:cNvSpPr/>
          <p:nvPr/>
        </p:nvSpPr>
        <p:spPr>
          <a:xfrm>
            <a:off x="3200400" y="3246120"/>
            <a:ext cx="3108960" cy="0"/>
          </a:xfrm>
          <a:prstGeom prst="line">
            <a:avLst/>
          </a:prstGeom>
          <a:noFill/>
          <a:ln w="12700">
            <a:solidFill>
              <a:srgbClr val="777777"/>
            </a:solidFill>
            <a:prstDash val="solid"/>
          </a:ln>
        </p:spPr>
      </p:sp>
      <p:sp>
        <p:nvSpPr>
          <p:cNvPr id="13" name="Text 11"/>
          <p:cNvSpPr txBox="1"/>
          <p:nvPr/>
        </p:nvSpPr>
        <p:spPr>
          <a:xfrm>
            <a:off x="2926080" y="328269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3703320" y="328269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0</a:t>
            </a:r>
            <a:endParaRPr lang="en-US" sz="1300" dirty="0"/>
          </a:p>
        </p:txBody>
      </p:sp>
      <p:sp>
        <p:nvSpPr>
          <p:cNvPr id="15" name="Text 13"/>
          <p:cNvSpPr txBox="1"/>
          <p:nvPr/>
        </p:nvSpPr>
        <p:spPr>
          <a:xfrm>
            <a:off x="4480560" y="328269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16" name="Text 14"/>
          <p:cNvSpPr txBox="1"/>
          <p:nvPr/>
        </p:nvSpPr>
        <p:spPr>
          <a:xfrm>
            <a:off x="5257800" y="328269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17" name="Text 15"/>
          <p:cNvSpPr txBox="1"/>
          <p:nvPr/>
        </p:nvSpPr>
        <p:spPr>
          <a:xfrm>
            <a:off x="6035040" y="3282696"/>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+6</a:t>
            </a:r>
            <a:endParaRPr lang="en-US" sz="1300" dirty="0"/>
          </a:p>
        </p:txBody>
      </p:sp>
      <p:sp>
        <p:nvSpPr>
          <p:cNvPr id="18" name="Text 16"/>
          <p:cNvSpPr txBox="1"/>
          <p:nvPr/>
        </p:nvSpPr>
        <p:spPr>
          <a:xfrm>
            <a:off x="3200400" y="3849624"/>
            <a:ext cx="3108960" cy="256032"/>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Extra next-game mistakes after a lucky win, cp (95% interval)</a:t>
            </a:r>
            <a:endParaRPr lang="en-US" sz="1300" dirty="0"/>
          </a:p>
        </p:txBody>
      </p:sp>
      <p:sp>
        <p:nvSpPr>
          <p:cNvPr id="19" name="Text 17"/>
          <p:cNvSpPr txBox="1"/>
          <p:nvPr/>
        </p:nvSpPr>
        <p:spPr>
          <a:xfrm>
            <a:off x="6583680" y="1325880"/>
            <a:ext cx="210312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9× more data</a:t>
            </a:r>
            <a:endParaRPr lang="en-US" sz="2000" dirty="0"/>
          </a:p>
        </p:txBody>
      </p:sp>
      <p:sp>
        <p:nvSpPr>
          <p:cNvPr id="20" name="Text 18"/>
          <p:cNvSpPr txBox="1"/>
          <p:nvPr/>
        </p:nvSpPr>
        <p:spPr>
          <a:xfrm>
            <a:off x="6583680" y="1828800"/>
            <a:ext cx="2103120" cy="201168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Same direction, similar size, much tighter interval.</a:t>
            </a:r>
            <a:endParaRPr lang="en-US" sz="2000" dirty="0"/>
          </a:p>
        </p:txBody>
      </p:sp>
      <p:sp>
        <p:nvSpPr>
          <p:cNvPr id="21" name="Text 19"/>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Study 1: 1 to 5 Aug and 1 to 5 Sep 2026. Study 2: 6 to 30 Sep 2026. No game appears in both.</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7863840" cy="457200"/>
          </a:xfrm>
          <a:prstGeom prst="rect">
            <a:avLst/>
          </a:prstGeom>
          <a:noFill/>
          <a:ln/>
        </p:spPr>
        <p:txBody>
          <a:bodyPr wrap="square" lIns="0" tIns="0" rIns="0" bIns="0" rtlCol="0" anchor="t"/>
          <a:lstStyle/>
          <a:p>
            <a:pPr algn="l" indent="0" marL="0">
              <a:buNone/>
            </a:pPr>
            <a:r>
              <a:rPr lang="en-US" sz="1800" dirty="0">
                <a:solidFill>
                  <a:schemeClr val="accent5"/>
                </a:solidFill>
              </a:rPr>
              <a:t>Part 6</a:t>
            </a:r>
            <a:endParaRPr lang="en-US" sz="1800" dirty="0"/>
          </a:p>
        </p:txBody>
      </p:sp>
      <p:sp>
        <p:nvSpPr>
          <p:cNvPr id="3" name="Text 0"/>
          <p:cNvSpPr/>
          <p:nvPr>
            <p:ph idx="101" type="title" hasCustomPrompt="1"/>
          </p:nvPr>
        </p:nvSpPr>
        <p:spPr>
          <a:xfrm>
            <a:off x="640080" y="2011680"/>
            <a:ext cx="7863840" cy="1280160"/>
          </a:xfrm>
          <a:prstGeom prst="rect">
            <a:avLst/>
          </a:prstGeom>
          <a:noFill/>
          <a:ln/>
        </p:spPr>
        <p:txBody>
          <a:bodyPr wrap="square" lIns="0" tIns="0" rIns="0" bIns="0" rtlCol="0" anchor="t"/>
          <a:lstStyle/>
          <a:p>
            <a:pPr algn="l" indent="0" marL="0">
              <a:buNone/>
            </a:pPr>
            <a:r>
              <a:rPr lang="en-US" sz="3600" b="1" dirty="0">
                <a:solidFill>
                  <a:schemeClr val="bg1"/>
                </a:solidFill>
              </a:rPr>
              <a:t>What it means</a:t>
            </a:r>
            <a:endParaRPr lang="en-US" sz="3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An undeserved win leaves a small after-effect, worth about 53 rating points</a:t>
            </a:r>
            <a:endParaRPr lang="en-US" sz="2600" dirty="0"/>
          </a:p>
        </p:txBody>
      </p:sp>
      <p:sp>
        <p:nvSpPr>
          <p:cNvPr id="3" name="Text 1"/>
          <p:cNvSpPr txBox="1"/>
          <p:nvPr/>
        </p:nvSpPr>
        <p:spPr>
          <a:xfrm>
            <a:off x="457200" y="1188720"/>
            <a:ext cx="393192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What we can say</a:t>
            </a:r>
            <a:endParaRPr lang="en-US" sz="2000" dirty="0"/>
          </a:p>
        </p:txBody>
      </p:sp>
      <p:sp>
        <p:nvSpPr>
          <p:cNvPr id="4" name="Text 2"/>
          <p:cNvSpPr txBox="1"/>
          <p:nvPr/>
        </p:nvSpPr>
        <p:spPr>
          <a:xfrm>
            <a:off x="457200" y="1645920"/>
            <a:ext cx="393192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Lucky winners play slightly worse next game</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The effect is consistent, not chance</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It sits on our 'matters' threshold</a:t>
            </a:r>
            <a:endParaRPr lang="en-US" sz="2000" dirty="0"/>
          </a:p>
        </p:txBody>
      </p:sp>
      <p:sp>
        <p:nvSpPr>
          <p:cNvPr id="5" name="Text 3"/>
          <p:cNvSpPr txBox="1"/>
          <p:nvPr/>
        </p:nvSpPr>
        <p:spPr>
          <a:xfrm>
            <a:off x="4754880" y="1188720"/>
            <a:ext cx="3931920" cy="365760"/>
          </a:xfrm>
          <a:prstGeom prst="rect">
            <a:avLst/>
          </a:prstGeom>
          <a:noFill/>
          <a:ln/>
        </p:spPr>
        <p:txBody>
          <a:bodyPr wrap="square" lIns="0" tIns="0" rIns="0" bIns="0" rtlCol="0" anchor="t"/>
          <a:lstStyle/>
          <a:p>
            <a:pPr indent="0" marL="0">
              <a:buNone/>
            </a:pPr>
            <a:r>
              <a:rPr lang="en-US" sz="2000" b="1" dirty="0">
                <a:solidFill>
                  <a:srgbClr val="C27C0E"/>
                </a:solidFill>
                <a:latin typeface="Arial" pitchFamily="34" charset="0"/>
                <a:ea typeface="Arial" pitchFamily="34" charset="-122"/>
                <a:cs typeface="Arial" pitchFamily="34" charset="-120"/>
              </a:rPr>
              <a:t>What we cannot say</a:t>
            </a:r>
            <a:endParaRPr lang="en-US" sz="2000" dirty="0"/>
          </a:p>
        </p:txBody>
      </p:sp>
      <p:sp>
        <p:nvSpPr>
          <p:cNvPr id="6" name="Text 4"/>
          <p:cNvSpPr txBox="1"/>
          <p:nvPr/>
        </p:nvSpPr>
        <p:spPr>
          <a:xfrm>
            <a:off x="4754880" y="1645920"/>
            <a:ext cx="393192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Why it happens</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Anything about blitz or bullet</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Anything beyond moves 15–30</a:t>
            </a:r>
            <a:endParaRPr lang="en-US" sz="2000" dirty="0"/>
          </a:p>
        </p:txBody>
      </p:sp>
      <p:sp>
        <p:nvSpPr>
          <p:cNvPr id="7" name="Text 5"/>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Other limits: one month of data; ratings 1200–2000; run before teacher approval of the plan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457200"/>
          </a:xfrm>
          <a:prstGeom prst="rect">
            <a:avLst/>
          </a:prstGeom>
          <a:noFill/>
          <a:ln/>
        </p:spPr>
        <p:txBody>
          <a:bodyPr wrap="square" lIns="0" tIns="0" rIns="0" bIns="0" rtlCol="0" anchor="t"/>
          <a:lstStyle/>
          <a:p>
            <a:pPr algn="l" indent="0" marL="0">
              <a:buNone/>
            </a:pPr>
            <a:r>
              <a:rPr lang="en-US" sz="2000" dirty="0">
                <a:solidFill>
                  <a:schemeClr val="accent5"/>
                </a:solidFill>
              </a:rPr>
              <a:t>Conclusions</a:t>
            </a:r>
            <a:endParaRPr lang="en-US" sz="2000" dirty="0"/>
          </a:p>
        </p:txBody>
      </p:sp>
      <p:sp>
        <p:nvSpPr>
          <p:cNvPr id="3" name="Text 1"/>
          <p:cNvSpPr txBox="1"/>
          <p:nvPr/>
        </p:nvSpPr>
        <p:spPr>
          <a:xfrm>
            <a:off x="457200" y="868680"/>
            <a:ext cx="8229600" cy="3108960"/>
          </a:xfrm>
          <a:prstGeom prst="rect">
            <a:avLst/>
          </a:prstGeom>
          <a:noFill/>
          <a:ln/>
        </p:spPr>
        <p:txBody>
          <a:bodyPr wrap="square" lIns="0" tIns="0" rIns="0" bIns="0" rtlCol="0" anchor="t"/>
          <a:lstStyle/>
          <a:p>
            <a:pPr indent="0" marL="0">
              <a:spcAft>
                <a:spcPts val="1800"/>
              </a:spcAft>
              <a:buNone/>
            </a:pPr>
            <a:r>
              <a:rPr lang="en-US" sz="2000" b="1" dirty="0">
                <a:solidFill>
                  <a:schemeClr val="bg1"/>
                </a:solidFill>
                <a:latin typeface="Arial" pitchFamily="34" charset="0"/>
                <a:ea typeface="Arial" pitchFamily="34" charset="-122"/>
                <a:cs typeface="Arial" pitchFamily="34" charset="-120"/>
              </a:rPr>
              <a:t>1. Lucky time winners played worse next game: </a:t>
            </a:r>
            <a:pPr indent="0" marL="0">
              <a:spcAft>
                <a:spcPts val="1800"/>
              </a:spcAft>
              <a:buNone/>
            </a:pPr>
            <a:r>
              <a:rPr lang="en-US" sz="2000" dirty="0">
                <a:solidFill>
                  <a:schemeClr val="bg1"/>
                </a:solidFill>
                <a:latin typeface="Arial" pitchFamily="34" charset="0"/>
                <a:ea typeface="Arial" pitchFamily="34" charset="-122"/>
                <a:cs typeface="Arial" pitchFamily="34" charset="-120"/>
              </a:rPr>
              <a:t>+1.96 cp per move (p = 0.003), about 53 rating points.</a:t>
            </a:r>
            <a:endParaRPr lang="en-US" sz="2000" dirty="0"/>
          </a:p>
          <a:p>
            <a:pPr indent="0" marL="0">
              <a:spcAft>
                <a:spcPts val="1800"/>
              </a:spcAft>
              <a:buNone/>
            </a:pPr>
            <a:r>
              <a:rPr lang="en-US" sz="2000" b="1" dirty="0">
                <a:solidFill>
                  <a:schemeClr val="bg1"/>
                </a:solidFill>
                <a:latin typeface="Arial" pitchFamily="34" charset="0"/>
                <a:ea typeface="Arial" pitchFamily="34" charset="-122"/>
                <a:cs typeface="Arial" pitchFamily="34" charset="-120"/>
              </a:rPr>
              <a:t>2. 'Players reset' was not supported, </a:t>
            </a:r>
            <a:pPr indent="0" marL="0">
              <a:spcAft>
                <a:spcPts val="1800"/>
              </a:spcAft>
              <a:buNone/>
            </a:pPr>
            <a:r>
              <a:rPr lang="en-US" sz="2000" dirty="0">
                <a:solidFill>
                  <a:schemeClr val="bg1"/>
                </a:solidFill>
                <a:latin typeface="Arial" pitchFamily="34" charset="0"/>
                <a:ea typeface="Arial" pitchFamily="34" charset="-122"/>
                <a:cs typeface="Arial" pitchFamily="34" charset="-120"/>
              </a:rPr>
              <a:t>but the result sits 0.04 cp short of the planned 'refuted' bar.</a:t>
            </a:r>
            <a:endParaRPr lang="en-US" sz="2000" dirty="0"/>
          </a:p>
          <a:p>
            <a:pPr indent="0" marL="0">
              <a:spcAft>
                <a:spcPts val="1800"/>
              </a:spcAft>
              <a:buNone/>
            </a:pPr>
            <a:r>
              <a:rPr lang="en-US" sz="2000" b="1" dirty="0">
                <a:solidFill>
                  <a:schemeClr val="bg1"/>
                </a:solidFill>
                <a:latin typeface="Arial" pitchFamily="34" charset="0"/>
                <a:ea typeface="Arial" pitchFamily="34" charset="-122"/>
                <a:cs typeface="Arial" pitchFamily="34" charset="-120"/>
              </a:rPr>
              <a:t>3. How you win barely matters; whether you deserved it might.</a:t>
            </a:r>
            <a:endParaRPr lang="en-US" sz="2000" dirty="0"/>
          </a:p>
        </p:txBody>
      </p:sp>
      <p:sp>
        <p:nvSpPr>
          <p:cNvPr id="4" name="Text 2"/>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1400" dirty="0">
                <a:solidFill>
                  <a:srgbClr val="A0BBDD"/>
                </a:solidFill>
                <a:latin typeface="Arial" pitchFamily="34" charset="0"/>
                <a:ea typeface="Arial" pitchFamily="34" charset="-122"/>
                <a:cs typeface="Arial" pitchFamily="34" charset="-120"/>
              </a:rPr>
              <a:t>Code, data and both preregistrations: github.com/KaranaGulati/ContinuedLearningResearch</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References</a:t>
            </a:r>
            <a:endParaRPr lang="en-US" sz="2600" dirty="0"/>
          </a:p>
        </p:txBody>
      </p:sp>
      <p:sp>
        <p:nvSpPr>
          <p:cNvPr id="3" name="Text 1"/>
          <p:cNvSpPr txBox="1"/>
          <p:nvPr/>
        </p:nvSpPr>
        <p:spPr>
          <a:xfrm>
            <a:off x="457200" y="1097280"/>
            <a:ext cx="8229600" cy="3566160"/>
          </a:xfrm>
          <a:prstGeom prst="rect">
            <a:avLst/>
          </a:prstGeom>
          <a:noFill/>
          <a:ln/>
        </p:spPr>
        <p:txBody>
          <a:bodyPr wrap="square" lIns="0" tIns="0" rIns="0" bIns="0" rtlCol="0" anchor="t"/>
          <a:lstStyle/>
          <a:p>
            <a:pPr indent="0" marL="0">
              <a:spcAft>
                <a:spcPts val="600"/>
              </a:spcAft>
              <a:buNone/>
            </a:pPr>
            <a:r>
              <a:rPr lang="en-US" sz="1200" dirty="0">
                <a:solidFill>
                  <a:schemeClr val="tx1"/>
                </a:solidFill>
                <a:latin typeface="Arial" pitchFamily="34" charset="0"/>
                <a:ea typeface="Arial" pitchFamily="34" charset="-122"/>
                <a:cs typeface="Arial" pitchFamily="34" charset="-120"/>
              </a:rPr>
              <a:t>Backus, Cubel, Guid, Sanchez-Pages &amp; Lopez Manas (2023). Quantitative Economics, 14(1), 349-380.</a:t>
            </a:r>
            <a:endParaRPr lang="en-US" sz="1200" dirty="0"/>
          </a:p>
          <a:p>
            <a:pPr indent="0" marL="0">
              <a:spcAft>
                <a:spcPts val="600"/>
              </a:spcAft>
              <a:buNone/>
            </a:pPr>
            <a:r>
              <a:rPr lang="en-US" sz="1200" dirty="0">
                <a:solidFill>
                  <a:schemeClr val="tx1"/>
                </a:solidFill>
                <a:latin typeface="Arial" pitchFamily="34" charset="0"/>
                <a:ea typeface="Arial" pitchFamily="34" charset="-122"/>
                <a:cs typeface="Arial" pitchFamily="34" charset="-120"/>
              </a:rPr>
              <a:t>Chowdhary, Iacopini &amp; Battiston (2023). Scientific Reports, 13, 2113.</a:t>
            </a:r>
            <a:endParaRPr lang="en-US" sz="1200" dirty="0"/>
          </a:p>
          <a:p>
            <a:pPr indent="0" marL="0">
              <a:spcAft>
                <a:spcPts val="600"/>
              </a:spcAft>
              <a:buNone/>
            </a:pPr>
            <a:r>
              <a:rPr lang="en-US" sz="1200" dirty="0">
                <a:solidFill>
                  <a:schemeClr val="tx1"/>
                </a:solidFill>
                <a:latin typeface="Arial" pitchFamily="34" charset="0"/>
                <a:ea typeface="Arial" pitchFamily="34" charset="-122"/>
                <a:cs typeface="Arial" pitchFamily="34" charset="-120"/>
              </a:rPr>
              <a:t>Gee, Seese, Curley &amp; Ward (2025). Journal of Quantitative Analysis in Sports, 22(2), 117-132. Preprint arXiv:2503.21713.</a:t>
            </a:r>
            <a:endParaRPr lang="en-US" sz="1200" dirty="0"/>
          </a:p>
          <a:p>
            <a:pPr indent="0" marL="0">
              <a:spcAft>
                <a:spcPts val="600"/>
              </a:spcAft>
              <a:buNone/>
            </a:pPr>
            <a:r>
              <a:rPr lang="en-US" sz="1200" dirty="0">
                <a:solidFill>
                  <a:schemeClr val="tx1"/>
                </a:solidFill>
                <a:latin typeface="Arial" pitchFamily="34" charset="0"/>
                <a:ea typeface="Arial" pitchFamily="34" charset="-122"/>
                <a:cs typeface="Arial" pitchFamily="34" charset="-120"/>
              </a:rPr>
              <a:t>Guid &amp; Bratko (2006). Computer analysis of world chess champions. ICGA Journal, 29(2), 65-73.</a:t>
            </a:r>
            <a:endParaRPr lang="en-US" sz="1200" dirty="0"/>
          </a:p>
          <a:p>
            <a:pPr indent="0" marL="0">
              <a:spcAft>
                <a:spcPts val="600"/>
              </a:spcAft>
              <a:buNone/>
            </a:pPr>
            <a:r>
              <a:rPr lang="en-US" sz="1200" dirty="0">
                <a:solidFill>
                  <a:schemeClr val="tx1"/>
                </a:solidFill>
                <a:latin typeface="Arial" pitchFamily="34" charset="0"/>
                <a:ea typeface="Arial" pitchFamily="34" charset="-122"/>
                <a:cs typeface="Arial" pitchFamily="34" charset="-120"/>
              </a:rPr>
              <a:t>Kuenn, Seel &amp; Zegners (2020). Cognitive performance in the home office. IZA DP 13491; The Economic Journal, 132(643), 1218-1232 (2022).</a:t>
            </a:r>
            <a:endParaRPr lang="en-US" sz="1200" dirty="0"/>
          </a:p>
          <a:p>
            <a:pPr indent="0" marL="0">
              <a:spcAft>
                <a:spcPts val="600"/>
              </a:spcAft>
              <a:buNone/>
            </a:pPr>
            <a:r>
              <a:rPr lang="en-US" sz="1200" dirty="0">
                <a:solidFill>
                  <a:schemeClr val="tx1"/>
                </a:solidFill>
                <a:latin typeface="Arial" pitchFamily="34" charset="0"/>
                <a:ea typeface="Arial" pitchFamily="34" charset="-122"/>
                <a:cs typeface="Arial" pitchFamily="34" charset="-120"/>
              </a:rPr>
              <a:t>Regan, Biswas &amp; Zhou (2014). Human and computer preferences at chess. AAAI-14 Workshop on Advances in Preference Handling.</a:t>
            </a:r>
            <a:endParaRPr lang="en-US" sz="1200" dirty="0"/>
          </a:p>
          <a:p>
            <a:pPr indent="0" marL="0">
              <a:spcAft>
                <a:spcPts val="600"/>
              </a:spcAft>
              <a:buNone/>
            </a:pPr>
            <a:r>
              <a:rPr lang="en-US" sz="1200" dirty="0">
                <a:solidFill>
                  <a:schemeClr val="tx1"/>
                </a:solidFill>
                <a:latin typeface="Arial" pitchFamily="34" charset="0"/>
                <a:ea typeface="Arial" pitchFamily="34" charset="-122"/>
                <a:cs typeface="Arial" pitchFamily="34" charset="-120"/>
              </a:rPr>
              <a:t>Sunde, Zegners &amp; Strittmatter (2022). arXiv:2201.10808; published as Speed and quality of complex strategic decisions, PNAS, 123(20), e2531472123 (2026).</a:t>
            </a:r>
            <a:endParaRPr lang="en-US" sz="1200" dirty="0"/>
          </a:p>
          <a:p>
            <a:pPr indent="0" marL="0">
              <a:spcAft>
                <a:spcPts val="600"/>
              </a:spcAft>
              <a:buNone/>
            </a:pPr>
            <a:r>
              <a:rPr lang="en-US" sz="1200" dirty="0">
                <a:solidFill>
                  <a:schemeClr val="tx1"/>
                </a:solidFill>
                <a:latin typeface="Arial" pitchFamily="34" charset="0"/>
                <a:ea typeface="Arial" pitchFamily="34" charset="-122"/>
                <a:cs typeface="Arial" pitchFamily="34" charset="-120"/>
              </a:rPr>
              <a:t>Lichess open database (2026). database.lichess.org, CC0.</a:t>
            </a:r>
            <a:endParaRPr lang="en-US" sz="1200" dirty="0"/>
          </a:p>
          <a:p>
            <a:pPr indent="0" marL="0">
              <a:spcAft>
                <a:spcPts val="600"/>
              </a:spcAft>
              <a:buNone/>
            </a:pPr>
            <a:r>
              <a:rPr lang="en-US" sz="1200" dirty="0">
                <a:solidFill>
                  <a:schemeClr val="tx1"/>
                </a:solidFill>
                <a:latin typeface="Arial" pitchFamily="34" charset="0"/>
                <a:ea typeface="Arial" pitchFamily="34" charset="-122"/>
                <a:cs typeface="Arial" pitchFamily="34" charset="-120"/>
              </a:rPr>
              <a:t>Karana Gulati (2026). Study 1 and study 2 preregistrations and results. github.com/KaranaGulati/ContinuedLearningResearch.</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Appendix: glossary of every term used</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468880"/>
                <a:gridCol w="5760720"/>
              </a:tblGrid>
              <a:tr h="329184">
                <a:tc>
                  <a:txBody>
                    <a:bodyPr/>
                    <a:lstStyle/>
                    <a:p>
                      <a:pPr indent="0" marL="0">
                        <a:buNone/>
                      </a:pPr>
                      <a:r>
                        <a:rPr lang="en-US" sz="1300" b="1" dirty="0">
                          <a:solidFill>
                            <a:srgbClr val="FFFFFF"/>
                          </a:solidFill>
                          <a:latin typeface="Arial" pitchFamily="34" charset="0"/>
                          <a:ea typeface="Arial" pitchFamily="34" charset="-122"/>
                          <a:cs typeface="Arial" pitchFamily="34" charset="-120"/>
                        </a:rPr>
                        <a:t>Term</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Meaning</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Centipawn (cp)</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1/100 of a pawn; the unit of a chess computer's score</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ACPL</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average score lost per move; lower is better</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Lucky time win</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won on time while losing by more than 1 pawn</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Regression</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line of best fit that separates several effects</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Standard error (SE)</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how much an estimate would wobble with other games</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Confidence interval</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range of values the data can believe</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p-value</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how often a gap this big appears if there is no real effect</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Equivalence test (TOST)</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checks a difference is inside a 'too small to matter' zone</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300" dirty="0">
                          <a:solidFill>
                            <a:srgbClr val="2D2D2D"/>
                          </a:solidFill>
                          <a:latin typeface="Arial" pitchFamily="34" charset="0"/>
                          <a:ea typeface="Arial" pitchFamily="34" charset="-122"/>
                          <a:cs typeface="Arial" pitchFamily="34" charset="-120"/>
                        </a:rPr>
                        <a:t>Preregistration</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the plan, dated and saved before scoring the data</a:t>
                      </a:r>
                      <a:endParaRPr lang="en-US" sz="13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42</a:t>
            </a:fld>
            <a:endParaRPr lang="en-US"/>
          </a:p>
        </p:txBody>
      </p:sp>
    </p:spTree>
  </p:cSld>
  <p:clrMapOvr>
    <a:masterClrMapping/>
  </p:clrMapOvr>
</p:sld>
</file>

<file path=ppt/theme/theme1.xml><?xml version="1.0" encoding="utf-8"?>
<a:theme xmlns:a="http://schemas.openxmlformats.org/drawingml/2006/main" name="Chess Study 2">
  <a:themeElements>
    <a:clrScheme name="Chess Study 2">
      <a:dk1>
        <a:srgbClr val="2D2D2D"/>
      </a:dk1>
      <a:lt1>
        <a:srgbClr val="FFFFFF"/>
      </a:lt1>
      <a:dk2>
        <a:srgbClr val="1F4E79"/>
      </a:dk2>
      <a:lt2>
        <a:srgbClr val="EBF3FA"/>
      </a:lt2>
      <a:accent1>
        <a:srgbClr val="2E75B6"/>
      </a:accent1>
      <a:accent2>
        <a:srgbClr val="1F4E79"/>
      </a:accent2>
      <a:accent3>
        <a:srgbClr val="C27C0E"/>
      </a:accent3>
      <a:accent4>
        <a:srgbClr val="777777"/>
      </a:accent4>
      <a:accent5>
        <a:srgbClr val="A0BBDD"/>
      </a:accent5>
      <a:accent6>
        <a:srgbClr val="FFF2CC"/>
      </a:accent6>
      <a:hlink>
        <a:srgbClr val="2E75B6"/>
      </a:hlink>
      <a:folHlink>
        <a:srgbClr val="1F4E79"/>
      </a:folHlink>
    </a:clrScheme>
    <a:fontScheme name="Chess Study 2">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lucky wins make chess players play worse in their next game?</dc:title>
  <dc:subject>PptxGenJS Presentation</dc:subject>
  <dc:creator>Karana Gulati</dc:creator>
  <cp:lastModifiedBy>Karana Gulati</cp:lastModifiedBy>
  <cp:revision>1</cp:revision>
  <dcterms:created xsi:type="dcterms:W3CDTF">2026-10-15T07:52:25Z</dcterms:created>
  <dcterms:modified xsi:type="dcterms:W3CDTF">2026-10-15T07:52:25Z</dcterms:modified>
</cp:coreProperties>
</file>