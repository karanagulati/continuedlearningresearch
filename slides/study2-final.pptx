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5afc7cb-31fd-3077-46ef-5c8792dd9180}">
          <p14:sldIdLst>
            <p14:sldId id="256"/>
          </p14:sldIdLst>
        </p14:section>
        <p14:section name="The basics, no chess needed" id="{2231df70-555a-4179-986f-e77cecd03d7a}">
          <p14:sldIdLst>
            <p14:sldId id="257"/>
            <p14:sldId id="258"/>
            <p14:sldId id="259"/>
            <p14:sldId id="260"/>
            <p14:sldId id="261"/>
            <p14:sldId id="262"/>
            <p14:sldId id="263"/>
          </p14:sldIdLst>
        </p14:section>
        <p14:section name="The questions" id="{af2feeb7-6cf3-3995-1ca1-be61be77d076}">
          <p14:sldIdLst>
            <p14:sldId id="264"/>
            <p14:sldId id="265"/>
          </p14:sldIdLst>
        </p14:section>
        <p14:section name="How it was measured" id="{a436353e-dca2-6073-ef7b-08ee47e17e47}">
          <p14:sldIdLst>
            <p14:sldId id="266"/>
            <p14:sldId id="267"/>
            <p14:sldId id="268"/>
            <p14:sldId id="269"/>
            <p14:sldId id="270"/>
            <p14:sldId id="271"/>
            <p14:sldId id="272"/>
            <p14:sldId id="273"/>
            <p14:sldId id="274"/>
            <p14:sldId id="275"/>
          </p14:sldIdLst>
        </p14:section>
        <p14:section name="Results" id="{cc2a3ee3-f0d2-e9f8-a123-fae0d5bac87d}">
          <p14:sldIdLst>
            <p14:sldId id="276"/>
            <p14:sldId id="277"/>
            <p14:sldId id="278"/>
            <p14:sldId id="279"/>
            <p14:sldId id="280"/>
          </p14:sldIdLst>
        </p14:section>
        <p14:section name="What it means" id="{8fb00e2c-4c75-2d92-b91a-ff585ed30bc3}">
          <p14:sldIdLst>
            <p14:sldId id="281"/>
            <p14:sldId id="282"/>
          </p14:sldIdLst>
        </p14:section>
        <p14:section name="Conclusions" id="{50cb3300-556e-a921-ac0b-05aedc597bb9}">
          <p14:sldIdLst>
            <p14:sldId id="283"/>
          </p14:sldIdLst>
        </p14:section>
        <p14:section name="Backup" id="{3d086d3e-8e91-0db6-c8a3-d344e07b0a14}">
          <p14:sldIdLst>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Share of wins</c:v>
                </c:pt>
              </c:strCache>
            </c:strRef>
          </c:tx>
          <c:spPr>
            <a:solidFill>
              <a:srgbClr val="C27C0E"/>
            </a:solidFill>
            <a:effectLst/>
          </c:spPr>
          <c:invertIfNegative val="0"/>
          <c:dLbls>
            <c:numFmt formatCode="0&quot;%&quot;" sourceLinked="0"/>
            <c:txPr>
              <a:bodyPr/>
              <a:lstStyle/>
              <a:p>
                <a:pPr>
                  <a:defRPr b="0" i="0" strike="noStrike" sz="1600" u="none">
                    <a:solidFill>
                      <a:srgbClr val="2D2D2D"/>
                    </a:solidFill>
                    <a:latin typeface="+mn-lt"/>
                  </a:defRPr>
                </a:pPr>
              </a:p>
            </c:txPr>
            <c:showLegendKey val="0"/>
            <c:showVal val="1"/>
            <c:showCatName val="0"/>
            <c:showSerName val="0"/>
            <c:showPercent val="0"/>
            <c:showBubbleSize val="0"/>
            <c:showLeaderLines val="0"/>
          </c:dLbls>
          <c:dPt>
            <c:idx val="0"/>
            <c:invertIfNegative val="0"/>
            <c:bubble3D val="0"/>
            <c:spPr>
              <a:solidFill>
                <a:srgbClr val="C27C0E"/>
              </a:solidFill>
              <a:effectLst/>
            </c:spPr>
          </c:dPt>
          <c:dPt>
            <c:idx val="1"/>
            <c:invertIfNegative val="0"/>
            <c:bubble3D val="0"/>
            <c:spPr>
              <a:solidFill>
                <a:srgbClr val="2E75B6"/>
              </a:solidFill>
              <a:effectLst/>
            </c:spPr>
          </c:dPt>
          <c:dPt>
            <c:idx val="2"/>
            <c:invertIfNegative val="0"/>
            <c:bubble3D val="0"/>
            <c:spPr>
              <a:solidFill>
                <a:srgbClr val="2E75B6"/>
              </a:solidFill>
              <a:effectLst/>
            </c:spPr>
          </c:dPt>
          <c:cat>
            <c:multiLvlStrRef>
              <c:f>Sheet1!$A$2:$A$4</c:f>
              <c:multiLvlStrCache>
                <c:ptCount val="3"/>
                <c:lvl>
                  <c:pt idx="0">
                    <c:v>Opponent's clock ran out</c:v>
                  </c:pt>
                  <c:pt idx="1">
                    <c:v>Checkmate</c:v>
                  </c:pt>
                  <c:pt idx="2">
                    <c:v>Opponent resigned</c:v>
                  </c:pt>
                </c:lvl>
              </c:multiLvlStrCache>
            </c:multiLvlStrRef>
          </c:cat>
          <c:val>
            <c:numRef>
              <c:f>Sheet1!$B$2:$B$4</c:f>
              <c:numCache>
                <c:formatCode>General</c:formatCode>
                <c:ptCount val="3"/>
                <c:pt idx="0">
                  <c:v>11.4</c:v>
                </c:pt>
                <c:pt idx="1">
                  <c:v>30</c:v>
                </c:pt>
                <c:pt idx="2">
                  <c:v>58.6</c:v>
                </c:pt>
              </c:numCache>
            </c:numRef>
          </c:val>
        </c:ser>
        <c:dLbls>
          <c:numFmt formatCode="0&quot;%&quot;" sourceLinked="0"/>
          <c:txPr>
            <a:bodyPr/>
            <a:lstStyle/>
            <a:p>
              <a:pPr>
                <a:defRPr b="0" i="0" strike="noStrike" sz="1600" u="none">
                  <a:solidFill>
                    <a:srgbClr val="2D2D2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D2D2D"/>
                </a:solidFill>
                <a:latin typeface="+mn-lt"/>
              </a:defRPr>
            </a:pPr>
            <a:endParaRPr lang="en-US"/>
          </a:p>
        </c:txPr>
        <c:crossAx val="2094734552"/>
        <c:crosses val="autoZero"/>
        <c:auto val="1"/>
        <c:lblAlgn val="ctr"/>
        <c:noMultiLvlLbl val="1"/>
      </c:catAx>
      <c:valAx>
        <c:axId val="2094734552"/>
        <c:scaling>
          <c:orientation val="minMax"/>
          <c:max val="7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talk is about one question: if you win a chess game by luck, does it affect how well you play your next game? You do not need to know chess or advanced maths. Every idea is built from the ground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three ideas everything else rests on: how chess games are won, how a computer scores a position, and how we turn that score into a measure of how well someone played.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online chess game has a clock for each player, like a timer in a quiz. You can win in three ways: trap the opponent's king, which is checkmate; the opponent gives up, which is resignation; or the opponent's clock runs out. About one win in nine is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idea of the study. A win on time is recorded as a win, even if you were completely losing the actual game. We checked 70,000 time wins with a chess computer and found that in about one in five, the winner was the one losing on the board. Those are lucky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chess computer, called an engine, can look at any position and give one number for who is better and by how much. The unit is the centipawn, a hundredth of a pawn. Zero means equal. Plus 300 means White is about three pawns ahead. This is the same line you see in the graph after a game on chess.com.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measure how well someone played, we look at each of their moves. If the score was +40 before a move and -250 after, the move threw away 290 centipawns, almost three pawns. If the score goes up, the loss is zero, because you cannot do better than the engine's best move. 'max of zero and' just means negative losses count as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ACPL is just the average of those losses over the moves we score. A perfect game would be zero. Club players in our data lose about 61 centipawns per move on a typical game. Stronger players lose less: about 3.7 centipawns less for every 100 rating points. That gives us a way to translate centipawns into rating points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study asked whether winning on time, by checkmate or by resignation changes the next game. It barely does. But when we split the time wins afterwards, the lucky ones seemed to play a bit worse. Because we only spotted that after looking, it could have been chance. Study 2 was built to test it properly.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exactly what study 2 asked, and what was predicted before any of its data was looked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predictions were written down, dated and saved publicly before a single game was scored. Why? If you look at the data first, with dozens of ways to slice it, something will look interesting by pure chance. Writing the prediction first means the result can be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method: where the games came from, how lucky wins were found, how the comparison was made fair, and how the numbers were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started with every rated game played on Lichess in September 2026, nearly 90 million. We kept rapid games, which last about 10 to 15 minutes, removed computer accounts, and kept players rated 1200 to 2000. Then we took one time win per player, checked 70,000 of them with the chess computer, and ended with about 12,000 lucky and 12,000 deserved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data point is a pair. Game A is the win. Game B is the same player's next rated game, which must start within 30 minutes with no other game in between. Any after-effect of a lucky win should show up right away, not days later. We only measure accuracy in game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every time win, the chess computer scored the final position from the winner's side. If the winner was more than one pawn behind, minus 100 centipawns or worse, the win counts as lucky. Otherwise it is deserved. We also ran a stricter version, losing by more than three pawns, as a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be fair, the two groups must contain similar players. So for every rating band and game speed, we took exactly as many deserved wins as lucky wins. If lucky winners were, say, weaker players, they would look worse for that reason alone. Matching removes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game goes through the same machine with the same settings. A fixed depth means the computer thinks equally hard about every position, so anyone can rerun this and get the same numbers. We skip the first 14 moves because players often play memorised openings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regression is a line of best fit with several ingredients. It estimates how much each factor pushes ACPL up or down, separately. The one we care about is beta one: the extra mistakes after a lucky win, with rating, opponent strength and colour already accounted for. The other rows are sensible, which tells us the model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estimate is exact. The standard error tells us how much it would change if we had picked different games. Multiply by 1.96 each way and you get the 95 percent confidence interval: the range of values the data can believe. The p-value asks: if lucky wins truly made no difference, how often would we see a gap this large by luck? Here, 3 times in a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rule written down before the study. If the whole interval sits inside the shaded zone of plus or minus 2 centipawns, the groups are equal for practical purposes, and the 'players reset' prediction is supported. If the interval is clear of zero and the gap is at least 2, the prediction is refuted. Anything else is inconclusive. This test of 'equal within a margin' is called an equivalence test, or TOST.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scoring, we worked out how many games were needed. Games vary a lot, by about 50 centipawns, so to pin down a 2 centipawn difference we need a lot of them: about 10,700 per group. We planned 13,000 because some games end too early to score. We ended with about 12,000 usable per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main result. After a lucky win, players lost 1.96 more centipawns per move. The 90 percent interval pokes out of the plus or minus 2 zone, so we cannot say the groups are equal, and the 'players reset' prediction is not supported. But the rule needed at least 2 centipawns to call it refuted, and 1.96 falls short by 0.04. So the official verdict is inconclusive, right on the line. In rating terms, 1.96 centipawns is about the gap between players 53 points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fixed five checks in advance, each changing one choice: only 10-minute games, removing rematches against the same opponent, each rating band separately, and a stricter definition of lucky. Every one points the same way, between 1.8 and 2.3 centipawns. One band's interval just touches zero because it has half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repeat of study 1's question. None of the differences between time, checkmate and resignation wins was significant. Two comparisons were inside the plus or minus 3 zone; the third missed it by five hundredths of a centipawn. So formally inconclusive, but in practice the same story as study 1: the type of win matters very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Study 1's hint and study 2's planned test used completely different games and found almost the same number: 2.2 and 1.96. Study 2's interval is much narrower because it had nine times as many lucky wins. When an unplanned hint comes back in a planned test, that is how science is supposed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what the result means and what it cannot tell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means: escaping with an undeserved win seems to leave a small mark on the next game, roughly what you would expect from a player about 53 rating points weaker. What it does not tell us: why. It could be adrenaline, overconfidence or something else. And we only looked at rapid games and the middle part of each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Lucky winners played slightly but clearly worse in their next game. My prediction that players reset was not supported, though the effect landed just under the size we decided in advance would count. Across both studies, how you win barely matters, but whether you deserved the win might. Questions and feedback welcome.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presented.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definitions for every technical term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4E7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005840"/>
            <a:ext cx="7863840" cy="16459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2834640"/>
            <a:ext cx="7863840" cy="128016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4E79"/>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E_DARK">
    <p:bg>
      <p:bgPr>
        <a:solidFill>
          <a:srgbClr val="1F4E7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457200"/>
          </a:xfrm>
          <a:prstGeom prst="rect">
            <a:avLst/>
          </a:prstGeom>
          <a:noFill/>
          <a:ln/>
        </p:spPr>
        <p:txBody>
          <a:bodyPr wrap="square" rtlCol="0"/>
          <a:lstStyle>
            <a:lvl1pPr algn="l" indent="0" marL="0">
              <a:buNone/>
              <a:defRPr lang="en-US" sz="2000" dirty="0">
                <a:solidFill>
                  <a:schemeClr val="accent5"/>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005840"/>
            <a:ext cx="7863840" cy="1645920"/>
          </a:xfrm>
          <a:prstGeom prst="rect">
            <a:avLst/>
          </a:prstGeom>
          <a:noFill/>
          <a:ln/>
        </p:spPr>
        <p:txBody>
          <a:bodyPr wrap="square" lIns="0" tIns="0" rIns="0" bIns="0" rtlCol="0" anchor="t"/>
          <a:lstStyle/>
          <a:p>
            <a:pPr algn="l" indent="0" marL="0">
              <a:buNone/>
            </a:pPr>
            <a:r>
              <a:rPr lang="en-US" sz="3400" b="1" dirty="0">
                <a:solidFill>
                  <a:schemeClr val="bg1"/>
                </a:solidFill>
              </a:rPr>
              <a:t>Do lucky wins make chess players play worse in their next game?</a:t>
            </a:r>
            <a:endParaRPr lang="en-US" sz="3400" dirty="0"/>
          </a:p>
        </p:txBody>
      </p:sp>
      <p:sp>
        <p:nvSpPr>
          <p:cNvPr id="3" name="Text 0"/>
          <p:cNvSpPr/>
          <p:nvPr>
            <p:ph idx="101" type="body" hasCustomPrompt="1"/>
          </p:nvPr>
        </p:nvSpPr>
        <p:spPr>
          <a:xfrm>
            <a:off x="640080" y="2834640"/>
            <a:ext cx="7863840" cy="1280160"/>
          </a:xfrm>
          <a:prstGeom prst="rect">
            <a:avLst/>
          </a:prstGeom>
          <a:noFill/>
          <a:ln/>
        </p:spPr>
        <p:txBody>
          <a:bodyPr wrap="square" lIns="0" tIns="0" rIns="0" bIns="0" rtlCol="0" anchor="t"/>
          <a:lstStyle/>
          <a:p>
            <a:pPr algn="l" indent="0" marL="0">
              <a:buNone/>
            </a:pPr>
            <a:r>
              <a:rPr lang="en-US" sz="1800" dirty="0">
                <a:solidFill>
                  <a:schemeClr val="accent5"/>
                </a:solidFill>
              </a:rPr>
              <a:t>Study 2: 41,957 online games, analysed with a plan fixed before any data was scored</a:t>
            </a:r>
            <a:endParaRPr lang="en-US" sz="1800" dirty="0"/>
          </a:p>
          <a:p>
            <a:pPr algn="l" indent="0" marL="0">
              <a:buNone/>
            </a:pPr>
            <a:r>
              <a:rPr lang="en-US" sz="1800" dirty="0">
                <a:solidFill>
                  <a:schemeClr val="accent5"/>
                </a:solidFill>
              </a:rPr>
              <a:t> </a:t>
            </a:r>
            <a:endParaRPr lang="en-US" sz="1800" dirty="0"/>
          </a:p>
          <a:p>
            <a:pPr algn="l" indent="0" marL="0">
              <a:buNone/>
            </a:pPr>
            <a:r>
              <a:rPr lang="en-US" sz="1800" dirty="0">
                <a:solidFill>
                  <a:srgbClr val="A0BBDD"/>
                </a:solidFill>
              </a:rPr>
              <a:t>Karana Gulati  ·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1</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The basics, no chess needed</a:t>
            </a:r>
            <a:endParaRPr lang="en-US" sz="3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chess game can be won in three ways, and most wins come from the opponent giving up</a:t>
            </a:r>
            <a:endParaRPr lang="en-US" sz="2600" dirty="0"/>
          </a:p>
        </p:txBody>
      </p:sp>
      <p:graphicFrame>
        <p:nvGraphicFramePr>
          <p:cNvPr id="3" name="Chart 0" descr=""/>
          <p:cNvGraphicFramePr/>
          <p:nvPr/>
        </p:nvGraphicFramePr>
        <p:xfrm>
          <a:off x="457200" y="1188720"/>
          <a:ext cx="4846320" cy="32918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577840" y="1234440"/>
            <a:ext cx="310896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How a game ends</a:t>
            </a:r>
            <a:endParaRPr lang="en-US" sz="2000" dirty="0"/>
          </a:p>
        </p:txBody>
      </p:sp>
      <p:sp>
        <p:nvSpPr>
          <p:cNvPr id="5" name="Text 2"/>
          <p:cNvSpPr txBox="1"/>
          <p:nvPr/>
        </p:nvSpPr>
        <p:spPr>
          <a:xfrm>
            <a:off x="5577840" y="1691640"/>
            <a:ext cx="3108960" cy="283464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Checkmate: the king is trapped</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Resignation: the loser gives up</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On time: each player has a clock, and it ran out</a:t>
            </a:r>
            <a:endParaRPr lang="en-US" sz="2000" dirty="0"/>
          </a:p>
        </p:txBody>
      </p:sp>
      <p:sp>
        <p:nvSpPr>
          <p:cNvPr id="6" name="Text 3"/>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Lichess rated rapid games, first 2 million games of September 2026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win on time can be undeserved: one in five time winners was losing when the clock ran out</a:t>
            </a:r>
            <a:endParaRPr lang="en-US" sz="2600" dirty="0"/>
          </a:p>
        </p:txBody>
      </p:sp>
      <p:sp>
        <p:nvSpPr>
          <p:cNvPr id="3" name="deserved"/>
          <p:cNvSpPr/>
          <p:nvPr/>
        </p:nvSpPr>
        <p:spPr>
          <a:xfrm>
            <a:off x="457200" y="1280160"/>
            <a:ext cx="3931920" cy="2103120"/>
          </a:xfrm>
          <a:prstGeom prst="roundRect">
            <a:avLst>
              <a:gd name="adj" fmla="val 2609"/>
            </a:avLst>
          </a:prstGeom>
          <a:solidFill>
            <a:srgbClr val="EBF3FA"/>
          </a:solidFill>
          <a:ln w="12700">
            <a:solidFill>
              <a:srgbClr val="2E75B6"/>
            </a:solidFill>
            <a:prstDash val="solid"/>
          </a:ln>
        </p:spPr>
      </p:sp>
      <p:sp>
        <p:nvSpPr>
          <p:cNvPr id="4" name="Text 2"/>
          <p:cNvSpPr txBox="1"/>
          <p:nvPr/>
        </p:nvSpPr>
        <p:spPr>
          <a:xfrm>
            <a:off x="685800" y="1417320"/>
            <a:ext cx="3474720" cy="365760"/>
          </a:xfrm>
          <a:prstGeom prst="rect">
            <a:avLst/>
          </a:prstGeom>
          <a:noFill/>
          <a:ln/>
        </p:spPr>
        <p:txBody>
          <a:bodyPr wrap="square" lIns="0" tIns="0" rIns="0" bIns="0" rtlCol="0" anchor="t"/>
          <a:lstStyle/>
          <a:p>
            <a:pPr indent="0" marL="0">
              <a:buNone/>
            </a:pPr>
            <a:r>
              <a:rPr lang="en-US" sz="2000" b="1" dirty="0">
                <a:solidFill>
                  <a:srgbClr val="1F4E79"/>
                </a:solidFill>
                <a:latin typeface="Arial" pitchFamily="34" charset="0"/>
                <a:ea typeface="Arial" pitchFamily="34" charset="-122"/>
                <a:cs typeface="Arial" pitchFamily="34" charset="-120"/>
              </a:rPr>
              <a:t>Deserved time win</a:t>
            </a:r>
            <a:endParaRPr lang="en-US" sz="2000" dirty="0"/>
          </a:p>
        </p:txBody>
      </p:sp>
      <p:sp>
        <p:nvSpPr>
          <p:cNvPr id="5" name="Text 3"/>
          <p:cNvSpPr txBox="1"/>
          <p:nvPr/>
        </p:nvSpPr>
        <p:spPr>
          <a:xfrm>
            <a:off x="685800" y="1874520"/>
            <a:ext cx="3474720" cy="137160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You were ahead on the board, and the opponent also ran out of time.</a:t>
            </a:r>
            <a:endParaRPr lang="en-US" sz="2000" dirty="0"/>
          </a:p>
        </p:txBody>
      </p:sp>
      <p:sp>
        <p:nvSpPr>
          <p:cNvPr id="6" name="lucky"/>
          <p:cNvSpPr/>
          <p:nvPr/>
        </p:nvSpPr>
        <p:spPr>
          <a:xfrm>
            <a:off x="4754880" y="1280160"/>
            <a:ext cx="3931920" cy="2103120"/>
          </a:xfrm>
          <a:prstGeom prst="roundRect">
            <a:avLst>
              <a:gd name="adj" fmla="val 2609"/>
            </a:avLst>
          </a:prstGeom>
          <a:solidFill>
            <a:srgbClr val="FFF2CC"/>
          </a:solidFill>
          <a:ln w="12700">
            <a:solidFill>
              <a:srgbClr val="C27C0E"/>
            </a:solidFill>
            <a:prstDash val="solid"/>
          </a:ln>
        </p:spPr>
      </p:sp>
      <p:sp>
        <p:nvSpPr>
          <p:cNvPr id="7" name="Text 5"/>
          <p:cNvSpPr txBox="1"/>
          <p:nvPr/>
        </p:nvSpPr>
        <p:spPr>
          <a:xfrm>
            <a:off x="4983480" y="1417320"/>
            <a:ext cx="3474720" cy="365760"/>
          </a:xfrm>
          <a:prstGeom prst="rect">
            <a:avLst/>
          </a:prstGeom>
          <a:noFill/>
          <a:ln/>
        </p:spPr>
        <p:txBody>
          <a:bodyPr wrap="square" lIns="0" tIns="0" rIns="0" bIns="0" rtlCol="0" anchor="t"/>
          <a:lstStyle/>
          <a:p>
            <a:pPr indent="0" marL="0">
              <a:buNone/>
            </a:pPr>
            <a:r>
              <a:rPr lang="en-US" sz="2000" b="1" dirty="0">
                <a:solidFill>
                  <a:srgbClr val="C27C0E"/>
                </a:solidFill>
                <a:latin typeface="Arial" pitchFamily="34" charset="0"/>
                <a:ea typeface="Arial" pitchFamily="34" charset="-122"/>
                <a:cs typeface="Arial" pitchFamily="34" charset="-120"/>
              </a:rPr>
              <a:t>Lucky time win</a:t>
            </a:r>
            <a:endParaRPr lang="en-US" sz="2000" dirty="0"/>
          </a:p>
        </p:txBody>
      </p:sp>
      <p:sp>
        <p:nvSpPr>
          <p:cNvPr id="8" name="Text 6"/>
          <p:cNvSpPr txBox="1"/>
          <p:nvPr/>
        </p:nvSpPr>
        <p:spPr>
          <a:xfrm>
            <a:off x="4983480" y="1874520"/>
            <a:ext cx="3474720" cy="137160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You were losing on the board, but the opponent's clock hit zero first.</a:t>
            </a:r>
            <a:endParaRPr lang="en-US" sz="2000" dirty="0"/>
          </a:p>
        </p:txBody>
      </p:sp>
      <p:sp>
        <p:nvSpPr>
          <p:cNvPr id="9" name="Text 7"/>
          <p:cNvSpPr txBox="1"/>
          <p:nvPr/>
        </p:nvSpPr>
        <p:spPr>
          <a:xfrm>
            <a:off x="457200" y="3657600"/>
            <a:ext cx="8229600" cy="731520"/>
          </a:xfrm>
          <a:prstGeom prst="rect">
            <a:avLst/>
          </a:prstGeom>
          <a:noFill/>
          <a:ln/>
        </p:spPr>
        <p:txBody>
          <a:bodyPr wrap="square" lIns="0" tIns="0" rIns="0" bIns="0" rtlCol="0" anchor="t"/>
          <a:lstStyle/>
          <a:p>
            <a:pPr indent="0" marL="0">
              <a:buNone/>
            </a:pPr>
            <a:r>
              <a:rPr lang="en-US" sz="2000" b="1" dirty="0">
                <a:solidFill>
                  <a:srgbClr val="C27C0E"/>
                </a:solidFill>
                <a:latin typeface="Arial" pitchFamily="34" charset="0"/>
                <a:ea typeface="Arial" pitchFamily="34" charset="-122"/>
                <a:cs typeface="Arial" pitchFamily="34" charset="-120"/>
              </a:rPr>
              <a:t>14,284 of 70,000 </a:t>
            </a:r>
            <a:pPr indent="0" marL="0">
              <a:buNone/>
            </a:pPr>
            <a:r>
              <a:rPr lang="en-US" sz="2000" dirty="0">
                <a:solidFill>
                  <a:schemeClr val="tx1"/>
                </a:solidFill>
                <a:latin typeface="Arial" pitchFamily="34" charset="0"/>
                <a:ea typeface="Arial" pitchFamily="34" charset="-122"/>
                <a:cs typeface="Arial" pitchFamily="34" charset="-120"/>
              </a:rPr>
              <a:t>time wins checked were lucky (20.4%).</a:t>
            </a:r>
            <a:endParaRPr lang="en-US" sz="2000" dirty="0"/>
          </a:p>
        </p:txBody>
      </p:sp>
      <p:sp>
        <p:nvSpPr>
          <p:cNvPr id="10" name="Text 8"/>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2 screening: final positions of 70,000 time wins scored by Stockfish 16, 6 to 30 September 2026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chess computer gives every position a score, measured in centipawns (100 cp = 1 pawn)</a:t>
            </a:r>
            <a:endParaRPr lang="en-US" sz="2600" dirty="0"/>
          </a:p>
        </p:txBody>
      </p:sp>
      <p:sp>
        <p:nvSpPr>
          <p:cNvPr id="3" name="number line"/>
          <p:cNvSpPr/>
          <p:nvPr/>
        </p:nvSpPr>
        <p:spPr>
          <a:xfrm>
            <a:off x="914400" y="2331720"/>
            <a:ext cx="7315200" cy="0"/>
          </a:xfrm>
          <a:prstGeom prst="line">
            <a:avLst/>
          </a:prstGeom>
          <a:noFill/>
          <a:ln w="31750">
            <a:solidFill>
              <a:srgbClr val="1F4E79"/>
            </a:solidFill>
            <a:prstDash val="solid"/>
          </a:ln>
        </p:spPr>
      </p:sp>
      <p:sp>
        <p:nvSpPr>
          <p:cNvPr id="4" name="tick -500"/>
          <p:cNvSpPr/>
          <p:nvPr/>
        </p:nvSpPr>
        <p:spPr>
          <a:xfrm>
            <a:off x="914400" y="2240280"/>
            <a:ext cx="0" cy="182880"/>
          </a:xfrm>
          <a:prstGeom prst="line">
            <a:avLst/>
          </a:prstGeom>
          <a:noFill/>
          <a:ln w="19050">
            <a:solidFill>
              <a:srgbClr val="1F4E79"/>
            </a:solidFill>
            <a:prstDash val="solid"/>
          </a:ln>
        </p:spPr>
      </p:sp>
      <p:sp>
        <p:nvSpPr>
          <p:cNvPr id="5" name="Text 3"/>
          <p:cNvSpPr txBox="1"/>
          <p:nvPr/>
        </p:nvSpPr>
        <p:spPr>
          <a:xfrm>
            <a:off x="54864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-500</a:t>
            </a:r>
            <a:endParaRPr lang="en-US" sz="1400" dirty="0"/>
          </a:p>
        </p:txBody>
      </p:sp>
      <p:sp>
        <p:nvSpPr>
          <p:cNvPr id="6" name="tick -300"/>
          <p:cNvSpPr/>
          <p:nvPr/>
        </p:nvSpPr>
        <p:spPr>
          <a:xfrm>
            <a:off x="2377440" y="2240280"/>
            <a:ext cx="0" cy="182880"/>
          </a:xfrm>
          <a:prstGeom prst="line">
            <a:avLst/>
          </a:prstGeom>
          <a:noFill/>
          <a:ln w="19050">
            <a:solidFill>
              <a:srgbClr val="1F4E79"/>
            </a:solidFill>
            <a:prstDash val="solid"/>
          </a:ln>
        </p:spPr>
      </p:sp>
      <p:sp>
        <p:nvSpPr>
          <p:cNvPr id="7" name="Text 5"/>
          <p:cNvSpPr txBox="1"/>
          <p:nvPr/>
        </p:nvSpPr>
        <p:spPr>
          <a:xfrm>
            <a:off x="201168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-300</a:t>
            </a:r>
            <a:endParaRPr lang="en-US" sz="1400" dirty="0"/>
          </a:p>
        </p:txBody>
      </p:sp>
      <p:sp>
        <p:nvSpPr>
          <p:cNvPr id="8" name="tick -100"/>
          <p:cNvSpPr/>
          <p:nvPr/>
        </p:nvSpPr>
        <p:spPr>
          <a:xfrm>
            <a:off x="3840480" y="2240280"/>
            <a:ext cx="0" cy="182880"/>
          </a:xfrm>
          <a:prstGeom prst="line">
            <a:avLst/>
          </a:prstGeom>
          <a:noFill/>
          <a:ln w="19050">
            <a:solidFill>
              <a:srgbClr val="1F4E79"/>
            </a:solidFill>
            <a:prstDash val="solid"/>
          </a:ln>
        </p:spPr>
      </p:sp>
      <p:sp>
        <p:nvSpPr>
          <p:cNvPr id="9" name="Text 7"/>
          <p:cNvSpPr txBox="1"/>
          <p:nvPr/>
        </p:nvSpPr>
        <p:spPr>
          <a:xfrm>
            <a:off x="347472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-100</a:t>
            </a:r>
            <a:endParaRPr lang="en-US" sz="1400" dirty="0"/>
          </a:p>
        </p:txBody>
      </p:sp>
      <p:sp>
        <p:nvSpPr>
          <p:cNvPr id="10" name="tick 0"/>
          <p:cNvSpPr/>
          <p:nvPr/>
        </p:nvSpPr>
        <p:spPr>
          <a:xfrm>
            <a:off x="4572000" y="2240280"/>
            <a:ext cx="0" cy="182880"/>
          </a:xfrm>
          <a:prstGeom prst="line">
            <a:avLst/>
          </a:prstGeom>
          <a:noFill/>
          <a:ln w="19050">
            <a:solidFill>
              <a:srgbClr val="1F4E79"/>
            </a:solidFill>
            <a:prstDash val="solid"/>
          </a:ln>
        </p:spPr>
      </p:sp>
      <p:sp>
        <p:nvSpPr>
          <p:cNvPr id="11" name="Text 9"/>
          <p:cNvSpPr txBox="1"/>
          <p:nvPr/>
        </p:nvSpPr>
        <p:spPr>
          <a:xfrm>
            <a:off x="420624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0</a:t>
            </a:r>
            <a:endParaRPr lang="en-US" sz="1400" dirty="0"/>
          </a:p>
        </p:txBody>
      </p:sp>
      <p:sp>
        <p:nvSpPr>
          <p:cNvPr id="12" name="tick 100"/>
          <p:cNvSpPr/>
          <p:nvPr/>
        </p:nvSpPr>
        <p:spPr>
          <a:xfrm>
            <a:off x="5303520" y="2240280"/>
            <a:ext cx="0" cy="182880"/>
          </a:xfrm>
          <a:prstGeom prst="line">
            <a:avLst/>
          </a:prstGeom>
          <a:noFill/>
          <a:ln w="19050">
            <a:solidFill>
              <a:srgbClr val="1F4E79"/>
            </a:solidFill>
            <a:prstDash val="solid"/>
          </a:ln>
        </p:spPr>
      </p:sp>
      <p:sp>
        <p:nvSpPr>
          <p:cNvPr id="13" name="Text 11"/>
          <p:cNvSpPr txBox="1"/>
          <p:nvPr/>
        </p:nvSpPr>
        <p:spPr>
          <a:xfrm>
            <a:off x="493776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+100</a:t>
            </a:r>
            <a:endParaRPr lang="en-US" sz="1400" dirty="0"/>
          </a:p>
        </p:txBody>
      </p:sp>
      <p:sp>
        <p:nvSpPr>
          <p:cNvPr id="14" name="tick 300"/>
          <p:cNvSpPr/>
          <p:nvPr/>
        </p:nvSpPr>
        <p:spPr>
          <a:xfrm>
            <a:off x="6766560" y="2240280"/>
            <a:ext cx="0" cy="182880"/>
          </a:xfrm>
          <a:prstGeom prst="line">
            <a:avLst/>
          </a:prstGeom>
          <a:noFill/>
          <a:ln w="19050">
            <a:solidFill>
              <a:srgbClr val="1F4E79"/>
            </a:solidFill>
            <a:prstDash val="solid"/>
          </a:ln>
        </p:spPr>
      </p:sp>
      <p:sp>
        <p:nvSpPr>
          <p:cNvPr id="15" name="Text 13"/>
          <p:cNvSpPr txBox="1"/>
          <p:nvPr/>
        </p:nvSpPr>
        <p:spPr>
          <a:xfrm>
            <a:off x="640080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+300</a:t>
            </a:r>
            <a:endParaRPr lang="en-US" sz="1400" dirty="0"/>
          </a:p>
        </p:txBody>
      </p:sp>
      <p:sp>
        <p:nvSpPr>
          <p:cNvPr id="16" name="tick 500"/>
          <p:cNvSpPr/>
          <p:nvPr/>
        </p:nvSpPr>
        <p:spPr>
          <a:xfrm>
            <a:off x="8229600" y="2240280"/>
            <a:ext cx="0" cy="182880"/>
          </a:xfrm>
          <a:prstGeom prst="line">
            <a:avLst/>
          </a:prstGeom>
          <a:noFill/>
          <a:ln w="19050">
            <a:solidFill>
              <a:srgbClr val="1F4E79"/>
            </a:solidFill>
            <a:prstDash val="solid"/>
          </a:ln>
        </p:spPr>
      </p:sp>
      <p:sp>
        <p:nvSpPr>
          <p:cNvPr id="17" name="Text 15"/>
          <p:cNvSpPr txBox="1"/>
          <p:nvPr/>
        </p:nvSpPr>
        <p:spPr>
          <a:xfrm>
            <a:off x="786384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+500</a:t>
            </a:r>
            <a:endParaRPr lang="en-US" sz="1400" dirty="0"/>
          </a:p>
        </p:txBody>
      </p:sp>
      <p:sp>
        <p:nvSpPr>
          <p:cNvPr id="18" name="Text 16"/>
          <p:cNvSpPr txBox="1"/>
          <p:nvPr/>
        </p:nvSpPr>
        <p:spPr>
          <a:xfrm>
            <a:off x="731520" y="1600200"/>
            <a:ext cx="2377440" cy="36576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Black is winning</a:t>
            </a:r>
            <a:endParaRPr lang="en-US" sz="1600" dirty="0"/>
          </a:p>
        </p:txBody>
      </p:sp>
      <p:sp>
        <p:nvSpPr>
          <p:cNvPr id="19" name="Text 17"/>
          <p:cNvSpPr txBox="1"/>
          <p:nvPr/>
        </p:nvSpPr>
        <p:spPr>
          <a:xfrm>
            <a:off x="4023360" y="1600200"/>
            <a:ext cx="1097280" cy="365760"/>
          </a:xfrm>
          <a:prstGeom prst="rect">
            <a:avLst/>
          </a:prstGeom>
          <a:noFill/>
          <a:ln/>
        </p:spPr>
        <p:txBody>
          <a:bodyPr wrap="square" lIns="0" tIns="0" rIns="0" bIns="0" rtlCol="0" anchor="t"/>
          <a:lstStyle/>
          <a:p>
            <a:pPr algn="ctr" indent="0" marL="0">
              <a:buNone/>
            </a:pPr>
            <a:r>
              <a:rPr lang="en-US" sz="1600" b="1" dirty="0">
                <a:solidFill>
                  <a:srgbClr val="1F4E79"/>
                </a:solidFill>
                <a:latin typeface="Arial" pitchFamily="34" charset="0"/>
                <a:ea typeface="Arial" pitchFamily="34" charset="-122"/>
                <a:cs typeface="Arial" pitchFamily="34" charset="-120"/>
              </a:rPr>
              <a:t>Equal</a:t>
            </a:r>
            <a:endParaRPr lang="en-US" sz="1600" dirty="0"/>
          </a:p>
        </p:txBody>
      </p:sp>
      <p:sp>
        <p:nvSpPr>
          <p:cNvPr id="20" name="Text 18"/>
          <p:cNvSpPr txBox="1"/>
          <p:nvPr/>
        </p:nvSpPr>
        <p:spPr>
          <a:xfrm>
            <a:off x="6035040" y="1600200"/>
            <a:ext cx="2377440" cy="365760"/>
          </a:xfrm>
          <a:prstGeom prst="rect">
            <a:avLst/>
          </a:prstGeom>
          <a:noFill/>
          <a:ln/>
        </p:spPr>
        <p:txBody>
          <a:bodyPr wrap="square" lIns="0" tIns="0" rIns="0" bIns="0" rtlCol="0" anchor="t"/>
          <a:lstStyle/>
          <a:p>
            <a:pPr algn="r" indent="0" marL="0">
              <a:buNone/>
            </a:pPr>
            <a:r>
              <a:rPr lang="en-US" sz="1600" b="1" dirty="0">
                <a:solidFill>
                  <a:srgbClr val="1F4E79"/>
                </a:solidFill>
                <a:latin typeface="Arial" pitchFamily="34" charset="0"/>
                <a:ea typeface="Arial" pitchFamily="34" charset="-122"/>
                <a:cs typeface="Arial" pitchFamily="34" charset="-120"/>
              </a:rPr>
              <a:t>White is winning</a:t>
            </a:r>
            <a:endParaRPr lang="en-US" sz="1600" dirty="0"/>
          </a:p>
        </p:txBody>
      </p:sp>
      <p:sp>
        <p:nvSpPr>
          <p:cNvPr id="21" name="Text 19"/>
          <p:cNvSpPr txBox="1"/>
          <p:nvPr/>
        </p:nvSpPr>
        <p:spPr>
          <a:xfrm>
            <a:off x="457200" y="2971800"/>
            <a:ext cx="8229600" cy="164592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A pawn is the smallest chess piece; 1 pawn = 100 cp</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+300 means White is about 3 pawns better</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We always read the score from the side of the player we study</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move's mistake is how much it lowers the player's own score</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097280"/>
                <a:gridCol w="2194560"/>
                <a:gridCol w="2194560"/>
                <a:gridCol w="2743200"/>
              </a:tblGrid>
              <a:tr h="384048">
                <a:tc>
                  <a:txBody>
                    <a:bodyPr/>
                    <a:lstStyle/>
                    <a:p>
                      <a:pPr indent="0" marL="0">
                        <a:buNone/>
                      </a:pPr>
                      <a:r>
                        <a:rPr lang="en-US" sz="1600" b="1" dirty="0">
                          <a:solidFill>
                            <a:srgbClr val="FFFFFF"/>
                          </a:solidFill>
                          <a:latin typeface="Arial" pitchFamily="34" charset="0"/>
                          <a:ea typeface="Arial" pitchFamily="34" charset="-122"/>
                          <a:cs typeface="Arial" pitchFamily="34" charset="-120"/>
                        </a:rPr>
                        <a:t>Move</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Score before</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Score after</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Mistake (loss)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+50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+40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cp</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2</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+40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-250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b="1" dirty="0">
                          <a:solidFill>
                            <a:srgbClr val="C27C0E"/>
                          </a:solidFill>
                          <a:latin typeface="Arial" pitchFamily="34" charset="0"/>
                          <a:ea typeface="Arial" pitchFamily="34" charset="-122"/>
                          <a:cs typeface="Arial" pitchFamily="34" charset="-120"/>
                        </a:rPr>
                        <a:t>290 cp (a blunder)</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-250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-200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0 cp (score went up)</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4</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-200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-220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20 cp</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4" name="formula"/>
          <p:cNvSpPr/>
          <p:nvPr/>
        </p:nvSpPr>
        <p:spPr>
          <a:xfrm>
            <a:off x="457200" y="3337560"/>
            <a:ext cx="8229600" cy="640080"/>
          </a:xfrm>
          <a:prstGeom prst="roundRect">
            <a:avLst>
              <a:gd name="adj" fmla="val 8571"/>
            </a:avLst>
          </a:prstGeom>
          <a:solidFill>
            <a:srgbClr val="EBF3FA"/>
          </a:solidFill>
          <a:ln w="12700">
            <a:solidFill>
              <a:srgbClr val="2E75B6"/>
            </a:solidFill>
            <a:prstDash val="solid"/>
          </a:ln>
        </p:spPr>
      </p:sp>
      <p:sp>
        <p:nvSpPr>
          <p:cNvPr id="5" name="Text 2"/>
          <p:cNvSpPr txBox="1"/>
          <p:nvPr/>
        </p:nvSpPr>
        <p:spPr>
          <a:xfrm>
            <a:off x="640080" y="3337560"/>
            <a:ext cx="7863840" cy="640080"/>
          </a:xfrm>
          <a:prstGeom prst="rect">
            <a:avLst/>
          </a:prstGeom>
          <a:noFill/>
          <a:ln/>
        </p:spPr>
        <p:txBody>
          <a:bodyPr wrap="square" lIns="0" tIns="0" rIns="0" bIns="0" rtlCol="0" anchor="ctr"/>
          <a:lstStyle/>
          <a:p>
            <a:pPr algn="ctr" indent="0" marL="0">
              <a:buNone/>
            </a:pPr>
            <a:r>
              <a:rPr lang="en-US" sz="2000" b="1" dirty="0">
                <a:solidFill>
                  <a:srgbClr val="1F4E79"/>
                </a:solidFill>
                <a:latin typeface="Arial" pitchFamily="34" charset="0"/>
                <a:ea typeface="Arial" pitchFamily="34" charset="-122"/>
                <a:cs typeface="Arial" pitchFamily="34" charset="-120"/>
              </a:rPr>
              <a:t>loss = max(0, score before − score after)</a:t>
            </a:r>
            <a:endParaRPr lang="en-US" sz="2000" dirty="0"/>
          </a:p>
        </p:txBody>
      </p:sp>
      <p:sp>
        <p:nvSpPr>
          <p:cNvPr id="6" name="Text 3"/>
          <p:cNvSpPr txBox="1"/>
          <p:nvPr/>
        </p:nvSpPr>
        <p:spPr>
          <a:xfrm>
            <a:off x="457200" y="4114800"/>
            <a:ext cx="8229600" cy="548640"/>
          </a:xfrm>
          <a:prstGeom prst="rect">
            <a:avLst/>
          </a:prstGeom>
          <a:noFill/>
          <a:ln/>
        </p:spPr>
        <p:txBody>
          <a:bodyPr wrap="square" lIns="0" tIns="0" rIns="0" bIns="0" rtlCol="0" anchor="t"/>
          <a:lstStyle/>
          <a:p>
            <a:pPr indent="0" marL="0">
              <a:buNone/>
            </a:pPr>
            <a:r>
              <a:rPr lang="en-US" sz="1400" dirty="0">
                <a:solidFill>
                  <a:srgbClr val="777777"/>
                </a:solidFill>
                <a:latin typeface="Arial" pitchFamily="34" charset="0"/>
                <a:ea typeface="Arial" pitchFamily="34" charset="-122"/>
                <a:cs typeface="Arial" pitchFamily="34" charset="-120"/>
              </a:rPr>
              <a:t>Illustrative numbers. Scores are from the moving player's side, so for Black the engine's sign is flipped.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Average centipawn loss (ACPL) is the average mistake per move, so lower means better play</a:t>
            </a:r>
            <a:endParaRPr lang="en-US" sz="2600" dirty="0"/>
          </a:p>
        </p:txBody>
      </p:sp>
      <p:sp>
        <p:nvSpPr>
          <p:cNvPr id="3" name="formula"/>
          <p:cNvSpPr/>
          <p:nvPr/>
        </p:nvSpPr>
        <p:spPr>
          <a:xfrm>
            <a:off x="457200" y="1234440"/>
            <a:ext cx="8229600" cy="685800"/>
          </a:xfrm>
          <a:prstGeom prst="roundRect">
            <a:avLst>
              <a:gd name="adj" fmla="val 8000"/>
            </a:avLst>
          </a:prstGeom>
          <a:solidFill>
            <a:srgbClr val="EBF3FA"/>
          </a:solidFill>
          <a:ln w="12700">
            <a:solidFill>
              <a:srgbClr val="2E75B6"/>
            </a:solidFill>
            <a:prstDash val="solid"/>
          </a:ln>
        </p:spPr>
      </p:sp>
      <p:sp>
        <p:nvSpPr>
          <p:cNvPr id="4" name="Text 2"/>
          <p:cNvSpPr txBox="1"/>
          <p:nvPr/>
        </p:nvSpPr>
        <p:spPr>
          <a:xfrm>
            <a:off x="640080" y="1234440"/>
            <a:ext cx="7863840" cy="685800"/>
          </a:xfrm>
          <a:prstGeom prst="rect">
            <a:avLst/>
          </a:prstGeom>
          <a:noFill/>
          <a:ln/>
        </p:spPr>
        <p:txBody>
          <a:bodyPr wrap="square" lIns="0" tIns="0" rIns="0" bIns="0" rtlCol="0" anchor="ctr"/>
          <a:lstStyle/>
          <a:p>
            <a:pPr algn="ctr" indent="0" marL="0">
              <a:buNone/>
            </a:pPr>
            <a:r>
              <a:rPr lang="en-US" sz="2000" b="1" dirty="0">
                <a:solidFill>
                  <a:srgbClr val="1F4E79"/>
                </a:solidFill>
                <a:latin typeface="Arial" pitchFamily="34" charset="0"/>
                <a:ea typeface="Arial" pitchFamily="34" charset="-122"/>
                <a:cs typeface="Arial" pitchFamily="34" charset="-120"/>
              </a:rPr>
              <a:t>ACPL = (loss₁ + loss₂ + … + lossₙ) ÷ n</a:t>
            </a:r>
            <a:endParaRPr lang="en-US" sz="2000" dirty="0"/>
          </a:p>
        </p:txBody>
      </p:sp>
      <p:sp>
        <p:nvSpPr>
          <p:cNvPr id="5" name="Text 3"/>
          <p:cNvSpPr txBox="1"/>
          <p:nvPr/>
        </p:nvSpPr>
        <p:spPr>
          <a:xfrm>
            <a:off x="457200" y="2103120"/>
            <a:ext cx="8229600" cy="45720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Example from the previous slide: (10 + 290 + 0 + 20) ÷ 4 = 80 cp</a:t>
            </a:r>
            <a:endParaRPr lang="en-US" sz="2000" dirty="0"/>
          </a:p>
        </p:txBody>
      </p:sp>
      <p:sp>
        <p:nvSpPr>
          <p:cNvPr id="6" name="Text 4"/>
          <p:cNvSpPr txBox="1"/>
          <p:nvPr/>
        </p:nvSpPr>
        <p:spPr>
          <a:xfrm>
            <a:off x="457200" y="2743200"/>
            <a:ext cx="822960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In study 2's next games</a:t>
            </a:r>
            <a:endParaRPr lang="en-US" sz="2000" dirty="0"/>
          </a:p>
        </p:txBody>
      </p:sp>
      <p:sp>
        <p:nvSpPr>
          <p:cNvPr id="7" name="Text 5"/>
          <p:cNvSpPr txBox="1"/>
          <p:nvPr/>
        </p:nvSpPr>
        <p:spPr>
          <a:xfrm>
            <a:off x="457200" y="3200400"/>
            <a:ext cx="82296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Middle player: 61 cp per move</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Middle half of games: 38 to 95 cp</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Each 100 rating points stronger: about 3.7 cp lower</a:t>
            </a:r>
            <a:endParaRPr lang="en-US" sz="2000" dirty="0"/>
          </a:p>
        </p:txBody>
      </p:sp>
      <p:sp>
        <p:nvSpPr>
          <p:cNvPr id="8" name="Text 6"/>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2, 23,995 lucky and deserved pairs; rating effect from the regression in Part 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Study 1 found the type of win barely matters, but hinted that lucky wins might</a:t>
            </a:r>
            <a:endParaRPr lang="en-US" sz="2600" dirty="0"/>
          </a:p>
        </p:txBody>
      </p:sp>
      <p:sp>
        <p:nvSpPr>
          <p:cNvPr id="3" name="study 1 result"/>
          <p:cNvSpPr/>
          <p:nvPr/>
        </p:nvSpPr>
        <p:spPr>
          <a:xfrm>
            <a:off x="457200" y="1234440"/>
            <a:ext cx="3931920" cy="2194560"/>
          </a:xfrm>
          <a:prstGeom prst="roundRect">
            <a:avLst>
              <a:gd name="adj" fmla="val 2500"/>
            </a:avLst>
          </a:prstGeom>
          <a:solidFill>
            <a:srgbClr val="EBF3FA"/>
          </a:solidFill>
          <a:ln w="12700">
            <a:solidFill>
              <a:srgbClr val="2E75B6"/>
            </a:solidFill>
            <a:prstDash val="solid"/>
          </a:ln>
        </p:spPr>
      </p:sp>
      <p:sp>
        <p:nvSpPr>
          <p:cNvPr id="4" name="Text 2"/>
          <p:cNvSpPr txBox="1"/>
          <p:nvPr/>
        </p:nvSpPr>
        <p:spPr>
          <a:xfrm>
            <a:off x="685800" y="1371600"/>
            <a:ext cx="3474720" cy="365760"/>
          </a:xfrm>
          <a:prstGeom prst="rect">
            <a:avLst/>
          </a:prstGeom>
          <a:noFill/>
          <a:ln/>
        </p:spPr>
        <p:txBody>
          <a:bodyPr wrap="square" lIns="0" tIns="0" rIns="0" bIns="0" rtlCol="0" anchor="t"/>
          <a:lstStyle/>
          <a:p>
            <a:pPr indent="0" marL="0">
              <a:buNone/>
            </a:pPr>
            <a:r>
              <a:rPr lang="en-US" sz="2000" b="1" dirty="0">
                <a:solidFill>
                  <a:srgbClr val="1F4E79"/>
                </a:solidFill>
                <a:latin typeface="Arial" pitchFamily="34" charset="0"/>
                <a:ea typeface="Arial" pitchFamily="34" charset="-122"/>
                <a:cs typeface="Arial" pitchFamily="34" charset="-120"/>
              </a:rPr>
              <a:t>Main result</a:t>
            </a:r>
            <a:endParaRPr lang="en-US" sz="2000" dirty="0"/>
          </a:p>
        </p:txBody>
      </p:sp>
      <p:sp>
        <p:nvSpPr>
          <p:cNvPr id="5" name="Text 3"/>
          <p:cNvSpPr txBox="1"/>
          <p:nvPr/>
        </p:nvSpPr>
        <p:spPr>
          <a:xfrm>
            <a:off x="685800" y="1828800"/>
            <a:ext cx="3474720" cy="210312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Time, checkmate and resignation wins: next-game gaps under 1 cp (18,002 games).</a:t>
            </a:r>
            <a:endParaRPr lang="en-US" sz="2000" dirty="0"/>
          </a:p>
        </p:txBody>
      </p:sp>
      <p:sp>
        <p:nvSpPr>
          <p:cNvPr id="6" name="study 1 hint"/>
          <p:cNvSpPr/>
          <p:nvPr/>
        </p:nvSpPr>
        <p:spPr>
          <a:xfrm>
            <a:off x="4754880" y="1234440"/>
            <a:ext cx="3931920" cy="2194560"/>
          </a:xfrm>
          <a:prstGeom prst="roundRect">
            <a:avLst>
              <a:gd name="adj" fmla="val 2500"/>
            </a:avLst>
          </a:prstGeom>
          <a:solidFill>
            <a:srgbClr val="FFF2CC"/>
          </a:solidFill>
          <a:ln w="12700">
            <a:solidFill>
              <a:srgbClr val="C27C0E"/>
            </a:solidFill>
            <a:prstDash val="solid"/>
          </a:ln>
        </p:spPr>
      </p:sp>
      <p:sp>
        <p:nvSpPr>
          <p:cNvPr id="7" name="Text 5"/>
          <p:cNvSpPr txBox="1"/>
          <p:nvPr/>
        </p:nvSpPr>
        <p:spPr>
          <a:xfrm>
            <a:off x="4983480" y="1371600"/>
            <a:ext cx="3474720" cy="365760"/>
          </a:xfrm>
          <a:prstGeom prst="rect">
            <a:avLst/>
          </a:prstGeom>
          <a:noFill/>
          <a:ln/>
        </p:spPr>
        <p:txBody>
          <a:bodyPr wrap="square" lIns="0" tIns="0" rIns="0" bIns="0" rtlCol="0" anchor="t"/>
          <a:lstStyle/>
          <a:p>
            <a:pPr indent="0" marL="0">
              <a:buNone/>
            </a:pPr>
            <a:r>
              <a:rPr lang="en-US" sz="2000" b="1" dirty="0">
                <a:solidFill>
                  <a:srgbClr val="C27C0E"/>
                </a:solidFill>
                <a:latin typeface="Arial" pitchFamily="34" charset="0"/>
                <a:ea typeface="Arial" pitchFamily="34" charset="-122"/>
                <a:cs typeface="Arial" pitchFamily="34" charset="-120"/>
              </a:rPr>
              <a:t>Unplanned hint</a:t>
            </a:r>
            <a:endParaRPr lang="en-US" sz="2000" dirty="0"/>
          </a:p>
        </p:txBody>
      </p:sp>
      <p:sp>
        <p:nvSpPr>
          <p:cNvPr id="8" name="Text 6"/>
          <p:cNvSpPr txBox="1"/>
          <p:nvPr/>
        </p:nvSpPr>
        <p:spPr>
          <a:xfrm>
            <a:off x="4983480" y="1828800"/>
            <a:ext cx="3474720" cy="210312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1,288 lucky time winners played 2.2 cp worse. Too few to be sure (p = 0.15).</a:t>
            </a:r>
            <a:endParaRPr lang="en-US" sz="2000" dirty="0"/>
          </a:p>
        </p:txBody>
      </p:sp>
      <p:sp>
        <p:nvSpPr>
          <p:cNvPr id="9" name="Text 7"/>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1: Lichess rated rapid, 1 to 5 August and 1 to 5 September 2026; results/SUMMARY.md</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2</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The questions</a:t>
            </a:r>
            <a:endParaRPr lang="en-US" sz="3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Two questions, each with a prediction fixed and dated before any data was scored</a:t>
            </a:r>
            <a:endParaRPr lang="en-US" sz="2600" dirty="0"/>
          </a:p>
        </p:txBody>
      </p:sp>
      <p:sp>
        <p:nvSpPr>
          <p:cNvPr id="3" name="RQ2 (main)"/>
          <p:cNvSpPr/>
          <p:nvPr/>
        </p:nvSpPr>
        <p:spPr>
          <a:xfrm>
            <a:off x="457200" y="1188720"/>
            <a:ext cx="3977640" cy="2514600"/>
          </a:xfrm>
          <a:prstGeom prst="roundRect">
            <a:avLst>
              <a:gd name="adj" fmla="val 2182"/>
            </a:avLst>
          </a:prstGeom>
          <a:solidFill>
            <a:srgbClr val="EBF3FA"/>
          </a:solidFill>
          <a:ln w="12700">
            <a:solidFill>
              <a:srgbClr val="2E75B6"/>
            </a:solidFill>
            <a:prstDash val="solid"/>
          </a:ln>
        </p:spPr>
      </p:sp>
      <p:sp>
        <p:nvSpPr>
          <p:cNvPr id="4" name="Text 2"/>
          <p:cNvSpPr txBox="1"/>
          <p:nvPr/>
        </p:nvSpPr>
        <p:spPr>
          <a:xfrm>
            <a:off x="685800" y="1298448"/>
            <a:ext cx="356616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RQ2 (main)</a:t>
            </a:r>
            <a:endParaRPr lang="en-US" sz="2000" dirty="0"/>
          </a:p>
        </p:txBody>
      </p:sp>
      <p:sp>
        <p:nvSpPr>
          <p:cNvPr id="5" name="Text 3"/>
          <p:cNvSpPr txBox="1"/>
          <p:nvPr/>
        </p:nvSpPr>
        <p:spPr>
          <a:xfrm>
            <a:off x="685800" y="1719072"/>
            <a:ext cx="3566160" cy="914400"/>
          </a:xfrm>
          <a:prstGeom prst="rect">
            <a:avLst/>
          </a:prstGeom>
          <a:noFill/>
          <a:ln/>
        </p:spPr>
        <p:txBody>
          <a:bodyPr wrap="square" lIns="0" tIns="0" rIns="0" bIns="0" rtlCol="0" anchor="t"/>
          <a:lstStyle/>
          <a:p>
            <a:pPr indent="0" marL="0">
              <a:buNone/>
            </a:pPr>
            <a:r>
              <a:rPr lang="en-US" sz="2000" dirty="0">
                <a:solidFill>
                  <a:srgbClr val="1F4E79"/>
                </a:solidFill>
                <a:latin typeface="Arial" pitchFamily="34" charset="0"/>
                <a:ea typeface="Arial" pitchFamily="34" charset="-122"/>
                <a:cs typeface="Arial" pitchFamily="34" charset="-120"/>
              </a:rPr>
              <a:t>Does a lucky time win change the next game?</a:t>
            </a:r>
            <a:endParaRPr lang="en-US" sz="2000" dirty="0"/>
          </a:p>
        </p:txBody>
      </p:sp>
      <p:sp>
        <p:nvSpPr>
          <p:cNvPr id="6" name="Text 4"/>
          <p:cNvSpPr txBox="1"/>
          <p:nvPr/>
        </p:nvSpPr>
        <p:spPr>
          <a:xfrm>
            <a:off x="685800" y="2651760"/>
            <a:ext cx="3566160" cy="100584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Prediction: no. Players reset, within ±2 cp.</a:t>
            </a:r>
            <a:endParaRPr lang="en-US" sz="2000" dirty="0"/>
          </a:p>
        </p:txBody>
      </p:sp>
      <p:sp>
        <p:nvSpPr>
          <p:cNvPr id="7" name="RQ1 (repeat)"/>
          <p:cNvSpPr/>
          <p:nvPr/>
        </p:nvSpPr>
        <p:spPr>
          <a:xfrm>
            <a:off x="4709160" y="1188720"/>
            <a:ext cx="3977640" cy="2514600"/>
          </a:xfrm>
          <a:prstGeom prst="roundRect">
            <a:avLst>
              <a:gd name="adj" fmla="val 2182"/>
            </a:avLst>
          </a:prstGeom>
          <a:solidFill>
            <a:srgbClr val="EBF3FA"/>
          </a:solidFill>
          <a:ln w="12700">
            <a:solidFill>
              <a:srgbClr val="2E75B6"/>
            </a:solidFill>
            <a:prstDash val="solid"/>
          </a:ln>
        </p:spPr>
      </p:sp>
      <p:sp>
        <p:nvSpPr>
          <p:cNvPr id="8" name="Text 6"/>
          <p:cNvSpPr txBox="1"/>
          <p:nvPr/>
        </p:nvSpPr>
        <p:spPr>
          <a:xfrm>
            <a:off x="4937760" y="1298448"/>
            <a:ext cx="356616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RQ1 (repeat)</a:t>
            </a:r>
            <a:endParaRPr lang="en-US" sz="2000" dirty="0"/>
          </a:p>
        </p:txBody>
      </p:sp>
      <p:sp>
        <p:nvSpPr>
          <p:cNvPr id="9" name="Text 7"/>
          <p:cNvSpPr txBox="1"/>
          <p:nvPr/>
        </p:nvSpPr>
        <p:spPr>
          <a:xfrm>
            <a:off x="4937760" y="1719072"/>
            <a:ext cx="3566160" cy="914400"/>
          </a:xfrm>
          <a:prstGeom prst="rect">
            <a:avLst/>
          </a:prstGeom>
          <a:noFill/>
          <a:ln/>
        </p:spPr>
        <p:txBody>
          <a:bodyPr wrap="square" lIns="0" tIns="0" rIns="0" bIns="0" rtlCol="0" anchor="t"/>
          <a:lstStyle/>
          <a:p>
            <a:pPr indent="0" marL="0">
              <a:buNone/>
            </a:pPr>
            <a:r>
              <a:rPr lang="en-US" sz="2000" dirty="0">
                <a:solidFill>
                  <a:srgbClr val="1F4E79"/>
                </a:solidFill>
                <a:latin typeface="Arial" pitchFamily="34" charset="0"/>
                <a:ea typeface="Arial" pitchFamily="34" charset="-122"/>
                <a:cs typeface="Arial" pitchFamily="34" charset="-120"/>
              </a:rPr>
              <a:t>Does the type of win change the next game?</a:t>
            </a:r>
            <a:endParaRPr lang="en-US" sz="2000" dirty="0"/>
          </a:p>
        </p:txBody>
      </p:sp>
      <p:sp>
        <p:nvSpPr>
          <p:cNvPr id="10" name="Text 8"/>
          <p:cNvSpPr txBox="1"/>
          <p:nvPr/>
        </p:nvSpPr>
        <p:spPr>
          <a:xfrm>
            <a:off x="4937760" y="2651760"/>
            <a:ext cx="3566160" cy="100584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Prediction: no. Within ±3 cp, as in study 1.</a:t>
            </a:r>
            <a:endParaRPr lang="en-US" sz="2000" dirty="0"/>
          </a:p>
        </p:txBody>
      </p:sp>
      <p:sp>
        <p:nvSpPr>
          <p:cNvPr id="11" name="Text 9"/>
          <p:cNvSpPr txBox="1"/>
          <p:nvPr/>
        </p:nvSpPr>
        <p:spPr>
          <a:xfrm>
            <a:off x="457200" y="3931920"/>
            <a:ext cx="8229600" cy="685800"/>
          </a:xfrm>
          <a:prstGeom prst="rect">
            <a:avLst/>
          </a:prstGeom>
          <a:noFill/>
          <a:ln/>
        </p:spPr>
        <p:txBody>
          <a:bodyPr wrap="square" lIns="0" tIns="0" rIns="0" bIns="0" rtlCol="0" anchor="t"/>
          <a:lstStyle/>
          <a:p>
            <a:pPr indent="0" marL="0">
              <a:buNone/>
            </a:pPr>
            <a:r>
              <a:rPr lang="en-US" sz="1800" dirty="0">
                <a:solidFill>
                  <a:srgbClr val="777777"/>
                </a:solidFill>
                <a:latin typeface="Arial" pitchFamily="34" charset="0"/>
                <a:ea typeface="Arial" pitchFamily="34" charset="-122"/>
                <a:cs typeface="Arial" pitchFamily="34" charset="-120"/>
              </a:rPr>
              <a:t>Fixing the prediction first is like painting the target before shooting the arrow.</a:t>
            </a:r>
            <a:endParaRPr lang="en-US" sz="1800" dirty="0"/>
          </a:p>
        </p:txBody>
      </p:sp>
      <p:sp>
        <p:nvSpPr>
          <p:cNvPr id="12" name="Text 10"/>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PREREGISTRATION_STUDY2.md, committed 12 October 2026, 11:02 UTC</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3</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How it was measured</a:t>
            </a:r>
            <a:endParaRPr lang="en-US" sz="3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From 89.6 million games to about 24,000 comparable pairs</a:t>
            </a:r>
            <a:endParaRPr lang="en-US" sz="2600" dirty="0"/>
          </a:p>
        </p:txBody>
      </p:sp>
      <p:sp>
        <p:nvSpPr>
          <p:cNvPr id="3" name="funnel 0"/>
          <p:cNvSpPr/>
          <p:nvPr/>
        </p:nvSpPr>
        <p:spPr>
          <a:xfrm>
            <a:off x="457200" y="1143000"/>
            <a:ext cx="8229600" cy="457200"/>
          </a:xfrm>
          <a:prstGeom prst="roundRect">
            <a:avLst>
              <a:gd name="adj" fmla="val 12000"/>
            </a:avLst>
          </a:prstGeom>
          <a:solidFill>
            <a:srgbClr val="EBF3FA"/>
          </a:solidFill>
          <a:ln w="12700">
            <a:solidFill>
              <a:srgbClr val="2E75B6"/>
            </a:solidFill>
            <a:prstDash val="solid"/>
          </a:ln>
        </p:spPr>
      </p:sp>
      <p:sp>
        <p:nvSpPr>
          <p:cNvPr id="4" name="Text 2"/>
          <p:cNvSpPr txBox="1"/>
          <p:nvPr/>
        </p:nvSpPr>
        <p:spPr>
          <a:xfrm>
            <a:off x="594360" y="1143000"/>
            <a:ext cx="795528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89,616,462  </a:t>
            </a:r>
            <a:pPr algn="ctr" indent="0" marL="0">
              <a:buNone/>
            </a:pPr>
            <a:r>
              <a:rPr lang="en-US" sz="1500" dirty="0">
                <a:solidFill>
                  <a:schemeClr val="tx1"/>
                </a:solidFill>
                <a:latin typeface="Arial" pitchFamily="34" charset="0"/>
                <a:ea typeface="Arial" pitchFamily="34" charset="-122"/>
                <a:cs typeface="Arial" pitchFamily="34" charset="-120"/>
              </a:rPr>
              <a:t>all rated games, September 2026</a:t>
            </a:r>
            <a:endParaRPr lang="en-US" sz="1500" dirty="0"/>
          </a:p>
        </p:txBody>
      </p:sp>
      <p:sp>
        <p:nvSpPr>
          <p:cNvPr id="5" name="funnel 1"/>
          <p:cNvSpPr/>
          <p:nvPr/>
        </p:nvSpPr>
        <p:spPr>
          <a:xfrm>
            <a:off x="731520" y="1691640"/>
            <a:ext cx="7680960" cy="457200"/>
          </a:xfrm>
          <a:prstGeom prst="roundRect">
            <a:avLst>
              <a:gd name="adj" fmla="val 12000"/>
            </a:avLst>
          </a:prstGeom>
          <a:solidFill>
            <a:srgbClr val="EBF3FA"/>
          </a:solidFill>
          <a:ln w="12700">
            <a:solidFill>
              <a:srgbClr val="2E75B6"/>
            </a:solidFill>
            <a:prstDash val="solid"/>
          </a:ln>
        </p:spPr>
      </p:sp>
      <p:sp>
        <p:nvSpPr>
          <p:cNvPr id="6" name="Text 4"/>
          <p:cNvSpPr txBox="1"/>
          <p:nvPr/>
        </p:nvSpPr>
        <p:spPr>
          <a:xfrm>
            <a:off x="868680" y="1691640"/>
            <a:ext cx="740664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14,935,862  </a:t>
            </a:r>
            <a:pPr algn="ctr" indent="0" marL="0">
              <a:buNone/>
            </a:pPr>
            <a:r>
              <a:rPr lang="en-US" sz="1500" dirty="0">
                <a:solidFill>
                  <a:schemeClr val="tx1"/>
                </a:solidFill>
                <a:latin typeface="Arial" pitchFamily="34" charset="0"/>
                <a:ea typeface="Arial" pitchFamily="34" charset="-122"/>
                <a:cs typeface="Arial" pitchFamily="34" charset="-120"/>
              </a:rPr>
              <a:t>rapid games, standard chess, no computer accounts</a:t>
            </a:r>
            <a:endParaRPr lang="en-US" sz="1500" dirty="0"/>
          </a:p>
        </p:txBody>
      </p:sp>
      <p:sp>
        <p:nvSpPr>
          <p:cNvPr id="7" name="funnel 2"/>
          <p:cNvSpPr/>
          <p:nvPr/>
        </p:nvSpPr>
        <p:spPr>
          <a:xfrm>
            <a:off x="1005840" y="2240280"/>
            <a:ext cx="7132320" cy="457200"/>
          </a:xfrm>
          <a:prstGeom prst="roundRect">
            <a:avLst>
              <a:gd name="adj" fmla="val 12000"/>
            </a:avLst>
          </a:prstGeom>
          <a:solidFill>
            <a:srgbClr val="EBF3FA"/>
          </a:solidFill>
          <a:ln w="12700">
            <a:solidFill>
              <a:srgbClr val="2E75B6"/>
            </a:solidFill>
            <a:prstDash val="solid"/>
          </a:ln>
        </p:spPr>
      </p:sp>
      <p:sp>
        <p:nvSpPr>
          <p:cNvPr id="8" name="Text 6"/>
          <p:cNvSpPr txBox="1"/>
          <p:nvPr/>
        </p:nvSpPr>
        <p:spPr>
          <a:xfrm>
            <a:off x="1143000" y="2240280"/>
            <a:ext cx="685800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454,791  </a:t>
            </a:r>
            <a:pPr algn="ctr" indent="0" marL="0">
              <a:buNone/>
            </a:pPr>
            <a:r>
              <a:rPr lang="en-US" sz="1500" dirty="0">
                <a:solidFill>
                  <a:schemeClr val="tx1"/>
                </a:solidFill>
                <a:latin typeface="Arial" pitchFamily="34" charset="0"/>
                <a:ea typeface="Arial" pitchFamily="34" charset="-122"/>
                <a:cs typeface="Arial" pitchFamily="34" charset="-120"/>
              </a:rPr>
              <a:t>time wins followed by a next game, rating 1200–2000, 6–30 Sep</a:t>
            </a:r>
            <a:endParaRPr lang="en-US" sz="1500" dirty="0"/>
          </a:p>
        </p:txBody>
      </p:sp>
      <p:sp>
        <p:nvSpPr>
          <p:cNvPr id="9" name="funnel 3"/>
          <p:cNvSpPr/>
          <p:nvPr/>
        </p:nvSpPr>
        <p:spPr>
          <a:xfrm>
            <a:off x="1280160" y="2788920"/>
            <a:ext cx="6583680" cy="457200"/>
          </a:xfrm>
          <a:prstGeom prst="roundRect">
            <a:avLst>
              <a:gd name="adj" fmla="val 12000"/>
            </a:avLst>
          </a:prstGeom>
          <a:solidFill>
            <a:srgbClr val="EBF3FA"/>
          </a:solidFill>
          <a:ln w="12700">
            <a:solidFill>
              <a:srgbClr val="2E75B6"/>
            </a:solidFill>
            <a:prstDash val="solid"/>
          </a:ln>
        </p:spPr>
      </p:sp>
      <p:sp>
        <p:nvSpPr>
          <p:cNvPr id="10" name="Text 8"/>
          <p:cNvSpPr txBox="1"/>
          <p:nvPr/>
        </p:nvSpPr>
        <p:spPr>
          <a:xfrm>
            <a:off x="1417320" y="2788920"/>
            <a:ext cx="630936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148,277  </a:t>
            </a:r>
            <a:pPr algn="ctr" indent="0" marL="0">
              <a:buNone/>
            </a:pPr>
            <a:r>
              <a:rPr lang="en-US" sz="1500" dirty="0">
                <a:solidFill>
                  <a:schemeClr val="tx1"/>
                </a:solidFill>
                <a:latin typeface="Arial" pitchFamily="34" charset="0"/>
                <a:ea typeface="Arial" pitchFamily="34" charset="-122"/>
                <a:cs typeface="Arial" pitchFamily="34" charset="-120"/>
              </a:rPr>
              <a:t>one per player</a:t>
            </a:r>
            <a:endParaRPr lang="en-US" sz="1500" dirty="0"/>
          </a:p>
        </p:txBody>
      </p:sp>
      <p:sp>
        <p:nvSpPr>
          <p:cNvPr id="11" name="funnel 4"/>
          <p:cNvSpPr/>
          <p:nvPr/>
        </p:nvSpPr>
        <p:spPr>
          <a:xfrm>
            <a:off x="1554480" y="3337560"/>
            <a:ext cx="6035040" cy="457200"/>
          </a:xfrm>
          <a:prstGeom prst="roundRect">
            <a:avLst>
              <a:gd name="adj" fmla="val 12000"/>
            </a:avLst>
          </a:prstGeom>
          <a:solidFill>
            <a:srgbClr val="EBF3FA"/>
          </a:solidFill>
          <a:ln w="12700">
            <a:solidFill>
              <a:srgbClr val="2E75B6"/>
            </a:solidFill>
            <a:prstDash val="solid"/>
          </a:ln>
        </p:spPr>
      </p:sp>
      <p:sp>
        <p:nvSpPr>
          <p:cNvPr id="12" name="Text 10"/>
          <p:cNvSpPr txBox="1"/>
          <p:nvPr/>
        </p:nvSpPr>
        <p:spPr>
          <a:xfrm>
            <a:off x="1691640" y="3337560"/>
            <a:ext cx="576072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70,000  </a:t>
            </a:r>
            <a:pPr algn="ctr" indent="0" marL="0">
              <a:buNone/>
            </a:pPr>
            <a:r>
              <a:rPr lang="en-US" sz="1500" dirty="0">
                <a:solidFill>
                  <a:schemeClr val="tx1"/>
                </a:solidFill>
                <a:latin typeface="Arial" pitchFamily="34" charset="0"/>
                <a:ea typeface="Arial" pitchFamily="34" charset="-122"/>
                <a:cs typeface="Arial" pitchFamily="34" charset="-120"/>
              </a:rPr>
              <a:t>checked by the chess computer, in random order</a:t>
            </a:r>
            <a:endParaRPr lang="en-US" sz="1500" dirty="0"/>
          </a:p>
        </p:txBody>
      </p:sp>
      <p:sp>
        <p:nvSpPr>
          <p:cNvPr id="13" name="funnel 5"/>
          <p:cNvSpPr/>
          <p:nvPr/>
        </p:nvSpPr>
        <p:spPr>
          <a:xfrm>
            <a:off x="1828800" y="3886200"/>
            <a:ext cx="5486400" cy="457200"/>
          </a:xfrm>
          <a:prstGeom prst="roundRect">
            <a:avLst>
              <a:gd name="adj" fmla="val 12000"/>
            </a:avLst>
          </a:prstGeom>
          <a:solidFill>
            <a:srgbClr val="FFF2CC"/>
          </a:solidFill>
          <a:ln w="12700">
            <a:solidFill>
              <a:srgbClr val="C27C0E"/>
            </a:solidFill>
            <a:prstDash val="solid"/>
          </a:ln>
        </p:spPr>
      </p:sp>
      <p:sp>
        <p:nvSpPr>
          <p:cNvPr id="14" name="Text 12"/>
          <p:cNvSpPr txBox="1"/>
          <p:nvPr/>
        </p:nvSpPr>
        <p:spPr>
          <a:xfrm>
            <a:off x="1965960" y="3886200"/>
            <a:ext cx="5212080" cy="457200"/>
          </a:xfrm>
          <a:prstGeom prst="rect">
            <a:avLst/>
          </a:prstGeom>
          <a:noFill/>
          <a:ln/>
        </p:spPr>
        <p:txBody>
          <a:bodyPr wrap="square" lIns="0" tIns="0" rIns="0" bIns="0" rtlCol="0" anchor="ctr"/>
          <a:lstStyle/>
          <a:p>
            <a:pPr algn="ctr" indent="0" marL="0">
              <a:buNone/>
            </a:pPr>
            <a:r>
              <a:rPr lang="en-US" sz="1500" b="1" dirty="0">
                <a:solidFill>
                  <a:srgbClr val="C27C0E"/>
                </a:solidFill>
                <a:latin typeface="Arial" pitchFamily="34" charset="0"/>
                <a:ea typeface="Arial" pitchFamily="34" charset="-122"/>
                <a:cs typeface="Arial" pitchFamily="34" charset="-120"/>
              </a:rPr>
              <a:t>12,033 + 11,962  </a:t>
            </a:r>
            <a:pPr algn="ctr" indent="0" marL="0">
              <a:buNone/>
            </a:pPr>
            <a:r>
              <a:rPr lang="en-US" sz="1500" dirty="0">
                <a:solidFill>
                  <a:schemeClr val="tx1"/>
                </a:solidFill>
                <a:latin typeface="Arial" pitchFamily="34" charset="0"/>
                <a:ea typeface="Arial" pitchFamily="34" charset="-122"/>
                <a:cs typeface="Arial" pitchFamily="34" charset="-120"/>
              </a:rPr>
              <a:t>lucky + deserved pairs scored</a:t>
            </a:r>
            <a:endParaRPr lang="en-US" sz="1500" dirty="0"/>
          </a:p>
        </p:txBody>
      </p:sp>
      <p:sp>
        <p:nvSpPr>
          <p:cNvPr id="15" name="Text 13"/>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Lichess open database (database.lichess.org, CC0). Box widths are not to scale.</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pair is one win plus the same player's very next game, started within 30 minutes</a:t>
            </a:r>
            <a:endParaRPr lang="en-US" sz="2600" dirty="0"/>
          </a:p>
        </p:txBody>
      </p:sp>
      <p:sp>
        <p:nvSpPr>
          <p:cNvPr id="3" name="game A"/>
          <p:cNvSpPr/>
          <p:nvPr/>
        </p:nvSpPr>
        <p:spPr>
          <a:xfrm>
            <a:off x="457200" y="1463040"/>
            <a:ext cx="2743200" cy="1280160"/>
          </a:xfrm>
          <a:prstGeom prst="roundRect">
            <a:avLst>
              <a:gd name="adj" fmla="val 4286"/>
            </a:avLst>
          </a:prstGeom>
          <a:solidFill>
            <a:srgbClr val="EBF3FA"/>
          </a:solidFill>
          <a:ln w="12700">
            <a:solidFill>
              <a:srgbClr val="2E75B6"/>
            </a:solidFill>
            <a:prstDash val="solid"/>
          </a:ln>
        </p:spPr>
      </p:sp>
      <p:sp>
        <p:nvSpPr>
          <p:cNvPr id="4" name="Text 2"/>
          <p:cNvSpPr txBox="1"/>
          <p:nvPr/>
        </p:nvSpPr>
        <p:spPr>
          <a:xfrm>
            <a:off x="640080" y="1463040"/>
            <a:ext cx="2377440" cy="128016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Game A</a:t>
            </a:r>
            <a:endParaRPr lang="en-US" sz="2000" dirty="0"/>
          </a:p>
          <a:p>
            <a:pPr indent="0" marL="0">
              <a:buNone/>
            </a:pPr>
            <a:r>
              <a:rPr lang="en-US" sz="2000" dirty="0">
                <a:solidFill>
                  <a:srgbClr val="1F4E79"/>
                </a:solidFill>
                <a:latin typeface="Arial" pitchFamily="34" charset="0"/>
                <a:ea typeface="Arial" pitchFamily="34" charset="-122"/>
                <a:cs typeface="Arial" pitchFamily="34" charset="-120"/>
              </a:rPr>
              <a:t>the win (lucky or deserved)</a:t>
            </a:r>
            <a:endParaRPr lang="en-US" sz="2000" dirty="0"/>
          </a:p>
        </p:txBody>
      </p:sp>
      <p:sp>
        <p:nvSpPr>
          <p:cNvPr id="5" name="arrow"/>
          <p:cNvSpPr/>
          <p:nvPr/>
        </p:nvSpPr>
        <p:spPr>
          <a:xfrm>
            <a:off x="3337560" y="1920240"/>
            <a:ext cx="1554480" cy="365760"/>
          </a:xfrm>
          <a:prstGeom prst="rightArrow">
            <a:avLst/>
          </a:prstGeom>
          <a:solidFill>
            <a:srgbClr val="777777"/>
          </a:solidFill>
          <a:ln w="12700">
            <a:solidFill>
              <a:srgbClr val="777777"/>
            </a:solidFill>
            <a:prstDash val="solid"/>
          </a:ln>
        </p:spPr>
      </p:sp>
      <p:sp>
        <p:nvSpPr>
          <p:cNvPr id="6" name="Text 4"/>
          <p:cNvSpPr txBox="1"/>
          <p:nvPr/>
        </p:nvSpPr>
        <p:spPr>
          <a:xfrm>
            <a:off x="3154680" y="2377440"/>
            <a:ext cx="1920240" cy="54864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 30 min, no game in between</a:t>
            </a:r>
            <a:endParaRPr lang="en-US" sz="1400" dirty="0"/>
          </a:p>
        </p:txBody>
      </p:sp>
      <p:sp>
        <p:nvSpPr>
          <p:cNvPr id="7" name="game B"/>
          <p:cNvSpPr/>
          <p:nvPr/>
        </p:nvSpPr>
        <p:spPr>
          <a:xfrm>
            <a:off x="5029200" y="1463040"/>
            <a:ext cx="3657600" cy="1280160"/>
          </a:xfrm>
          <a:prstGeom prst="roundRect">
            <a:avLst>
              <a:gd name="adj" fmla="val 4286"/>
            </a:avLst>
          </a:prstGeom>
          <a:solidFill>
            <a:srgbClr val="FFF2CC"/>
          </a:solidFill>
          <a:ln w="12700">
            <a:solidFill>
              <a:srgbClr val="C27C0E"/>
            </a:solidFill>
            <a:prstDash val="solid"/>
          </a:ln>
        </p:spPr>
      </p:sp>
      <p:sp>
        <p:nvSpPr>
          <p:cNvPr id="8" name="Text 6"/>
          <p:cNvSpPr txBox="1"/>
          <p:nvPr/>
        </p:nvSpPr>
        <p:spPr>
          <a:xfrm>
            <a:off x="5212080" y="1463040"/>
            <a:ext cx="3291840" cy="1280160"/>
          </a:xfrm>
          <a:prstGeom prst="rect">
            <a:avLst/>
          </a:prstGeom>
          <a:noFill/>
          <a:ln/>
        </p:spPr>
        <p:txBody>
          <a:bodyPr wrap="square" lIns="0" tIns="0" rIns="0" bIns="0" rtlCol="0" anchor="ctr"/>
          <a:lstStyle/>
          <a:p>
            <a:pPr indent="0" marL="0">
              <a:buNone/>
            </a:pPr>
            <a:r>
              <a:rPr lang="en-US" sz="2000" b="1" dirty="0">
                <a:solidFill>
                  <a:srgbClr val="C27C0E"/>
                </a:solidFill>
                <a:latin typeface="Arial" pitchFamily="34" charset="0"/>
                <a:ea typeface="Arial" pitchFamily="34" charset="-122"/>
                <a:cs typeface="Arial" pitchFamily="34" charset="-120"/>
              </a:rPr>
              <a:t>Game B</a:t>
            </a:r>
            <a:endParaRPr lang="en-US" sz="2000" dirty="0"/>
          </a:p>
          <a:p>
            <a:pPr indent="0" marL="0">
              <a:buNone/>
            </a:pPr>
            <a:r>
              <a:rPr lang="en-US" sz="2000" dirty="0">
                <a:solidFill>
                  <a:srgbClr val="C27C0E"/>
                </a:solidFill>
                <a:latin typeface="Arial" pitchFamily="34" charset="0"/>
                <a:ea typeface="Arial" pitchFamily="34" charset="-122"/>
                <a:cs typeface="Arial" pitchFamily="34" charset="-120"/>
              </a:rPr>
              <a:t>the next game: moves 15 to 30 are scored</a:t>
            </a:r>
            <a:endParaRPr lang="en-US" sz="2000" dirty="0"/>
          </a:p>
        </p:txBody>
      </p:sp>
      <p:sp>
        <p:nvSpPr>
          <p:cNvPr id="9" name="Text 7"/>
          <p:cNvSpPr txBox="1"/>
          <p:nvPr/>
        </p:nvSpPr>
        <p:spPr>
          <a:xfrm>
            <a:off x="457200" y="3200400"/>
            <a:ext cx="8229600" cy="128016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We measure how well game B was played</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Game A only tells us which group the pair is in</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The computer's score at the end of game A decides whether the win was lucky</a:t>
            </a:r>
            <a:endParaRPr lang="en-US" sz="2600" dirty="0"/>
          </a:p>
        </p:txBody>
      </p:sp>
      <p:sp>
        <p:nvSpPr>
          <p:cNvPr id="3" name="lucky zone"/>
          <p:cNvSpPr/>
          <p:nvPr/>
        </p:nvSpPr>
        <p:spPr>
          <a:xfrm>
            <a:off x="914400" y="1417320"/>
            <a:ext cx="3291840" cy="502920"/>
          </a:xfrm>
          <a:prstGeom prst="rect">
            <a:avLst/>
          </a:prstGeom>
          <a:solidFill>
            <a:srgbClr val="FFF2CC"/>
          </a:solidFill>
          <a:ln w="12700">
            <a:solidFill>
              <a:srgbClr val="C27C0E"/>
            </a:solidFill>
            <a:prstDash val="solid"/>
          </a:ln>
        </p:spPr>
      </p:sp>
      <p:sp>
        <p:nvSpPr>
          <p:cNvPr id="4" name="deserved zone"/>
          <p:cNvSpPr/>
          <p:nvPr/>
        </p:nvSpPr>
        <p:spPr>
          <a:xfrm>
            <a:off x="4206240" y="1417320"/>
            <a:ext cx="4023360" cy="502920"/>
          </a:xfrm>
          <a:prstGeom prst="rect">
            <a:avLst/>
          </a:prstGeom>
          <a:solidFill>
            <a:srgbClr val="EBF3FA"/>
          </a:solidFill>
          <a:ln w="12700">
            <a:solidFill>
              <a:srgbClr val="2E75B6"/>
            </a:solidFill>
            <a:prstDash val="solid"/>
          </a:ln>
        </p:spPr>
      </p:sp>
      <p:sp>
        <p:nvSpPr>
          <p:cNvPr id="5" name="Text 3"/>
          <p:cNvSpPr txBox="1"/>
          <p:nvPr/>
        </p:nvSpPr>
        <p:spPr>
          <a:xfrm>
            <a:off x="914400" y="1417320"/>
            <a:ext cx="3291840" cy="502920"/>
          </a:xfrm>
          <a:prstGeom prst="rect">
            <a:avLst/>
          </a:prstGeom>
          <a:noFill/>
          <a:ln/>
        </p:spPr>
        <p:txBody>
          <a:bodyPr wrap="square" lIns="0" tIns="0" rIns="0" bIns="0" rtlCol="0" anchor="ctr"/>
          <a:lstStyle/>
          <a:p>
            <a:pPr algn="ctr" indent="0" marL="0">
              <a:buNone/>
            </a:pPr>
            <a:r>
              <a:rPr lang="en-US" sz="1600" b="1" dirty="0">
                <a:solidFill>
                  <a:srgbClr val="C27C0E"/>
                </a:solidFill>
                <a:latin typeface="Arial" pitchFamily="34" charset="0"/>
                <a:ea typeface="Arial" pitchFamily="34" charset="-122"/>
                <a:cs typeface="Arial" pitchFamily="34" charset="-120"/>
              </a:rPr>
              <a:t>lucky</a:t>
            </a:r>
            <a:endParaRPr lang="en-US" sz="1600" dirty="0"/>
          </a:p>
        </p:txBody>
      </p:sp>
      <p:sp>
        <p:nvSpPr>
          <p:cNvPr id="6" name="Text 4"/>
          <p:cNvSpPr txBox="1"/>
          <p:nvPr/>
        </p:nvSpPr>
        <p:spPr>
          <a:xfrm>
            <a:off x="4206240" y="1417320"/>
            <a:ext cx="4023360" cy="502920"/>
          </a:xfrm>
          <a:prstGeom prst="rect">
            <a:avLst/>
          </a:prstGeom>
          <a:noFill/>
          <a:ln/>
        </p:spPr>
        <p:txBody>
          <a:bodyPr wrap="square" lIns="0" tIns="0" rIns="0" bIns="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deserved</a:t>
            </a:r>
            <a:endParaRPr lang="en-US" sz="1600" dirty="0"/>
          </a:p>
        </p:txBody>
      </p:sp>
      <p:sp>
        <p:nvSpPr>
          <p:cNvPr id="7" name="Text 5"/>
          <p:cNvSpPr txBox="1"/>
          <p:nvPr/>
        </p:nvSpPr>
        <p:spPr>
          <a:xfrm>
            <a:off x="502920" y="1965960"/>
            <a:ext cx="82296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-1000</a:t>
            </a:r>
            <a:endParaRPr lang="en-US" sz="1300" dirty="0"/>
          </a:p>
        </p:txBody>
      </p:sp>
      <p:sp>
        <p:nvSpPr>
          <p:cNvPr id="8" name="Text 6"/>
          <p:cNvSpPr txBox="1"/>
          <p:nvPr/>
        </p:nvSpPr>
        <p:spPr>
          <a:xfrm>
            <a:off x="3794760" y="1965960"/>
            <a:ext cx="82296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-100</a:t>
            </a:r>
            <a:endParaRPr lang="en-US" sz="1300" dirty="0"/>
          </a:p>
        </p:txBody>
      </p:sp>
      <p:sp>
        <p:nvSpPr>
          <p:cNvPr id="9" name="Text 7"/>
          <p:cNvSpPr txBox="1"/>
          <p:nvPr/>
        </p:nvSpPr>
        <p:spPr>
          <a:xfrm>
            <a:off x="4160520" y="1965960"/>
            <a:ext cx="82296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10" name="Text 8"/>
          <p:cNvSpPr txBox="1"/>
          <p:nvPr/>
        </p:nvSpPr>
        <p:spPr>
          <a:xfrm>
            <a:off x="7818120" y="1965960"/>
            <a:ext cx="82296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+1000</a:t>
            </a:r>
            <a:endParaRPr lang="en-US" sz="1300" dirty="0"/>
          </a:p>
        </p:txBody>
      </p:sp>
      <p:sp>
        <p:nvSpPr>
          <p:cNvPr id="11" name="Text 9"/>
          <p:cNvSpPr txBox="1"/>
          <p:nvPr/>
        </p:nvSpPr>
        <p:spPr>
          <a:xfrm>
            <a:off x="2743200" y="2240280"/>
            <a:ext cx="365760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winner's final score (cp)</a:t>
            </a:r>
            <a:endParaRPr lang="en-US" sz="1300" dirty="0"/>
          </a:p>
        </p:txBody>
      </p:sp>
      <p:sp>
        <p:nvSpPr>
          <p:cNvPr id="12" name="formula"/>
          <p:cNvSpPr/>
          <p:nvPr/>
        </p:nvSpPr>
        <p:spPr>
          <a:xfrm>
            <a:off x="457200" y="2743200"/>
            <a:ext cx="8229600" cy="640080"/>
          </a:xfrm>
          <a:prstGeom prst="roundRect">
            <a:avLst>
              <a:gd name="adj" fmla="val 8571"/>
            </a:avLst>
          </a:prstGeom>
          <a:solidFill>
            <a:srgbClr val="EBF3FA"/>
          </a:solidFill>
          <a:ln w="12700">
            <a:solidFill>
              <a:srgbClr val="2E75B6"/>
            </a:solidFill>
            <a:prstDash val="solid"/>
          </a:ln>
        </p:spPr>
      </p:sp>
      <p:sp>
        <p:nvSpPr>
          <p:cNvPr id="13" name="Text 11"/>
          <p:cNvSpPr txBox="1"/>
          <p:nvPr/>
        </p:nvSpPr>
        <p:spPr>
          <a:xfrm>
            <a:off x="640080" y="2743200"/>
            <a:ext cx="7863840" cy="640080"/>
          </a:xfrm>
          <a:prstGeom prst="rect">
            <a:avLst/>
          </a:prstGeom>
          <a:noFill/>
          <a:ln/>
        </p:spPr>
        <p:txBody>
          <a:bodyPr wrap="square" lIns="0" tIns="0" rIns="0" bIns="0" rtlCol="0" anchor="ctr"/>
          <a:lstStyle/>
          <a:p>
            <a:pPr algn="ctr" indent="0" marL="0">
              <a:buNone/>
            </a:pPr>
            <a:r>
              <a:rPr lang="en-US" sz="1700" b="1" dirty="0">
                <a:solidFill>
                  <a:srgbClr val="1F4E79"/>
                </a:solidFill>
                <a:latin typeface="Arial" pitchFamily="34" charset="0"/>
                <a:ea typeface="Arial" pitchFamily="34" charset="-122"/>
                <a:cs typeface="Arial" pitchFamily="34" charset="-120"/>
              </a:rPr>
              <a:t>lucky  if  S_final &lt; −100 cp     (S_final = engine score from the winner's side)</a:t>
            </a:r>
            <a:endParaRPr lang="en-US" sz="1700" dirty="0"/>
          </a:p>
        </p:txBody>
      </p:sp>
      <p:sp>
        <p:nvSpPr>
          <p:cNvPr id="14" name="Text 12"/>
          <p:cNvSpPr txBox="1"/>
          <p:nvPr/>
        </p:nvSpPr>
        <p:spPr>
          <a:xfrm>
            <a:off x="457200" y="3566160"/>
            <a:ext cx="8229600" cy="73152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Losing by more than a pawn when the clock ran out. Forced mates count as ±1000.</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Each lucky win is compared with a deserved win from the same rating band and game speed</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194560"/>
                <a:gridCol w="2011680"/>
                <a:gridCol w="2011680"/>
                <a:gridCol w="2011680"/>
              </a:tblGrid>
              <a:tr h="384048">
                <a:tc>
                  <a:txBody>
                    <a:bodyPr/>
                    <a:lstStyle/>
                    <a:p>
                      <a:pPr indent="0" marL="0">
                        <a:buNone/>
                      </a:pPr>
                      <a:r>
                        <a:rPr lang="en-US" sz="1600" b="1" dirty="0">
                          <a:solidFill>
                            <a:srgbClr val="FFFFFF"/>
                          </a:solidFill>
                          <a:latin typeface="Arial" pitchFamily="34" charset="0"/>
                          <a:ea typeface="Arial" pitchFamily="34" charset="-122"/>
                          <a:cs typeface="Arial" pitchFamily="34" charset="-120"/>
                        </a:rPr>
                        <a:t>Rating band</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Game speed</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Lucky pairs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Deserved pairs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1500–1599</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minutes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1,513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1,513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1600–1699</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minutes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1,446</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1,446</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1700–1799</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minutes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1,431</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1,431</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1400–1499</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minutes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1,353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1,353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4" name="Text 1"/>
          <p:cNvSpPr txBox="1"/>
          <p:nvPr/>
        </p:nvSpPr>
        <p:spPr>
          <a:xfrm>
            <a:off x="457200" y="3291840"/>
            <a:ext cx="8229600" cy="82296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247 such slots in total. Matching stops stronger or faster players from crowding one group.</a:t>
            </a:r>
            <a:endParaRPr lang="en-US" sz="2000" dirty="0"/>
          </a:p>
        </p:txBody>
      </p:sp>
      <p:sp>
        <p:nvSpPr>
          <p:cNvPr id="5" name="Text 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2 sample; the four largest slots shown. 58 deserved pairs could not be matched (0.45%).</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Every next game is scored with exactly the same computer settings</a:t>
            </a:r>
            <a:endParaRPr lang="en-US" sz="2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011680"/>
                <a:gridCol w="2377440"/>
                <a:gridCol w="3840480"/>
              </a:tblGrid>
              <a:tr h="438912">
                <a:tc>
                  <a:txBody>
                    <a:bodyPr/>
                    <a:lstStyle/>
                    <a:p>
                      <a:pPr indent="0" marL="0">
                        <a:buNone/>
                      </a:pPr>
                      <a:r>
                        <a:rPr lang="en-US" sz="1500" b="1" dirty="0">
                          <a:solidFill>
                            <a:srgbClr val="FFFFFF"/>
                          </a:solidFill>
                          <a:latin typeface="Arial" pitchFamily="34" charset="0"/>
                          <a:ea typeface="Arial" pitchFamily="34" charset="-122"/>
                          <a:cs typeface="Arial" pitchFamily="34" charset="-120"/>
                        </a:rPr>
                        <a:t>Setting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Value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Why</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Engine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Stockfish 16</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Strong, free, standard in research</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Search depth</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15 moves ahead</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Same effort for every position, reproducible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Moves scored</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15 to 30</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Skips memorised openings (Backus et al., 2023)</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Score cap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±1000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One missed mate cannot swamp a game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Minimum</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5 scored moves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Very short games are too noisy</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4" name="Text 1"/>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42,851 next games scored; two separate runs on the same games gave identical numbers in study 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regression compares the groups while holding rating, opponent and colour fixed</a:t>
            </a:r>
            <a:endParaRPr lang="en-US" sz="2600" dirty="0"/>
          </a:p>
        </p:txBody>
      </p:sp>
      <p:sp>
        <p:nvSpPr>
          <p:cNvPr id="3" name="formula"/>
          <p:cNvSpPr/>
          <p:nvPr/>
        </p:nvSpPr>
        <p:spPr>
          <a:xfrm>
            <a:off x="457200" y="1188720"/>
            <a:ext cx="8229600" cy="731520"/>
          </a:xfrm>
          <a:prstGeom prst="roundRect">
            <a:avLst>
              <a:gd name="adj" fmla="val 7500"/>
            </a:avLst>
          </a:prstGeom>
          <a:solidFill>
            <a:srgbClr val="EBF3FA"/>
          </a:solidFill>
          <a:ln w="12700">
            <a:solidFill>
              <a:srgbClr val="2E75B6"/>
            </a:solidFill>
            <a:prstDash val="solid"/>
          </a:ln>
        </p:spPr>
      </p:sp>
      <p:sp>
        <p:nvSpPr>
          <p:cNvPr id="4" name="Text 2"/>
          <p:cNvSpPr txBox="1"/>
          <p:nvPr/>
        </p:nvSpPr>
        <p:spPr>
          <a:xfrm>
            <a:off x="640080" y="1188720"/>
            <a:ext cx="7863840" cy="731520"/>
          </a:xfrm>
          <a:prstGeom prst="rect">
            <a:avLst/>
          </a:prstGeom>
          <a:noFill/>
          <a:ln/>
        </p:spPr>
        <p:txBody>
          <a:bodyPr wrap="square" lIns="0" tIns="0" rIns="0" bIns="0" rtlCol="0" anchor="ctr"/>
          <a:lstStyle/>
          <a:p>
            <a:pPr algn="ctr" indent="0" marL="0">
              <a:buNone/>
            </a:pPr>
            <a:r>
              <a:rPr lang="en-US" sz="1700" b="1" dirty="0">
                <a:solidFill>
                  <a:srgbClr val="1F4E79"/>
                </a:solidFill>
                <a:latin typeface="Arial" pitchFamily="34" charset="0"/>
                <a:ea typeface="Arial" pitchFamily="34" charset="-122"/>
                <a:cs typeface="Arial" pitchFamily="34" charset="-120"/>
              </a:rPr>
              <a:t>ACPL = β₀ + β₁·Lucky + β₂·Rating + β₃·Gap + β₄·White + speed + error</a:t>
            </a:r>
            <a:endParaRPr lang="en-US" sz="17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2103120"/>
          <a:ext cx="8229600" cy="914400"/>
        </p:xfrm>
        <a:graphic>
          <a:graphicData uri="http://schemas.openxmlformats.org/drawingml/2006/table">
            <a:tbl>
              <a:tblPr/>
              <a:tblGrid>
                <a:gridCol w="3108960"/>
                <a:gridCol w="1463040"/>
                <a:gridCol w="3657600"/>
              </a:tblGrid>
              <a:tr h="411480">
                <a:tc>
                  <a:txBody>
                    <a:bodyPr/>
                    <a:lstStyle/>
                    <a:p>
                      <a:pPr indent="0" marL="0">
                        <a:buNone/>
                      </a:pPr>
                      <a:r>
                        <a:rPr lang="en-US" sz="1500" b="1" dirty="0">
                          <a:solidFill>
                            <a:srgbClr val="FFFFFF"/>
                          </a:solidFill>
                          <a:latin typeface="Arial" pitchFamily="34" charset="0"/>
                          <a:ea typeface="Arial" pitchFamily="34" charset="-122"/>
                          <a:cs typeface="Arial" pitchFamily="34" charset="-120"/>
                        </a:rPr>
                        <a:t>Term</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Estimate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Plain meaning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411480">
                <a:tc>
                  <a:txBody>
                    <a:bodyPr/>
                    <a:lstStyle/>
                    <a:p>
                      <a:pPr indent="0" marL="0">
                        <a:buNone/>
                      </a:pPr>
                      <a:r>
                        <a:rPr lang="en-US" sz="1500" b="1" dirty="0">
                          <a:solidFill>
                            <a:srgbClr val="C27C0E"/>
                          </a:solidFill>
                          <a:latin typeface="Arial" pitchFamily="34" charset="0"/>
                          <a:ea typeface="Arial" pitchFamily="34" charset="-122"/>
                          <a:cs typeface="Arial" pitchFamily="34" charset="-120"/>
                        </a:rPr>
                        <a:t>β₁ Lucky (1 if lucky, 0 if not)</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b="1" dirty="0">
                          <a:solidFill>
                            <a:srgbClr val="C27C0E"/>
                          </a:solidFill>
                          <a:latin typeface="Arial" pitchFamily="34" charset="0"/>
                          <a:ea typeface="Arial" pitchFamily="34" charset="-122"/>
                          <a:cs typeface="Arial" pitchFamily="34" charset="-120"/>
                        </a:rPr>
                        <a:t>+1.96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the effect we are testing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500" dirty="0">
                          <a:solidFill>
                            <a:srgbClr val="2D2D2D"/>
                          </a:solidFill>
                          <a:latin typeface="Arial" pitchFamily="34" charset="0"/>
                          <a:ea typeface="Arial" pitchFamily="34" charset="-122"/>
                          <a:cs typeface="Arial" pitchFamily="34" charset="-120"/>
                        </a:rPr>
                        <a:t>β₂ per +100 rating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−3.69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stronger players make smaller mistakes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500" dirty="0">
                          <a:solidFill>
                            <a:srgbClr val="2D2D2D"/>
                          </a:solidFill>
                          <a:latin typeface="Arial" pitchFamily="34" charset="0"/>
                          <a:ea typeface="Arial" pitchFamily="34" charset="-122"/>
                          <a:cs typeface="Arial" pitchFamily="34" charset="-120"/>
                        </a:rPr>
                        <a:t>β₃ opponent +100 stronger</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+0.62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tougher opponents cause slightly more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500" dirty="0">
                          <a:solidFill>
                            <a:srgbClr val="2D2D2D"/>
                          </a:solidFill>
                          <a:latin typeface="Arial" pitchFamily="34" charset="0"/>
                          <a:ea typeface="Arial" pitchFamily="34" charset="-122"/>
                          <a:cs typeface="Arial" pitchFamily="34" charset="-120"/>
                        </a:rPr>
                        <a:t>β₄ playing White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−0.44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almost no difference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6" name="Text 3"/>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Ordinary least squares, standard errors clustered by player; 23,995 pairs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confidence interval gives the range of believable values, and the p-value tests 'no effect'</a:t>
            </a:r>
            <a:endParaRPr lang="en-US" sz="2600" dirty="0"/>
          </a:p>
        </p:txBody>
      </p:sp>
      <p:sp>
        <p:nvSpPr>
          <p:cNvPr id="3" name="formula"/>
          <p:cNvSpPr/>
          <p:nvPr/>
        </p:nvSpPr>
        <p:spPr>
          <a:xfrm>
            <a:off x="457200" y="1188720"/>
            <a:ext cx="8229600" cy="685800"/>
          </a:xfrm>
          <a:prstGeom prst="roundRect">
            <a:avLst>
              <a:gd name="adj" fmla="val 8000"/>
            </a:avLst>
          </a:prstGeom>
          <a:solidFill>
            <a:srgbClr val="EBF3FA"/>
          </a:solidFill>
          <a:ln w="12700">
            <a:solidFill>
              <a:srgbClr val="2E75B6"/>
            </a:solidFill>
            <a:prstDash val="solid"/>
          </a:ln>
        </p:spPr>
      </p:sp>
      <p:sp>
        <p:nvSpPr>
          <p:cNvPr id="4" name="Text 2"/>
          <p:cNvSpPr txBox="1"/>
          <p:nvPr/>
        </p:nvSpPr>
        <p:spPr>
          <a:xfrm>
            <a:off x="640080" y="1188720"/>
            <a:ext cx="7863840" cy="685800"/>
          </a:xfrm>
          <a:prstGeom prst="rect">
            <a:avLst/>
          </a:prstGeom>
          <a:noFill/>
          <a:ln/>
        </p:spPr>
        <p:txBody>
          <a:bodyPr wrap="square" lIns="0" tIns="0" rIns="0" bIns="0" rtlCol="0" anchor="ctr"/>
          <a:lstStyle/>
          <a:p>
            <a:pPr algn="ctr" indent="0" marL="0">
              <a:buNone/>
            </a:pPr>
            <a:r>
              <a:rPr lang="en-US" sz="1700" b="1" dirty="0">
                <a:solidFill>
                  <a:srgbClr val="1F4E79"/>
                </a:solidFill>
                <a:latin typeface="Arial" pitchFamily="34" charset="0"/>
                <a:ea typeface="Arial" pitchFamily="34" charset="-122"/>
                <a:cs typeface="Arial" pitchFamily="34" charset="-120"/>
              </a:rPr>
              <a:t>95% interval = estimate ± 1.96 × SE      90% interval = estimate ± 1.645 × SE</a:t>
            </a:r>
            <a:endParaRPr lang="en-US" sz="1700" dirty="0"/>
          </a:p>
        </p:txBody>
      </p:sp>
      <p:sp>
        <p:nvSpPr>
          <p:cNvPr id="5" name="Text 3"/>
          <p:cNvSpPr txBox="1"/>
          <p:nvPr/>
        </p:nvSpPr>
        <p:spPr>
          <a:xfrm>
            <a:off x="457200" y="2057400"/>
            <a:ext cx="8229600" cy="411480"/>
          </a:xfrm>
          <a:prstGeom prst="rect">
            <a:avLst/>
          </a:prstGeom>
          <a:noFill/>
          <a:ln/>
        </p:spPr>
        <p:txBody>
          <a:bodyPr wrap="square" lIns="0" tIns="0" rIns="0" bIns="0" rtlCol="0" anchor="t"/>
          <a:lstStyle/>
          <a:p>
            <a:pPr indent="0" marL="0">
              <a:buNone/>
            </a:pPr>
            <a:r>
              <a:rPr lang="en-US" sz="2000" b="1" dirty="0">
                <a:solidFill>
                  <a:srgbClr val="1F4E79"/>
                </a:solidFill>
                <a:latin typeface="Arial" pitchFamily="34" charset="0"/>
                <a:ea typeface="Arial" pitchFamily="34" charset="-122"/>
                <a:cs typeface="Arial" pitchFamily="34" charset="-120"/>
              </a:rPr>
              <a:t>Our numbers: 1.96 ± 1.96 × 0.666 = 0.66 to 3.27 cp</a:t>
            </a:r>
            <a:endParaRPr lang="en-US" sz="2000" dirty="0"/>
          </a:p>
        </p:txBody>
      </p:sp>
      <p:sp>
        <p:nvSpPr>
          <p:cNvPr id="6" name="Text 4"/>
          <p:cNvSpPr txBox="1"/>
          <p:nvPr/>
        </p:nvSpPr>
        <p:spPr>
          <a:xfrm>
            <a:off x="457200" y="2651760"/>
            <a:ext cx="8229600" cy="192024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SE (standard error): how much the estimate would wobble with different games</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p-value 0.003: if lucky wins truly did nothing, a gap this big would appear 3 times in 1,000</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The decision rule was fixed in advance: each result is supported, refuted or inconclusive</a:t>
            </a:r>
            <a:endParaRPr lang="en-US" sz="2600" dirty="0"/>
          </a:p>
        </p:txBody>
      </p:sp>
      <p:sp>
        <p:nvSpPr>
          <p:cNvPr id="3" name="zone"/>
          <p:cNvSpPr/>
          <p:nvPr/>
        </p:nvSpPr>
        <p:spPr>
          <a:xfrm>
            <a:off x="3566160" y="1234440"/>
            <a:ext cx="3108960" cy="2148840"/>
          </a:xfrm>
          <a:prstGeom prst="rect">
            <a:avLst/>
          </a:prstGeom>
          <a:solidFill>
            <a:srgbClr val="EBF3FA"/>
          </a:solidFill>
          <a:ln w="12700">
            <a:solidFill>
              <a:srgbClr val="EBF3FA"/>
            </a:solidFill>
            <a:prstDash val="solid"/>
          </a:ln>
        </p:spPr>
      </p:sp>
      <p:sp>
        <p:nvSpPr>
          <p:cNvPr id="4" name="zero"/>
          <p:cNvSpPr/>
          <p:nvPr/>
        </p:nvSpPr>
        <p:spPr>
          <a:xfrm>
            <a:off x="5120640" y="1188720"/>
            <a:ext cx="0" cy="2240280"/>
          </a:xfrm>
          <a:prstGeom prst="line">
            <a:avLst/>
          </a:prstGeom>
          <a:noFill/>
          <a:ln w="12700">
            <a:solidFill>
              <a:srgbClr val="777777"/>
            </a:solidFill>
            <a:prstDash val="dash"/>
          </a:ln>
        </p:spPr>
      </p:sp>
      <p:sp>
        <p:nvSpPr>
          <p:cNvPr id="5" name="Text 3"/>
          <p:cNvSpPr txBox="1"/>
          <p:nvPr/>
        </p:nvSpPr>
        <p:spPr>
          <a:xfrm>
            <a:off x="457200" y="1325880"/>
            <a:ext cx="1463040" cy="36576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Supported</a:t>
            </a:r>
            <a:endParaRPr lang="en-US" sz="1500" dirty="0"/>
          </a:p>
        </p:txBody>
      </p:sp>
      <p:sp>
        <p:nvSpPr>
          <p:cNvPr id="6" name="rule Supported"/>
          <p:cNvSpPr/>
          <p:nvPr/>
        </p:nvSpPr>
        <p:spPr>
          <a:xfrm>
            <a:off x="4265676" y="1508760"/>
            <a:ext cx="1632204" cy="0"/>
          </a:xfrm>
          <a:prstGeom prst="line">
            <a:avLst/>
          </a:prstGeom>
          <a:noFill/>
          <a:ln w="38100">
            <a:solidFill>
              <a:srgbClr val="1F4E79"/>
            </a:solidFill>
            <a:prstDash val="solid"/>
          </a:ln>
        </p:spPr>
      </p:sp>
      <p:sp>
        <p:nvSpPr>
          <p:cNvPr id="7" name="Text 5"/>
          <p:cNvSpPr txBox="1"/>
          <p:nvPr/>
        </p:nvSpPr>
        <p:spPr>
          <a:xfrm>
            <a:off x="457200" y="2057400"/>
            <a:ext cx="1463040" cy="365760"/>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Refuted</a:t>
            </a:r>
            <a:endParaRPr lang="en-US" sz="1500" dirty="0"/>
          </a:p>
        </p:txBody>
      </p:sp>
      <p:sp>
        <p:nvSpPr>
          <p:cNvPr id="8" name="rule Refuted"/>
          <p:cNvSpPr/>
          <p:nvPr/>
        </p:nvSpPr>
        <p:spPr>
          <a:xfrm>
            <a:off x="6986016" y="2240280"/>
            <a:ext cx="932688" cy="0"/>
          </a:xfrm>
          <a:prstGeom prst="line">
            <a:avLst/>
          </a:prstGeom>
          <a:noFill/>
          <a:ln w="38100">
            <a:solidFill>
              <a:srgbClr val="C27C0E"/>
            </a:solidFill>
            <a:prstDash val="solid"/>
          </a:ln>
        </p:spPr>
      </p:sp>
      <p:sp>
        <p:nvSpPr>
          <p:cNvPr id="9" name="Text 7"/>
          <p:cNvSpPr txBox="1"/>
          <p:nvPr/>
        </p:nvSpPr>
        <p:spPr>
          <a:xfrm>
            <a:off x="457200" y="2788920"/>
            <a:ext cx="1463040" cy="365760"/>
          </a:xfrm>
          <a:prstGeom prst="rect">
            <a:avLst/>
          </a:prstGeom>
          <a:noFill/>
          <a:ln/>
        </p:spPr>
        <p:txBody>
          <a:bodyPr wrap="square" lIns="0" tIns="0" rIns="0" bIns="0" rtlCol="0" anchor="ctr"/>
          <a:lstStyle/>
          <a:p>
            <a:pPr indent="0" marL="0">
              <a:buNone/>
            </a:pPr>
            <a:r>
              <a:rPr lang="en-US" sz="1500" b="1" dirty="0">
                <a:solidFill>
                  <a:srgbClr val="777777"/>
                </a:solidFill>
                <a:latin typeface="Arial" pitchFamily="34" charset="0"/>
                <a:ea typeface="Arial" pitchFamily="34" charset="-122"/>
                <a:cs typeface="Arial" pitchFamily="34" charset="-120"/>
              </a:rPr>
              <a:t>Inconclusive</a:t>
            </a:r>
            <a:endParaRPr lang="en-US" sz="1500" dirty="0"/>
          </a:p>
        </p:txBody>
      </p:sp>
      <p:sp>
        <p:nvSpPr>
          <p:cNvPr id="10" name="rule Inconclusive"/>
          <p:cNvSpPr/>
          <p:nvPr/>
        </p:nvSpPr>
        <p:spPr>
          <a:xfrm>
            <a:off x="5431536" y="2971800"/>
            <a:ext cx="2098548" cy="0"/>
          </a:xfrm>
          <a:prstGeom prst="line">
            <a:avLst/>
          </a:prstGeom>
          <a:noFill/>
          <a:ln w="38100">
            <a:solidFill>
              <a:srgbClr val="777777"/>
            </a:solidFill>
            <a:prstDash val="solid"/>
          </a:ln>
        </p:spPr>
      </p:sp>
      <p:sp>
        <p:nvSpPr>
          <p:cNvPr id="11" name="Text 9"/>
          <p:cNvSpPr txBox="1"/>
          <p:nvPr/>
        </p:nvSpPr>
        <p:spPr>
          <a:xfrm>
            <a:off x="173736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12" name="Text 10"/>
          <p:cNvSpPr txBox="1"/>
          <p:nvPr/>
        </p:nvSpPr>
        <p:spPr>
          <a:xfrm>
            <a:off x="329184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3" name="Text 11"/>
          <p:cNvSpPr txBox="1"/>
          <p:nvPr/>
        </p:nvSpPr>
        <p:spPr>
          <a:xfrm>
            <a:off x="484632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14" name="Text 12"/>
          <p:cNvSpPr txBox="1"/>
          <p:nvPr/>
        </p:nvSpPr>
        <p:spPr>
          <a:xfrm>
            <a:off x="640080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795528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16" name="Text 14"/>
          <p:cNvSpPr txBox="1"/>
          <p:nvPr/>
        </p:nvSpPr>
        <p:spPr>
          <a:xfrm>
            <a:off x="457200" y="3794760"/>
            <a:ext cx="8229600" cy="91440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latin typeface="Arial" pitchFamily="34" charset="0"/>
                <a:ea typeface="Arial" pitchFamily="34" charset="-122"/>
                <a:cs typeface="Arial" pitchFamily="34" charset="-120"/>
              </a:rPr>
              <a:t>Supported: whole 90% interval inside ±2 cp</a:t>
            </a:r>
            <a:endParaRPr lang="en-US" sz="1700" dirty="0"/>
          </a:p>
          <a:p>
            <a:pPr marL="342900" indent="-342900">
              <a:spcAft>
                <a:spcPts val="1000"/>
              </a:spcAft>
              <a:buSzPct val="100000"/>
              <a:buChar char="•"/>
            </a:pPr>
            <a:r>
              <a:rPr lang="en-US" sz="1700" dirty="0">
                <a:solidFill>
                  <a:schemeClr val="tx1"/>
                </a:solidFill>
                <a:latin typeface="Arial" pitchFamily="34" charset="0"/>
                <a:ea typeface="Arial" pitchFamily="34" charset="-122"/>
                <a:cs typeface="Arial" pitchFamily="34" charset="-120"/>
              </a:rPr>
              <a:t>Refuted: 95% interval misses 0 and gap is at least 2 cp</a:t>
            </a:r>
            <a:endParaRPr lang="en-US" sz="17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About 10,700 pairs per group were needed, so we planned 13,000 to allow for losses</a:t>
            </a:r>
            <a:endParaRPr lang="en-US" sz="2600" dirty="0"/>
          </a:p>
        </p:txBody>
      </p:sp>
      <p:sp>
        <p:nvSpPr>
          <p:cNvPr id="3" name="formula"/>
          <p:cNvSpPr/>
          <p:nvPr/>
        </p:nvSpPr>
        <p:spPr>
          <a:xfrm>
            <a:off x="457200" y="1188720"/>
            <a:ext cx="8229600" cy="685800"/>
          </a:xfrm>
          <a:prstGeom prst="roundRect">
            <a:avLst>
              <a:gd name="adj" fmla="val 8000"/>
            </a:avLst>
          </a:prstGeom>
          <a:solidFill>
            <a:srgbClr val="EBF3FA"/>
          </a:solidFill>
          <a:ln w="12700">
            <a:solidFill>
              <a:srgbClr val="2E75B6"/>
            </a:solidFill>
            <a:prstDash val="solid"/>
          </a:ln>
        </p:spPr>
      </p:sp>
      <p:sp>
        <p:nvSpPr>
          <p:cNvPr id="4" name="Text 2"/>
          <p:cNvSpPr txBox="1"/>
          <p:nvPr/>
        </p:nvSpPr>
        <p:spPr>
          <a:xfrm>
            <a:off x="640080" y="1188720"/>
            <a:ext cx="7863840" cy="685800"/>
          </a:xfrm>
          <a:prstGeom prst="rect">
            <a:avLst/>
          </a:prstGeom>
          <a:noFill/>
          <a:ln/>
        </p:spPr>
        <p:txBody>
          <a:bodyPr wrap="square" lIns="0" tIns="0" rIns="0" bIns="0" rtlCol="0" anchor="ctr"/>
          <a:lstStyle/>
          <a:p>
            <a:pPr algn="ctr" indent="0" marL="0">
              <a:buNone/>
            </a:pPr>
            <a:r>
              <a:rPr lang="en-US" sz="2000" b="1" dirty="0">
                <a:solidFill>
                  <a:srgbClr val="1F4E79"/>
                </a:solidFill>
                <a:latin typeface="Arial" pitchFamily="34" charset="0"/>
                <a:ea typeface="Arial" pitchFamily="34" charset="-122"/>
                <a:cs typeface="Arial" pitchFamily="34" charset="-120"/>
              </a:rPr>
              <a:t>n = 2 × σ² × (z₁ + z₂)² ÷ Δ²</a:t>
            </a:r>
            <a:endParaRPr lang="en-US" sz="2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2057400"/>
          <a:ext cx="8229600" cy="914400"/>
        </p:xfrm>
        <a:graphic>
          <a:graphicData uri="http://schemas.openxmlformats.org/drawingml/2006/table">
            <a:tbl>
              <a:tblPr/>
              <a:tblGrid>
                <a:gridCol w="1463040"/>
                <a:gridCol w="2194560"/>
                <a:gridCol w="4572000"/>
              </a:tblGrid>
              <a:tr h="384048">
                <a:tc>
                  <a:txBody>
                    <a:bodyPr/>
                    <a:lstStyle/>
                    <a:p>
                      <a:pPr indent="0" marL="0">
                        <a:buNone/>
                      </a:pPr>
                      <a:r>
                        <a:rPr lang="en-US" sz="1500" b="1" dirty="0">
                          <a:solidFill>
                            <a:srgbClr val="FFFFFF"/>
                          </a:solidFill>
                          <a:latin typeface="Arial" pitchFamily="34" charset="0"/>
                          <a:ea typeface="Arial" pitchFamily="34" charset="-122"/>
                          <a:cs typeface="Arial" pitchFamily="34" charset="-120"/>
                        </a:rPr>
                        <a:t>Symbol</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Value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Meaning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84048">
                <a:tc>
                  <a:txBody>
                    <a:bodyPr/>
                    <a:lstStyle/>
                    <a:p>
                      <a:pPr indent="0" marL="0">
                        <a:buNone/>
                      </a:pPr>
                      <a:r>
                        <a:rPr lang="en-US" sz="1500" dirty="0">
                          <a:solidFill>
                            <a:srgbClr val="2D2D2D"/>
                          </a:solidFill>
                          <a:latin typeface="Arial" pitchFamily="34" charset="0"/>
                          <a:ea typeface="Arial" pitchFamily="34" charset="-122"/>
                          <a:cs typeface="Arial" pitchFamily="34" charset="-120"/>
                        </a:rPr>
                        <a:t>σ</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50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spread of ACPL between games (from study 1)</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500" dirty="0">
                          <a:solidFill>
                            <a:srgbClr val="2D2D2D"/>
                          </a:solidFill>
                          <a:latin typeface="Arial" pitchFamily="34" charset="0"/>
                          <a:ea typeface="Arial" pitchFamily="34" charset="-122"/>
                          <a:cs typeface="Arial" pitchFamily="34" charset="-120"/>
                        </a:rPr>
                        <a:t>z₁ , z₂</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1.645 , 1.282</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set by 5% error rate and 80% power</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500" dirty="0">
                          <a:solidFill>
                            <a:srgbClr val="2D2D2D"/>
                          </a:solidFill>
                          <a:latin typeface="Arial" pitchFamily="34" charset="0"/>
                          <a:ea typeface="Arial" pitchFamily="34" charset="-122"/>
                          <a:cs typeface="Arial" pitchFamily="34" charset="-120"/>
                        </a:rPr>
                        <a:t>Δ</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2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smallest difference we decided matters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500" b="1" dirty="0">
                          <a:solidFill>
                            <a:srgbClr val="2D2D2D"/>
                          </a:solidFill>
                          <a:latin typeface="Arial" pitchFamily="34" charset="0"/>
                          <a:ea typeface="Arial" pitchFamily="34" charset="-122"/>
                          <a:cs typeface="Arial" pitchFamily="34" charset="-120"/>
                        </a:rPr>
                        <a:t>n</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b="1" dirty="0">
                          <a:solidFill>
                            <a:srgbClr val="2D2D2D"/>
                          </a:solidFill>
                          <a:latin typeface="Arial" pitchFamily="34" charset="0"/>
                          <a:ea typeface="Arial" pitchFamily="34" charset="-122"/>
                          <a:cs typeface="Arial" pitchFamily="34" charset="-120"/>
                        </a:rPr>
                        <a:t>≈ 10,700</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pairs per group needed</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4</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Results</a:t>
            </a:r>
            <a:endParaRPr lang="en-US" sz="3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Lucky winners made 1.96 cp more mistakes per move in their next game (p = 0.003)</a:t>
            </a:r>
            <a:endParaRPr lang="en-US" sz="2600" dirty="0"/>
          </a:p>
        </p:txBody>
      </p:sp>
      <p:sp>
        <p:nvSpPr>
          <p:cNvPr id="3" name="zone"/>
          <p:cNvSpPr/>
          <p:nvPr/>
        </p:nvSpPr>
        <p:spPr>
          <a:xfrm>
            <a:off x="3063240" y="1371600"/>
            <a:ext cx="1371600" cy="1645920"/>
          </a:xfrm>
          <a:prstGeom prst="rect">
            <a:avLst/>
          </a:prstGeom>
          <a:solidFill>
            <a:srgbClr val="EBF3FA"/>
          </a:solidFill>
          <a:ln w="12700">
            <a:solidFill>
              <a:srgbClr val="EBF3FA"/>
            </a:solidFill>
            <a:prstDash val="solid"/>
          </a:ln>
        </p:spPr>
      </p:sp>
      <p:sp>
        <p:nvSpPr>
          <p:cNvPr id="4" name="Text 2"/>
          <p:cNvSpPr txBox="1"/>
          <p:nvPr/>
        </p:nvSpPr>
        <p:spPr>
          <a:xfrm>
            <a:off x="2606040" y="3364992"/>
            <a:ext cx="2286000" cy="256032"/>
          </a:xfrm>
          <a:prstGeom prst="rect">
            <a:avLst/>
          </a:prstGeom>
          <a:noFill/>
          <a:ln/>
        </p:spPr>
        <p:txBody>
          <a:bodyPr wrap="square" lIns="0" tIns="0" rIns="0" bIns="0" rtlCol="0" anchor="t"/>
          <a:lstStyle/>
          <a:p>
            <a:pPr algn="ctr" indent="0" marL="0">
              <a:buNone/>
            </a:pPr>
            <a:r>
              <a:rPr lang="en-US" sz="1300" dirty="0">
                <a:solidFill>
                  <a:srgbClr val="2E75B6"/>
                </a:solidFill>
                <a:latin typeface="Arial" pitchFamily="34" charset="0"/>
                <a:ea typeface="Arial" pitchFamily="34" charset="-122"/>
                <a:cs typeface="Arial" pitchFamily="34" charset="-120"/>
              </a:rPr>
              <a:t>"no real difference" zone: ±2 cp</a:t>
            </a:r>
            <a:endParaRPr lang="en-US" sz="1300" dirty="0"/>
          </a:p>
        </p:txBody>
      </p:sp>
      <p:sp>
        <p:nvSpPr>
          <p:cNvPr id="5" name="zero"/>
          <p:cNvSpPr/>
          <p:nvPr/>
        </p:nvSpPr>
        <p:spPr>
          <a:xfrm>
            <a:off x="3749040" y="1325880"/>
            <a:ext cx="0" cy="1737360"/>
          </a:xfrm>
          <a:prstGeom prst="line">
            <a:avLst/>
          </a:prstGeom>
          <a:noFill/>
          <a:ln w="12700">
            <a:solidFill>
              <a:srgbClr val="777777"/>
            </a:solidFill>
            <a:prstDash val="dash"/>
          </a:ln>
        </p:spPr>
      </p:sp>
      <p:sp>
        <p:nvSpPr>
          <p:cNvPr id="6" name="Text 4"/>
          <p:cNvSpPr txBox="1"/>
          <p:nvPr/>
        </p:nvSpPr>
        <p:spPr>
          <a:xfrm>
            <a:off x="457200" y="1554480"/>
            <a:ext cx="1783080" cy="457200"/>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Lucky minus deserved, 90% interval</a:t>
            </a:r>
            <a:endParaRPr lang="en-US" sz="1400" dirty="0"/>
          </a:p>
        </p:txBody>
      </p:sp>
      <p:sp>
        <p:nvSpPr>
          <p:cNvPr id="7" name="ci 0"/>
          <p:cNvSpPr/>
          <p:nvPr/>
        </p:nvSpPr>
        <p:spPr>
          <a:xfrm>
            <a:off x="4047363" y="1783080"/>
            <a:ext cx="750951" cy="0"/>
          </a:xfrm>
          <a:prstGeom prst="line">
            <a:avLst/>
          </a:prstGeom>
          <a:noFill/>
          <a:ln w="31750">
            <a:solidFill>
              <a:srgbClr val="C27C0E"/>
            </a:solidFill>
            <a:prstDash val="solid"/>
          </a:ln>
        </p:spPr>
      </p:sp>
      <p:sp>
        <p:nvSpPr>
          <p:cNvPr id="8" name="est 0"/>
          <p:cNvSpPr/>
          <p:nvPr/>
        </p:nvSpPr>
        <p:spPr>
          <a:xfrm>
            <a:off x="4347972" y="1709928"/>
            <a:ext cx="146304" cy="146304"/>
          </a:xfrm>
          <a:prstGeom prst="ellipse">
            <a:avLst/>
          </a:prstGeom>
          <a:solidFill>
            <a:srgbClr val="C27C0E"/>
          </a:solidFill>
          <a:ln w="12700">
            <a:solidFill>
              <a:srgbClr val="C27C0E"/>
            </a:solidFill>
            <a:prstDash val="solid"/>
          </a:ln>
        </p:spPr>
      </p:sp>
      <p:sp>
        <p:nvSpPr>
          <p:cNvPr id="9" name="Text 7"/>
          <p:cNvSpPr txBox="1"/>
          <p:nvPr/>
        </p:nvSpPr>
        <p:spPr>
          <a:xfrm>
            <a:off x="4871466" y="1655064"/>
            <a:ext cx="548640" cy="256032"/>
          </a:xfrm>
          <a:prstGeom prst="rect">
            <a:avLst/>
          </a:prstGeom>
          <a:noFill/>
          <a:ln/>
        </p:spPr>
        <p:txBody>
          <a:bodyPr wrap="square" lIns="0" tIns="0" rIns="0" bIns="0" rtlCol="0" anchor="ctr"/>
          <a:lstStyle/>
          <a:p>
            <a:pPr indent="0" marL="0">
              <a:buNone/>
            </a:pPr>
            <a:r>
              <a:rPr lang="en-US" sz="1300" b="1" dirty="0">
                <a:solidFill>
                  <a:srgbClr val="C27C0E"/>
                </a:solidFill>
                <a:latin typeface="Arial" pitchFamily="34" charset="0"/>
                <a:ea typeface="Arial" pitchFamily="34" charset="-122"/>
                <a:cs typeface="Arial" pitchFamily="34" charset="-120"/>
              </a:rPr>
              <a:t>+1.96</a:t>
            </a:r>
            <a:endParaRPr lang="en-US" sz="1300" dirty="0"/>
          </a:p>
        </p:txBody>
      </p:sp>
      <p:sp>
        <p:nvSpPr>
          <p:cNvPr id="10" name="Text 8"/>
          <p:cNvSpPr txBox="1"/>
          <p:nvPr/>
        </p:nvSpPr>
        <p:spPr>
          <a:xfrm>
            <a:off x="457200" y="2377440"/>
            <a:ext cx="17830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Lucky minus deserved, 95% interval</a:t>
            </a:r>
            <a:endParaRPr lang="en-US" sz="1400" dirty="0"/>
          </a:p>
        </p:txBody>
      </p:sp>
      <p:sp>
        <p:nvSpPr>
          <p:cNvPr id="11" name="ci 1"/>
          <p:cNvSpPr/>
          <p:nvPr/>
        </p:nvSpPr>
        <p:spPr>
          <a:xfrm>
            <a:off x="3975354" y="2606040"/>
            <a:ext cx="894969" cy="0"/>
          </a:xfrm>
          <a:prstGeom prst="line">
            <a:avLst/>
          </a:prstGeom>
          <a:noFill/>
          <a:ln w="31750">
            <a:solidFill>
              <a:srgbClr val="1F4E79"/>
            </a:solidFill>
            <a:prstDash val="solid"/>
          </a:ln>
        </p:spPr>
      </p:sp>
      <p:sp>
        <p:nvSpPr>
          <p:cNvPr id="12" name="est 1"/>
          <p:cNvSpPr/>
          <p:nvPr/>
        </p:nvSpPr>
        <p:spPr>
          <a:xfrm>
            <a:off x="4347972" y="2532888"/>
            <a:ext cx="146304" cy="146304"/>
          </a:xfrm>
          <a:prstGeom prst="ellipse">
            <a:avLst/>
          </a:prstGeom>
          <a:solidFill>
            <a:srgbClr val="1F4E79"/>
          </a:solidFill>
          <a:ln w="12700">
            <a:solidFill>
              <a:srgbClr val="1F4E79"/>
            </a:solidFill>
            <a:prstDash val="solid"/>
          </a:ln>
        </p:spPr>
      </p:sp>
      <p:sp>
        <p:nvSpPr>
          <p:cNvPr id="13" name="Text 11"/>
          <p:cNvSpPr txBox="1"/>
          <p:nvPr/>
        </p:nvSpPr>
        <p:spPr>
          <a:xfrm>
            <a:off x="4943475" y="2478024"/>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+1.96</a:t>
            </a:r>
            <a:endParaRPr lang="en-US" sz="1300" dirty="0"/>
          </a:p>
        </p:txBody>
      </p:sp>
      <p:sp>
        <p:nvSpPr>
          <p:cNvPr id="14" name="axis"/>
          <p:cNvSpPr/>
          <p:nvPr/>
        </p:nvSpPr>
        <p:spPr>
          <a:xfrm>
            <a:off x="2377440" y="3063240"/>
            <a:ext cx="2743200" cy="0"/>
          </a:xfrm>
          <a:prstGeom prst="line">
            <a:avLst/>
          </a:prstGeom>
          <a:noFill/>
          <a:ln w="12700">
            <a:solidFill>
              <a:srgbClr val="777777"/>
            </a:solidFill>
            <a:prstDash val="solid"/>
          </a:ln>
        </p:spPr>
      </p:sp>
      <p:sp>
        <p:nvSpPr>
          <p:cNvPr id="15" name="Text 13"/>
          <p:cNvSpPr txBox="1"/>
          <p:nvPr/>
        </p:nvSpPr>
        <p:spPr>
          <a:xfrm>
            <a:off x="21031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16" name="Text 14"/>
          <p:cNvSpPr txBox="1"/>
          <p:nvPr/>
        </p:nvSpPr>
        <p:spPr>
          <a:xfrm>
            <a:off x="27889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7" name="Text 15"/>
          <p:cNvSpPr txBox="1"/>
          <p:nvPr/>
        </p:nvSpPr>
        <p:spPr>
          <a:xfrm>
            <a:off x="34747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18" name="Text 16"/>
          <p:cNvSpPr txBox="1"/>
          <p:nvPr/>
        </p:nvSpPr>
        <p:spPr>
          <a:xfrm>
            <a:off x="41605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9" name="Text 17"/>
          <p:cNvSpPr txBox="1"/>
          <p:nvPr/>
        </p:nvSpPr>
        <p:spPr>
          <a:xfrm>
            <a:off x="48463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2377440" y="3666744"/>
            <a:ext cx="2743200" cy="256032"/>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Difference in next-game ACPL, cp</a:t>
            </a:r>
            <a:endParaRPr lang="en-US" sz="1300" dirty="0"/>
          </a:p>
        </p:txBody>
      </p:sp>
      <p:sp>
        <p:nvSpPr>
          <p:cNvPr id="21" name="Text 19"/>
          <p:cNvSpPr txBox="1"/>
          <p:nvPr/>
        </p:nvSpPr>
        <p:spPr>
          <a:xfrm>
            <a:off x="5669280" y="1234440"/>
            <a:ext cx="301752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What it means</a:t>
            </a:r>
            <a:endParaRPr lang="en-US" sz="2000" dirty="0"/>
          </a:p>
        </p:txBody>
      </p:sp>
      <p:sp>
        <p:nvSpPr>
          <p:cNvPr id="22" name="Text 20"/>
          <p:cNvSpPr txBox="1"/>
          <p:nvPr/>
        </p:nvSpPr>
        <p:spPr>
          <a:xfrm>
            <a:off x="5669280" y="1691640"/>
            <a:ext cx="301752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Not chance: p = 0.003</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Not equal: it leaves the ±2 zone</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Official verdict: inconclusive, as 1.96 &lt; 2</a:t>
            </a:r>
            <a:endParaRPr lang="en-US" sz="2000" dirty="0"/>
          </a:p>
        </p:txBody>
      </p:sp>
      <p:sp>
        <p:nvSpPr>
          <p:cNvPr id="23" name="Text 21"/>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Raw means: 74.38 cp after a lucky win, 72.28 after a deserved win; 12,033 and 11,962 pairs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Every check gives the same answer: lucky winners play 1.8 to 2.3 cp worse</a:t>
            </a:r>
            <a:endParaRPr lang="en-US" sz="2600" dirty="0"/>
          </a:p>
        </p:txBody>
      </p:sp>
      <p:sp>
        <p:nvSpPr>
          <p:cNvPr id="3" name="zero"/>
          <p:cNvSpPr/>
          <p:nvPr/>
        </p:nvSpPr>
        <p:spPr>
          <a:xfrm>
            <a:off x="3879669" y="1143000"/>
            <a:ext cx="0" cy="2670048"/>
          </a:xfrm>
          <a:prstGeom prst="line">
            <a:avLst/>
          </a:prstGeom>
          <a:noFill/>
          <a:ln w="12700">
            <a:solidFill>
              <a:srgbClr val="777777"/>
            </a:solidFill>
            <a:prstDash val="dash"/>
          </a:ln>
        </p:spPr>
      </p:sp>
      <p:sp>
        <p:nvSpPr>
          <p:cNvPr id="4" name="Text 2"/>
          <p:cNvSpPr txBox="1"/>
          <p:nvPr/>
        </p:nvSpPr>
        <p:spPr>
          <a:xfrm>
            <a:off x="457200" y="1175004"/>
            <a:ext cx="2240280" cy="457200"/>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Main result</a:t>
            </a:r>
            <a:endParaRPr lang="en-US" sz="1400" dirty="0"/>
          </a:p>
        </p:txBody>
      </p:sp>
      <p:sp>
        <p:nvSpPr>
          <p:cNvPr id="5" name="ci 0"/>
          <p:cNvSpPr/>
          <p:nvPr/>
        </p:nvSpPr>
        <p:spPr>
          <a:xfrm>
            <a:off x="4224528" y="1403604"/>
            <a:ext cx="1363762" cy="0"/>
          </a:xfrm>
          <a:prstGeom prst="line">
            <a:avLst/>
          </a:prstGeom>
          <a:noFill/>
          <a:ln w="31750">
            <a:solidFill>
              <a:srgbClr val="C27C0E"/>
            </a:solidFill>
            <a:prstDash val="solid"/>
          </a:ln>
        </p:spPr>
      </p:sp>
      <p:sp>
        <p:nvSpPr>
          <p:cNvPr id="6" name="est 0"/>
          <p:cNvSpPr/>
          <p:nvPr/>
        </p:nvSpPr>
        <p:spPr>
          <a:xfrm>
            <a:off x="4830645" y="1330452"/>
            <a:ext cx="146304" cy="146304"/>
          </a:xfrm>
          <a:prstGeom prst="ellipse">
            <a:avLst/>
          </a:prstGeom>
          <a:solidFill>
            <a:srgbClr val="C27C0E"/>
          </a:solidFill>
          <a:ln w="12700">
            <a:solidFill>
              <a:srgbClr val="C27C0E"/>
            </a:solidFill>
            <a:prstDash val="solid"/>
          </a:ln>
        </p:spPr>
      </p:sp>
      <p:sp>
        <p:nvSpPr>
          <p:cNvPr id="7" name="Text 5"/>
          <p:cNvSpPr txBox="1"/>
          <p:nvPr/>
        </p:nvSpPr>
        <p:spPr>
          <a:xfrm>
            <a:off x="5661442" y="1275588"/>
            <a:ext cx="548640" cy="256032"/>
          </a:xfrm>
          <a:prstGeom prst="rect">
            <a:avLst/>
          </a:prstGeom>
          <a:noFill/>
          <a:ln/>
        </p:spPr>
        <p:txBody>
          <a:bodyPr wrap="square" lIns="0" tIns="0" rIns="0" bIns="0" rtlCol="0" anchor="ctr"/>
          <a:lstStyle/>
          <a:p>
            <a:pPr indent="0" marL="0">
              <a:buNone/>
            </a:pPr>
            <a:r>
              <a:rPr lang="en-US" sz="1300" b="1" dirty="0">
                <a:solidFill>
                  <a:srgbClr val="C27C0E"/>
                </a:solidFill>
                <a:latin typeface="Arial" pitchFamily="34" charset="0"/>
                <a:ea typeface="Arial" pitchFamily="34" charset="-122"/>
                <a:cs typeface="Arial" pitchFamily="34" charset="-120"/>
              </a:rPr>
              <a:t>+1.96</a:t>
            </a:r>
            <a:endParaRPr lang="en-US" sz="1300" dirty="0"/>
          </a:p>
        </p:txBody>
      </p:sp>
      <p:sp>
        <p:nvSpPr>
          <p:cNvPr id="8" name="Text 6"/>
          <p:cNvSpPr txBox="1"/>
          <p:nvPr/>
        </p:nvSpPr>
        <p:spPr>
          <a:xfrm>
            <a:off x="457200" y="1604772"/>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10-minute games only</a:t>
            </a:r>
            <a:endParaRPr lang="en-US" sz="1400" dirty="0"/>
          </a:p>
        </p:txBody>
      </p:sp>
      <p:sp>
        <p:nvSpPr>
          <p:cNvPr id="9" name="ci 1"/>
          <p:cNvSpPr/>
          <p:nvPr/>
        </p:nvSpPr>
        <p:spPr>
          <a:xfrm>
            <a:off x="4308130" y="1833372"/>
            <a:ext cx="1536192" cy="0"/>
          </a:xfrm>
          <a:prstGeom prst="line">
            <a:avLst/>
          </a:prstGeom>
          <a:noFill/>
          <a:ln w="31750">
            <a:solidFill>
              <a:srgbClr val="1F4E79"/>
            </a:solidFill>
            <a:prstDash val="solid"/>
          </a:ln>
        </p:spPr>
      </p:sp>
      <p:sp>
        <p:nvSpPr>
          <p:cNvPr id="10" name="est 1"/>
          <p:cNvSpPr/>
          <p:nvPr/>
        </p:nvSpPr>
        <p:spPr>
          <a:xfrm>
            <a:off x="5003074" y="1760220"/>
            <a:ext cx="146304" cy="146304"/>
          </a:xfrm>
          <a:prstGeom prst="ellipse">
            <a:avLst/>
          </a:prstGeom>
          <a:solidFill>
            <a:srgbClr val="1F4E79"/>
          </a:solidFill>
          <a:ln w="12700">
            <a:solidFill>
              <a:srgbClr val="1F4E79"/>
            </a:solidFill>
            <a:prstDash val="solid"/>
          </a:ln>
        </p:spPr>
      </p:sp>
      <p:sp>
        <p:nvSpPr>
          <p:cNvPr id="11" name="Text 9"/>
          <p:cNvSpPr txBox="1"/>
          <p:nvPr/>
        </p:nvSpPr>
        <p:spPr>
          <a:xfrm>
            <a:off x="5917474" y="1705356"/>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+2.29</a:t>
            </a:r>
            <a:endParaRPr lang="en-US" sz="1300" dirty="0"/>
          </a:p>
        </p:txBody>
      </p:sp>
      <p:sp>
        <p:nvSpPr>
          <p:cNvPr id="12" name="Text 10"/>
          <p:cNvSpPr txBox="1"/>
          <p:nvPr/>
        </p:nvSpPr>
        <p:spPr>
          <a:xfrm>
            <a:off x="457200" y="2034540"/>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Rematches removed</a:t>
            </a:r>
            <a:endParaRPr lang="en-US" sz="1400" dirty="0"/>
          </a:p>
        </p:txBody>
      </p:sp>
      <p:sp>
        <p:nvSpPr>
          <p:cNvPr id="13" name="ci 2"/>
          <p:cNvSpPr/>
          <p:nvPr/>
        </p:nvSpPr>
        <p:spPr>
          <a:xfrm>
            <a:off x="4156601" y="2263140"/>
            <a:ext cx="1384663" cy="0"/>
          </a:xfrm>
          <a:prstGeom prst="line">
            <a:avLst/>
          </a:prstGeom>
          <a:noFill/>
          <a:ln w="31750">
            <a:solidFill>
              <a:srgbClr val="1F4E79"/>
            </a:solidFill>
            <a:prstDash val="solid"/>
          </a:ln>
        </p:spPr>
      </p:sp>
      <p:sp>
        <p:nvSpPr>
          <p:cNvPr id="14" name="est 2"/>
          <p:cNvSpPr/>
          <p:nvPr/>
        </p:nvSpPr>
        <p:spPr>
          <a:xfrm>
            <a:off x="4773168" y="2189988"/>
            <a:ext cx="146304" cy="146304"/>
          </a:xfrm>
          <a:prstGeom prst="ellipse">
            <a:avLst/>
          </a:prstGeom>
          <a:solidFill>
            <a:srgbClr val="1F4E79"/>
          </a:solidFill>
          <a:ln w="12700">
            <a:solidFill>
              <a:srgbClr val="1F4E79"/>
            </a:solidFill>
            <a:prstDash val="solid"/>
          </a:ln>
        </p:spPr>
      </p:sp>
      <p:sp>
        <p:nvSpPr>
          <p:cNvPr id="15" name="Text 13"/>
          <p:cNvSpPr txBox="1"/>
          <p:nvPr/>
        </p:nvSpPr>
        <p:spPr>
          <a:xfrm>
            <a:off x="5614416" y="2135124"/>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+1.85</a:t>
            </a:r>
            <a:endParaRPr lang="en-US" sz="1300" dirty="0"/>
          </a:p>
        </p:txBody>
      </p:sp>
      <p:sp>
        <p:nvSpPr>
          <p:cNvPr id="16" name="Text 14"/>
          <p:cNvSpPr txBox="1"/>
          <p:nvPr/>
        </p:nvSpPr>
        <p:spPr>
          <a:xfrm>
            <a:off x="457200" y="2464308"/>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Rating 1200–1600</a:t>
            </a:r>
            <a:endParaRPr lang="en-US" sz="1400" dirty="0"/>
          </a:p>
        </p:txBody>
      </p:sp>
      <p:sp>
        <p:nvSpPr>
          <p:cNvPr id="17" name="ci 3"/>
          <p:cNvSpPr/>
          <p:nvPr/>
        </p:nvSpPr>
        <p:spPr>
          <a:xfrm>
            <a:off x="3790841" y="2692908"/>
            <a:ext cx="2074382" cy="0"/>
          </a:xfrm>
          <a:prstGeom prst="line">
            <a:avLst/>
          </a:prstGeom>
          <a:noFill/>
          <a:ln w="31750">
            <a:solidFill>
              <a:srgbClr val="1F4E79"/>
            </a:solidFill>
            <a:prstDash val="solid"/>
          </a:ln>
        </p:spPr>
      </p:sp>
      <p:sp>
        <p:nvSpPr>
          <p:cNvPr id="18" name="est 3"/>
          <p:cNvSpPr/>
          <p:nvPr/>
        </p:nvSpPr>
        <p:spPr>
          <a:xfrm>
            <a:off x="4757493" y="2619756"/>
            <a:ext cx="146304" cy="146304"/>
          </a:xfrm>
          <a:prstGeom prst="ellipse">
            <a:avLst/>
          </a:prstGeom>
          <a:solidFill>
            <a:srgbClr val="1F4E79"/>
          </a:solidFill>
          <a:ln w="12700">
            <a:solidFill>
              <a:srgbClr val="1F4E79"/>
            </a:solidFill>
            <a:prstDash val="solid"/>
          </a:ln>
        </p:spPr>
      </p:sp>
      <p:sp>
        <p:nvSpPr>
          <p:cNvPr id="19" name="Text 17"/>
          <p:cNvSpPr txBox="1"/>
          <p:nvPr/>
        </p:nvSpPr>
        <p:spPr>
          <a:xfrm>
            <a:off x="5938375" y="2564892"/>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+1.82</a:t>
            </a:r>
            <a:endParaRPr lang="en-US" sz="1300" dirty="0"/>
          </a:p>
        </p:txBody>
      </p:sp>
      <p:sp>
        <p:nvSpPr>
          <p:cNvPr id="20" name="Text 18"/>
          <p:cNvSpPr txBox="1"/>
          <p:nvPr/>
        </p:nvSpPr>
        <p:spPr>
          <a:xfrm>
            <a:off x="457200" y="2894076"/>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Rating 1600–2000</a:t>
            </a:r>
            <a:endParaRPr lang="en-US" sz="1400" dirty="0"/>
          </a:p>
        </p:txBody>
      </p:sp>
      <p:sp>
        <p:nvSpPr>
          <p:cNvPr id="21" name="ci 4"/>
          <p:cNvSpPr/>
          <p:nvPr/>
        </p:nvSpPr>
        <p:spPr>
          <a:xfrm>
            <a:off x="4120025" y="3122676"/>
            <a:ext cx="1734747" cy="0"/>
          </a:xfrm>
          <a:prstGeom prst="line">
            <a:avLst/>
          </a:prstGeom>
          <a:noFill/>
          <a:ln w="31750">
            <a:solidFill>
              <a:srgbClr val="1F4E79"/>
            </a:solidFill>
            <a:prstDash val="solid"/>
          </a:ln>
        </p:spPr>
      </p:sp>
      <p:sp>
        <p:nvSpPr>
          <p:cNvPr id="22" name="est 4"/>
          <p:cNvSpPr/>
          <p:nvPr/>
        </p:nvSpPr>
        <p:spPr>
          <a:xfrm>
            <a:off x="4914247" y="3049524"/>
            <a:ext cx="146304" cy="146304"/>
          </a:xfrm>
          <a:prstGeom prst="ellipse">
            <a:avLst/>
          </a:prstGeom>
          <a:solidFill>
            <a:srgbClr val="1F4E79"/>
          </a:solidFill>
          <a:ln w="12700">
            <a:solidFill>
              <a:srgbClr val="1F4E79"/>
            </a:solidFill>
            <a:prstDash val="solid"/>
          </a:ln>
        </p:spPr>
      </p:sp>
      <p:sp>
        <p:nvSpPr>
          <p:cNvPr id="23" name="Text 21"/>
          <p:cNvSpPr txBox="1"/>
          <p:nvPr/>
        </p:nvSpPr>
        <p:spPr>
          <a:xfrm>
            <a:off x="5927925" y="2994660"/>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+2.12</a:t>
            </a:r>
            <a:endParaRPr lang="en-US" sz="1300" dirty="0"/>
          </a:p>
        </p:txBody>
      </p:sp>
      <p:sp>
        <p:nvSpPr>
          <p:cNvPr id="24" name="Text 22"/>
          <p:cNvSpPr txBox="1"/>
          <p:nvPr/>
        </p:nvSpPr>
        <p:spPr>
          <a:xfrm>
            <a:off x="457200" y="3323844"/>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Lucky = losing by 3+ pawns</a:t>
            </a:r>
            <a:endParaRPr lang="en-US" sz="1400" dirty="0"/>
          </a:p>
        </p:txBody>
      </p:sp>
      <p:sp>
        <p:nvSpPr>
          <p:cNvPr id="25" name="ci 5"/>
          <p:cNvSpPr/>
          <p:nvPr/>
        </p:nvSpPr>
        <p:spPr>
          <a:xfrm>
            <a:off x="4146151" y="3552444"/>
            <a:ext cx="1473490" cy="0"/>
          </a:xfrm>
          <a:prstGeom prst="line">
            <a:avLst/>
          </a:prstGeom>
          <a:noFill/>
          <a:ln w="31750">
            <a:solidFill>
              <a:srgbClr val="1F4E79"/>
            </a:solidFill>
            <a:prstDash val="solid"/>
          </a:ln>
        </p:spPr>
      </p:sp>
      <p:sp>
        <p:nvSpPr>
          <p:cNvPr id="26" name="est 5"/>
          <p:cNvSpPr/>
          <p:nvPr/>
        </p:nvSpPr>
        <p:spPr>
          <a:xfrm>
            <a:off x="4809744" y="3479292"/>
            <a:ext cx="146304" cy="146304"/>
          </a:xfrm>
          <a:prstGeom prst="ellipse">
            <a:avLst/>
          </a:prstGeom>
          <a:solidFill>
            <a:srgbClr val="1F4E79"/>
          </a:solidFill>
          <a:ln w="12700">
            <a:solidFill>
              <a:srgbClr val="1F4E79"/>
            </a:solidFill>
            <a:prstDash val="solid"/>
          </a:ln>
        </p:spPr>
      </p:sp>
      <p:sp>
        <p:nvSpPr>
          <p:cNvPr id="27" name="Text 25"/>
          <p:cNvSpPr txBox="1"/>
          <p:nvPr/>
        </p:nvSpPr>
        <p:spPr>
          <a:xfrm>
            <a:off x="5692793" y="3424428"/>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+1.92</a:t>
            </a:r>
            <a:endParaRPr lang="en-US" sz="1300" dirty="0"/>
          </a:p>
        </p:txBody>
      </p:sp>
      <p:sp>
        <p:nvSpPr>
          <p:cNvPr id="28" name="axis"/>
          <p:cNvSpPr/>
          <p:nvPr/>
        </p:nvSpPr>
        <p:spPr>
          <a:xfrm>
            <a:off x="2834640" y="3813048"/>
            <a:ext cx="3657600" cy="0"/>
          </a:xfrm>
          <a:prstGeom prst="line">
            <a:avLst/>
          </a:prstGeom>
          <a:noFill/>
          <a:ln w="12700">
            <a:solidFill>
              <a:srgbClr val="777777"/>
            </a:solidFill>
            <a:prstDash val="solid"/>
          </a:ln>
        </p:spPr>
      </p:sp>
      <p:sp>
        <p:nvSpPr>
          <p:cNvPr id="29" name="Text 27"/>
          <p:cNvSpPr txBox="1"/>
          <p:nvPr/>
        </p:nvSpPr>
        <p:spPr>
          <a:xfrm>
            <a:off x="2560320" y="3849624"/>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30" name="Text 28"/>
          <p:cNvSpPr txBox="1"/>
          <p:nvPr/>
        </p:nvSpPr>
        <p:spPr>
          <a:xfrm>
            <a:off x="3605349" y="3849624"/>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31" name="Text 29"/>
          <p:cNvSpPr txBox="1"/>
          <p:nvPr/>
        </p:nvSpPr>
        <p:spPr>
          <a:xfrm>
            <a:off x="4650377" y="3849624"/>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32" name="Text 30"/>
          <p:cNvSpPr txBox="1"/>
          <p:nvPr/>
        </p:nvSpPr>
        <p:spPr>
          <a:xfrm>
            <a:off x="5695406" y="3849624"/>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33" name="Text 31"/>
          <p:cNvSpPr txBox="1"/>
          <p:nvPr/>
        </p:nvSpPr>
        <p:spPr>
          <a:xfrm>
            <a:off x="2834640" y="4416552"/>
            <a:ext cx="3657600" cy="256032"/>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Lucky minus deserved, cp (95% interval)</a:t>
            </a:r>
            <a:endParaRPr lang="en-US" sz="1300" dirty="0"/>
          </a:p>
        </p:txBody>
      </p:sp>
      <p:sp>
        <p:nvSpPr>
          <p:cNvPr id="34" name="Text 32"/>
          <p:cNvSpPr txBox="1"/>
          <p:nvPr/>
        </p:nvSpPr>
        <p:spPr>
          <a:xfrm>
            <a:off x="6766560" y="1188720"/>
            <a:ext cx="192024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Why checks</a:t>
            </a:r>
            <a:endParaRPr lang="en-US" sz="2000" dirty="0"/>
          </a:p>
        </p:txBody>
      </p:sp>
      <p:sp>
        <p:nvSpPr>
          <p:cNvPr id="35" name="Text 33"/>
          <p:cNvSpPr txBox="1"/>
          <p:nvPr/>
        </p:nvSpPr>
        <p:spPr>
          <a:xfrm>
            <a:off x="6766560" y="1645920"/>
            <a:ext cx="1920240" cy="201168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A real effect should survive changes to the method.</a:t>
            </a:r>
            <a:endParaRPr lang="en-US" sz="2000" dirty="0"/>
          </a:p>
        </p:txBody>
      </p:sp>
      <p:sp>
        <p:nvSpPr>
          <p:cNvPr id="36" name="Text 34"/>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A mixed model with a separate starting level per player also gave 1.96 cp (95% interval 0.66 to 3.27)</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The type of win itself still barely matters: every gap stayed within about 3 cp</a:t>
            </a:r>
            <a:endParaRPr lang="en-US" sz="2600" dirty="0"/>
          </a:p>
        </p:txBody>
      </p:sp>
      <p:sp>
        <p:nvSpPr>
          <p:cNvPr id="3" name="zone"/>
          <p:cNvSpPr/>
          <p:nvPr/>
        </p:nvSpPr>
        <p:spPr>
          <a:xfrm>
            <a:off x="3051810" y="1325880"/>
            <a:ext cx="2400300" cy="1975104"/>
          </a:xfrm>
          <a:prstGeom prst="rect">
            <a:avLst/>
          </a:prstGeom>
          <a:solidFill>
            <a:srgbClr val="EBF3FA"/>
          </a:solidFill>
          <a:ln w="12700">
            <a:solidFill>
              <a:srgbClr val="EBF3FA"/>
            </a:solidFill>
            <a:prstDash val="solid"/>
          </a:ln>
        </p:spPr>
      </p:sp>
      <p:sp>
        <p:nvSpPr>
          <p:cNvPr id="4" name="Text 2"/>
          <p:cNvSpPr txBox="1"/>
          <p:nvPr/>
        </p:nvSpPr>
        <p:spPr>
          <a:xfrm>
            <a:off x="2594610" y="3648456"/>
            <a:ext cx="3314700" cy="256032"/>
          </a:xfrm>
          <a:prstGeom prst="rect">
            <a:avLst/>
          </a:prstGeom>
          <a:noFill/>
          <a:ln/>
        </p:spPr>
        <p:txBody>
          <a:bodyPr wrap="square" lIns="0" tIns="0" rIns="0" bIns="0" rtlCol="0" anchor="t"/>
          <a:lstStyle/>
          <a:p>
            <a:pPr algn="ctr" indent="0" marL="0">
              <a:buNone/>
            </a:pPr>
            <a:r>
              <a:rPr lang="en-US" sz="1300" dirty="0">
                <a:solidFill>
                  <a:srgbClr val="2E75B6"/>
                </a:solidFill>
                <a:latin typeface="Arial" pitchFamily="34" charset="0"/>
                <a:ea typeface="Arial" pitchFamily="34" charset="-122"/>
                <a:cs typeface="Arial" pitchFamily="34" charset="-120"/>
              </a:rPr>
              <a:t>"no real difference" zone: ±3 cp</a:t>
            </a:r>
            <a:endParaRPr lang="en-US" sz="1300" dirty="0"/>
          </a:p>
        </p:txBody>
      </p:sp>
      <p:sp>
        <p:nvSpPr>
          <p:cNvPr id="5" name="zero"/>
          <p:cNvSpPr/>
          <p:nvPr/>
        </p:nvSpPr>
        <p:spPr>
          <a:xfrm>
            <a:off x="4251960" y="1280160"/>
            <a:ext cx="0" cy="2066544"/>
          </a:xfrm>
          <a:prstGeom prst="line">
            <a:avLst/>
          </a:prstGeom>
          <a:noFill/>
          <a:ln w="12700">
            <a:solidFill>
              <a:srgbClr val="777777"/>
            </a:solidFill>
            <a:prstDash val="dash"/>
          </a:ln>
        </p:spPr>
      </p:sp>
      <p:sp>
        <p:nvSpPr>
          <p:cNvPr id="6" name="Text 4"/>
          <p:cNvSpPr txBox="1"/>
          <p:nvPr/>
        </p:nvSpPr>
        <p:spPr>
          <a:xfrm>
            <a:off x="457200" y="1426464"/>
            <a:ext cx="205740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Time minus checkmate</a:t>
            </a:r>
            <a:endParaRPr lang="en-US" sz="1400" dirty="0"/>
          </a:p>
        </p:txBody>
      </p:sp>
      <p:sp>
        <p:nvSpPr>
          <p:cNvPr id="7" name="ci 0"/>
          <p:cNvSpPr/>
          <p:nvPr/>
        </p:nvSpPr>
        <p:spPr>
          <a:xfrm>
            <a:off x="3415856" y="1655064"/>
            <a:ext cx="1240155" cy="0"/>
          </a:xfrm>
          <a:prstGeom prst="line">
            <a:avLst/>
          </a:prstGeom>
          <a:noFill/>
          <a:ln w="31750">
            <a:solidFill>
              <a:srgbClr val="1F4E79"/>
            </a:solidFill>
            <a:prstDash val="solid"/>
          </a:ln>
        </p:spPr>
      </p:sp>
      <p:sp>
        <p:nvSpPr>
          <p:cNvPr id="8" name="est 0"/>
          <p:cNvSpPr/>
          <p:nvPr/>
        </p:nvSpPr>
        <p:spPr>
          <a:xfrm>
            <a:off x="3962781" y="1581912"/>
            <a:ext cx="146304" cy="146304"/>
          </a:xfrm>
          <a:prstGeom prst="ellipse">
            <a:avLst/>
          </a:prstGeom>
          <a:solidFill>
            <a:srgbClr val="1F4E79"/>
          </a:solidFill>
          <a:ln w="12700">
            <a:solidFill>
              <a:srgbClr val="1F4E79"/>
            </a:solidFill>
            <a:prstDash val="solid"/>
          </a:ln>
        </p:spPr>
      </p:sp>
      <p:sp>
        <p:nvSpPr>
          <p:cNvPr id="9" name="Text 7"/>
          <p:cNvSpPr txBox="1"/>
          <p:nvPr/>
        </p:nvSpPr>
        <p:spPr>
          <a:xfrm>
            <a:off x="4729163" y="1527048"/>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-0.54</a:t>
            </a:r>
            <a:endParaRPr lang="en-US" sz="1300" dirty="0"/>
          </a:p>
        </p:txBody>
      </p:sp>
      <p:sp>
        <p:nvSpPr>
          <p:cNvPr id="10" name="Text 8"/>
          <p:cNvSpPr txBox="1"/>
          <p:nvPr/>
        </p:nvSpPr>
        <p:spPr>
          <a:xfrm>
            <a:off x="457200" y="2084832"/>
            <a:ext cx="205740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Resignation minus checkmate</a:t>
            </a:r>
            <a:endParaRPr lang="en-US" sz="1400" dirty="0"/>
          </a:p>
        </p:txBody>
      </p:sp>
      <p:sp>
        <p:nvSpPr>
          <p:cNvPr id="11" name="ci 1"/>
          <p:cNvSpPr/>
          <p:nvPr/>
        </p:nvSpPr>
        <p:spPr>
          <a:xfrm>
            <a:off x="4011930" y="2313432"/>
            <a:ext cx="1256157" cy="0"/>
          </a:xfrm>
          <a:prstGeom prst="line">
            <a:avLst/>
          </a:prstGeom>
          <a:noFill/>
          <a:ln w="31750">
            <a:solidFill>
              <a:srgbClr val="1F4E79"/>
            </a:solidFill>
            <a:prstDash val="solid"/>
          </a:ln>
        </p:spPr>
      </p:sp>
      <p:sp>
        <p:nvSpPr>
          <p:cNvPr id="12" name="est 1"/>
          <p:cNvSpPr/>
          <p:nvPr/>
        </p:nvSpPr>
        <p:spPr>
          <a:xfrm>
            <a:off x="4566857" y="2240280"/>
            <a:ext cx="146304" cy="146304"/>
          </a:xfrm>
          <a:prstGeom prst="ellipse">
            <a:avLst/>
          </a:prstGeom>
          <a:solidFill>
            <a:srgbClr val="1F4E79"/>
          </a:solidFill>
          <a:ln w="12700">
            <a:solidFill>
              <a:srgbClr val="1F4E79"/>
            </a:solidFill>
            <a:prstDash val="solid"/>
          </a:ln>
        </p:spPr>
      </p:sp>
      <p:sp>
        <p:nvSpPr>
          <p:cNvPr id="13" name="Text 11"/>
          <p:cNvSpPr txBox="1"/>
          <p:nvPr/>
        </p:nvSpPr>
        <p:spPr>
          <a:xfrm>
            <a:off x="5341239" y="2185416"/>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+0.97</a:t>
            </a:r>
            <a:endParaRPr lang="en-US" sz="1300" dirty="0"/>
          </a:p>
        </p:txBody>
      </p:sp>
      <p:sp>
        <p:nvSpPr>
          <p:cNvPr id="14" name="Text 12"/>
          <p:cNvSpPr txBox="1"/>
          <p:nvPr/>
        </p:nvSpPr>
        <p:spPr>
          <a:xfrm>
            <a:off x="457200" y="2743200"/>
            <a:ext cx="2057400" cy="457200"/>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Time minus resignation</a:t>
            </a:r>
            <a:endParaRPr lang="en-US" sz="1400" dirty="0"/>
          </a:p>
        </p:txBody>
      </p:sp>
      <p:sp>
        <p:nvSpPr>
          <p:cNvPr id="15" name="ci 2"/>
          <p:cNvSpPr/>
          <p:nvPr/>
        </p:nvSpPr>
        <p:spPr>
          <a:xfrm>
            <a:off x="3031808" y="2971800"/>
            <a:ext cx="1232154" cy="0"/>
          </a:xfrm>
          <a:prstGeom prst="line">
            <a:avLst/>
          </a:prstGeom>
          <a:noFill/>
          <a:ln w="31750">
            <a:solidFill>
              <a:srgbClr val="C27C0E"/>
            </a:solidFill>
            <a:prstDash val="solid"/>
          </a:ln>
        </p:spPr>
      </p:sp>
      <p:sp>
        <p:nvSpPr>
          <p:cNvPr id="16" name="est 2"/>
          <p:cNvSpPr/>
          <p:nvPr/>
        </p:nvSpPr>
        <p:spPr>
          <a:xfrm>
            <a:off x="3574733" y="2898648"/>
            <a:ext cx="146304" cy="146304"/>
          </a:xfrm>
          <a:prstGeom prst="ellipse">
            <a:avLst/>
          </a:prstGeom>
          <a:solidFill>
            <a:srgbClr val="C27C0E"/>
          </a:solidFill>
          <a:ln w="12700">
            <a:solidFill>
              <a:srgbClr val="C27C0E"/>
            </a:solidFill>
            <a:prstDash val="solid"/>
          </a:ln>
        </p:spPr>
      </p:sp>
      <p:sp>
        <p:nvSpPr>
          <p:cNvPr id="17" name="Text 15"/>
          <p:cNvSpPr txBox="1"/>
          <p:nvPr/>
        </p:nvSpPr>
        <p:spPr>
          <a:xfrm>
            <a:off x="4337114" y="2843784"/>
            <a:ext cx="548640" cy="256032"/>
          </a:xfrm>
          <a:prstGeom prst="rect">
            <a:avLst/>
          </a:prstGeom>
          <a:noFill/>
          <a:ln/>
        </p:spPr>
        <p:txBody>
          <a:bodyPr wrap="square" lIns="0" tIns="0" rIns="0" bIns="0" rtlCol="0" anchor="ctr"/>
          <a:lstStyle/>
          <a:p>
            <a:pPr indent="0" marL="0">
              <a:buNone/>
            </a:pPr>
            <a:r>
              <a:rPr lang="en-US" sz="1300" b="1" dirty="0">
                <a:solidFill>
                  <a:srgbClr val="C27C0E"/>
                </a:solidFill>
                <a:latin typeface="Arial" pitchFamily="34" charset="0"/>
                <a:ea typeface="Arial" pitchFamily="34" charset="-122"/>
                <a:cs typeface="Arial" pitchFamily="34" charset="-120"/>
              </a:rPr>
              <a:t>-1.51</a:t>
            </a:r>
            <a:endParaRPr lang="en-US" sz="1300" dirty="0"/>
          </a:p>
        </p:txBody>
      </p:sp>
      <p:sp>
        <p:nvSpPr>
          <p:cNvPr id="18" name="axis"/>
          <p:cNvSpPr/>
          <p:nvPr/>
        </p:nvSpPr>
        <p:spPr>
          <a:xfrm>
            <a:off x="2651760" y="3346704"/>
            <a:ext cx="3200400" cy="0"/>
          </a:xfrm>
          <a:prstGeom prst="line">
            <a:avLst/>
          </a:prstGeom>
          <a:noFill/>
          <a:ln w="12700">
            <a:solidFill>
              <a:srgbClr val="777777"/>
            </a:solidFill>
            <a:prstDash val="solid"/>
          </a:ln>
        </p:spPr>
      </p:sp>
      <p:sp>
        <p:nvSpPr>
          <p:cNvPr id="19" name="Text 17"/>
          <p:cNvSpPr txBox="1"/>
          <p:nvPr/>
        </p:nvSpPr>
        <p:spPr>
          <a:xfrm>
            <a:off x="23774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31775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21" name="Text 19"/>
          <p:cNvSpPr txBox="1"/>
          <p:nvPr/>
        </p:nvSpPr>
        <p:spPr>
          <a:xfrm>
            <a:off x="39776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22" name="Text 20"/>
          <p:cNvSpPr txBox="1"/>
          <p:nvPr/>
        </p:nvSpPr>
        <p:spPr>
          <a:xfrm>
            <a:off x="47777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23" name="Text 21"/>
          <p:cNvSpPr txBox="1"/>
          <p:nvPr/>
        </p:nvSpPr>
        <p:spPr>
          <a:xfrm>
            <a:off x="55778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2651760" y="3950208"/>
            <a:ext cx="3200400" cy="256032"/>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Difference in next-game ACPL, cp (90% interval)</a:t>
            </a:r>
            <a:endParaRPr lang="en-US" sz="1300" dirty="0"/>
          </a:p>
        </p:txBody>
      </p:sp>
      <p:sp>
        <p:nvSpPr>
          <p:cNvPr id="25" name="Text 23"/>
          <p:cNvSpPr txBox="1"/>
          <p:nvPr/>
        </p:nvSpPr>
        <p:spPr>
          <a:xfrm>
            <a:off x="6035040" y="1234440"/>
            <a:ext cx="265176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Verdict: inconclusive</a:t>
            </a:r>
            <a:endParaRPr lang="en-US" sz="2000" dirty="0"/>
          </a:p>
        </p:txBody>
      </p:sp>
      <p:sp>
        <p:nvSpPr>
          <p:cNvPr id="26" name="Text 24"/>
          <p:cNvSpPr txBox="1"/>
          <p:nvPr/>
        </p:nvSpPr>
        <p:spPr>
          <a:xfrm>
            <a:off x="6035040" y="1691640"/>
            <a:ext cx="265176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No gap was significant (p = 0.26)</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One interval misses the zone by 0.05 cp</a:t>
            </a:r>
            <a:endParaRPr lang="en-US" sz="2000" dirty="0"/>
          </a:p>
        </p:txBody>
      </p:sp>
      <p:sp>
        <p:nvSpPr>
          <p:cNvPr id="27" name="Text 25"/>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About 6,000 pairs per group after a win on time, by checkmate and by resignation; Holm-corrected tests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Two separate studies on different games point the same way</a:t>
            </a:r>
            <a:endParaRPr lang="en-US" sz="2600" dirty="0"/>
          </a:p>
        </p:txBody>
      </p:sp>
      <p:sp>
        <p:nvSpPr>
          <p:cNvPr id="3" name="zero"/>
          <p:cNvSpPr/>
          <p:nvPr/>
        </p:nvSpPr>
        <p:spPr>
          <a:xfrm>
            <a:off x="3977640" y="1417320"/>
            <a:ext cx="0" cy="1828800"/>
          </a:xfrm>
          <a:prstGeom prst="line">
            <a:avLst/>
          </a:prstGeom>
          <a:noFill/>
          <a:ln w="12700">
            <a:solidFill>
              <a:srgbClr val="777777"/>
            </a:solidFill>
            <a:prstDash val="dash"/>
          </a:ln>
        </p:spPr>
      </p:sp>
      <p:sp>
        <p:nvSpPr>
          <p:cNvPr id="4" name="Text 2"/>
          <p:cNvSpPr txBox="1"/>
          <p:nvPr/>
        </p:nvSpPr>
        <p:spPr>
          <a:xfrm>
            <a:off x="457200" y="1668780"/>
            <a:ext cx="260604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Study 1: lucky vs checkmate (unplanned, n = 1,288)</a:t>
            </a:r>
            <a:endParaRPr lang="en-US" sz="1400" dirty="0"/>
          </a:p>
        </p:txBody>
      </p:sp>
      <p:sp>
        <p:nvSpPr>
          <p:cNvPr id="5" name="ci 0"/>
          <p:cNvSpPr/>
          <p:nvPr/>
        </p:nvSpPr>
        <p:spPr>
          <a:xfrm>
            <a:off x="3655085" y="1897380"/>
            <a:ext cx="2374468" cy="0"/>
          </a:xfrm>
          <a:prstGeom prst="line">
            <a:avLst/>
          </a:prstGeom>
          <a:noFill/>
          <a:ln w="31750">
            <a:solidFill>
              <a:srgbClr val="1F4E79"/>
            </a:solidFill>
            <a:prstDash val="solid"/>
          </a:ln>
        </p:spPr>
      </p:sp>
      <p:sp>
        <p:nvSpPr>
          <p:cNvPr id="6" name="est 0"/>
          <p:cNvSpPr/>
          <p:nvPr/>
        </p:nvSpPr>
        <p:spPr>
          <a:xfrm>
            <a:off x="4771111" y="1824228"/>
            <a:ext cx="146304" cy="146304"/>
          </a:xfrm>
          <a:prstGeom prst="ellipse">
            <a:avLst/>
          </a:prstGeom>
          <a:solidFill>
            <a:srgbClr val="1F4E79"/>
          </a:solidFill>
          <a:ln w="12700">
            <a:solidFill>
              <a:srgbClr val="1F4E79"/>
            </a:solidFill>
            <a:prstDash val="solid"/>
          </a:ln>
        </p:spPr>
      </p:sp>
      <p:sp>
        <p:nvSpPr>
          <p:cNvPr id="7" name="Text 5"/>
          <p:cNvSpPr txBox="1"/>
          <p:nvPr/>
        </p:nvSpPr>
        <p:spPr>
          <a:xfrm>
            <a:off x="6102706" y="1769364"/>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+2.23</a:t>
            </a:r>
            <a:endParaRPr lang="en-US" sz="1300" dirty="0"/>
          </a:p>
        </p:txBody>
      </p:sp>
      <p:sp>
        <p:nvSpPr>
          <p:cNvPr id="8" name="Text 6"/>
          <p:cNvSpPr txBox="1"/>
          <p:nvPr/>
        </p:nvSpPr>
        <p:spPr>
          <a:xfrm>
            <a:off x="457200" y="2537460"/>
            <a:ext cx="2606040" cy="457200"/>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Study 2: lucky vs deserved (planned, n = 12,033)</a:t>
            </a:r>
            <a:endParaRPr lang="en-US" sz="1400" dirty="0"/>
          </a:p>
        </p:txBody>
      </p:sp>
      <p:sp>
        <p:nvSpPr>
          <p:cNvPr id="9" name="ci 1"/>
          <p:cNvSpPr/>
          <p:nvPr/>
        </p:nvSpPr>
        <p:spPr>
          <a:xfrm>
            <a:off x="4234129" y="2766060"/>
            <a:ext cx="1014298" cy="0"/>
          </a:xfrm>
          <a:prstGeom prst="line">
            <a:avLst/>
          </a:prstGeom>
          <a:noFill/>
          <a:ln w="31750">
            <a:solidFill>
              <a:srgbClr val="C27C0E"/>
            </a:solidFill>
            <a:prstDash val="solid"/>
          </a:ln>
        </p:spPr>
      </p:sp>
      <p:sp>
        <p:nvSpPr>
          <p:cNvPr id="10" name="est 1"/>
          <p:cNvSpPr/>
          <p:nvPr/>
        </p:nvSpPr>
        <p:spPr>
          <a:xfrm>
            <a:off x="4666183" y="2692908"/>
            <a:ext cx="146304" cy="146304"/>
          </a:xfrm>
          <a:prstGeom prst="ellipse">
            <a:avLst/>
          </a:prstGeom>
          <a:solidFill>
            <a:srgbClr val="C27C0E"/>
          </a:solidFill>
          <a:ln w="12700">
            <a:solidFill>
              <a:srgbClr val="C27C0E"/>
            </a:solidFill>
            <a:prstDash val="solid"/>
          </a:ln>
        </p:spPr>
      </p:sp>
      <p:sp>
        <p:nvSpPr>
          <p:cNvPr id="11" name="Text 9"/>
          <p:cNvSpPr txBox="1"/>
          <p:nvPr/>
        </p:nvSpPr>
        <p:spPr>
          <a:xfrm>
            <a:off x="5321579" y="2638044"/>
            <a:ext cx="548640" cy="256032"/>
          </a:xfrm>
          <a:prstGeom prst="rect">
            <a:avLst/>
          </a:prstGeom>
          <a:noFill/>
          <a:ln/>
        </p:spPr>
        <p:txBody>
          <a:bodyPr wrap="square" lIns="0" tIns="0" rIns="0" bIns="0" rtlCol="0" anchor="ctr"/>
          <a:lstStyle/>
          <a:p>
            <a:pPr indent="0" marL="0">
              <a:buNone/>
            </a:pPr>
            <a:r>
              <a:rPr lang="en-US" sz="1300" b="1" dirty="0">
                <a:solidFill>
                  <a:srgbClr val="C27C0E"/>
                </a:solidFill>
                <a:latin typeface="Arial" pitchFamily="34" charset="0"/>
                <a:ea typeface="Arial" pitchFamily="34" charset="-122"/>
                <a:cs typeface="Arial" pitchFamily="34" charset="-120"/>
              </a:rPr>
              <a:t>+1.96</a:t>
            </a:r>
            <a:endParaRPr lang="en-US" sz="1300" dirty="0"/>
          </a:p>
        </p:txBody>
      </p:sp>
      <p:sp>
        <p:nvSpPr>
          <p:cNvPr id="12" name="axis"/>
          <p:cNvSpPr/>
          <p:nvPr/>
        </p:nvSpPr>
        <p:spPr>
          <a:xfrm>
            <a:off x="3200400" y="3246120"/>
            <a:ext cx="3108960" cy="0"/>
          </a:xfrm>
          <a:prstGeom prst="line">
            <a:avLst/>
          </a:prstGeom>
          <a:noFill/>
          <a:ln w="12700">
            <a:solidFill>
              <a:srgbClr val="777777"/>
            </a:solidFill>
            <a:prstDash val="solid"/>
          </a:ln>
        </p:spPr>
      </p:sp>
      <p:sp>
        <p:nvSpPr>
          <p:cNvPr id="13" name="Text 11"/>
          <p:cNvSpPr txBox="1"/>
          <p:nvPr/>
        </p:nvSpPr>
        <p:spPr>
          <a:xfrm>
            <a:off x="292608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370332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15" name="Text 13"/>
          <p:cNvSpPr txBox="1"/>
          <p:nvPr/>
        </p:nvSpPr>
        <p:spPr>
          <a:xfrm>
            <a:off x="448056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6" name="Text 14"/>
          <p:cNvSpPr txBox="1"/>
          <p:nvPr/>
        </p:nvSpPr>
        <p:spPr>
          <a:xfrm>
            <a:off x="525780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17" name="Text 15"/>
          <p:cNvSpPr txBox="1"/>
          <p:nvPr/>
        </p:nvSpPr>
        <p:spPr>
          <a:xfrm>
            <a:off x="603504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+6</a:t>
            </a:r>
            <a:endParaRPr lang="en-US" sz="1300" dirty="0"/>
          </a:p>
        </p:txBody>
      </p:sp>
      <p:sp>
        <p:nvSpPr>
          <p:cNvPr id="18" name="Text 16"/>
          <p:cNvSpPr txBox="1"/>
          <p:nvPr/>
        </p:nvSpPr>
        <p:spPr>
          <a:xfrm>
            <a:off x="3200400" y="3849624"/>
            <a:ext cx="3108960" cy="256032"/>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Extra next-game mistakes after a lucky win, cp (95% interval)</a:t>
            </a:r>
            <a:endParaRPr lang="en-US" sz="1300" dirty="0"/>
          </a:p>
        </p:txBody>
      </p:sp>
      <p:sp>
        <p:nvSpPr>
          <p:cNvPr id="19" name="Text 17"/>
          <p:cNvSpPr txBox="1"/>
          <p:nvPr/>
        </p:nvSpPr>
        <p:spPr>
          <a:xfrm>
            <a:off x="6583680" y="1325880"/>
            <a:ext cx="210312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9× more data</a:t>
            </a:r>
            <a:endParaRPr lang="en-US" sz="2000" dirty="0"/>
          </a:p>
        </p:txBody>
      </p:sp>
      <p:sp>
        <p:nvSpPr>
          <p:cNvPr id="20" name="Text 18"/>
          <p:cNvSpPr txBox="1"/>
          <p:nvPr/>
        </p:nvSpPr>
        <p:spPr>
          <a:xfrm>
            <a:off x="6583680" y="1828800"/>
            <a:ext cx="2103120" cy="201168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Same direction, similar size, much tighter interval.</a:t>
            </a:r>
            <a:endParaRPr lang="en-US" sz="2000" dirty="0"/>
          </a:p>
        </p:txBody>
      </p:sp>
      <p:sp>
        <p:nvSpPr>
          <p:cNvPr id="21" name="Text 19"/>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1: 1 to 5 Aug and 1 to 5 Sep 2026. Study 2: 6 to 30 Sep 2026. No game appears in both.</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5</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What it means</a:t>
            </a:r>
            <a:endParaRPr lang="en-US" sz="3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An undeserved win leaves a small after-effect, worth about 53 rating points</a:t>
            </a:r>
            <a:endParaRPr lang="en-US" sz="2600" dirty="0"/>
          </a:p>
        </p:txBody>
      </p:sp>
      <p:sp>
        <p:nvSpPr>
          <p:cNvPr id="3" name="Text 1"/>
          <p:cNvSpPr txBox="1"/>
          <p:nvPr/>
        </p:nvSpPr>
        <p:spPr>
          <a:xfrm>
            <a:off x="457200" y="1188720"/>
            <a:ext cx="393192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What we can say</a:t>
            </a:r>
            <a:endParaRPr lang="en-US" sz="2000" dirty="0"/>
          </a:p>
        </p:txBody>
      </p:sp>
      <p:sp>
        <p:nvSpPr>
          <p:cNvPr id="4" name="Text 2"/>
          <p:cNvSpPr txBox="1"/>
          <p:nvPr/>
        </p:nvSpPr>
        <p:spPr>
          <a:xfrm>
            <a:off x="457200" y="1645920"/>
            <a:ext cx="393192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Lucky winners play slightly worse next game</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The effect is consistent, not chance</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It sits on our 'matters' threshold</a:t>
            </a:r>
            <a:endParaRPr lang="en-US" sz="2000" dirty="0"/>
          </a:p>
        </p:txBody>
      </p:sp>
      <p:sp>
        <p:nvSpPr>
          <p:cNvPr id="5" name="Text 3"/>
          <p:cNvSpPr txBox="1"/>
          <p:nvPr/>
        </p:nvSpPr>
        <p:spPr>
          <a:xfrm>
            <a:off x="4754880" y="1188720"/>
            <a:ext cx="3931920" cy="365760"/>
          </a:xfrm>
          <a:prstGeom prst="rect">
            <a:avLst/>
          </a:prstGeom>
          <a:noFill/>
          <a:ln/>
        </p:spPr>
        <p:txBody>
          <a:bodyPr wrap="square" lIns="0" tIns="0" rIns="0" bIns="0" rtlCol="0" anchor="t"/>
          <a:lstStyle/>
          <a:p>
            <a:pPr indent="0" marL="0">
              <a:buNone/>
            </a:pPr>
            <a:r>
              <a:rPr lang="en-US" sz="2000" b="1" dirty="0">
                <a:solidFill>
                  <a:srgbClr val="C27C0E"/>
                </a:solidFill>
                <a:latin typeface="Arial" pitchFamily="34" charset="0"/>
                <a:ea typeface="Arial" pitchFamily="34" charset="-122"/>
                <a:cs typeface="Arial" pitchFamily="34" charset="-120"/>
              </a:rPr>
              <a:t>What we cannot say</a:t>
            </a:r>
            <a:endParaRPr lang="en-US" sz="2000" dirty="0"/>
          </a:p>
        </p:txBody>
      </p:sp>
      <p:sp>
        <p:nvSpPr>
          <p:cNvPr id="6" name="Text 4"/>
          <p:cNvSpPr txBox="1"/>
          <p:nvPr/>
        </p:nvSpPr>
        <p:spPr>
          <a:xfrm>
            <a:off x="4754880" y="1645920"/>
            <a:ext cx="393192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Why it happens</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Anything about blitz or bullet</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Anything beyond moves 15–30</a:t>
            </a:r>
            <a:endParaRPr lang="en-US" sz="2000" dirty="0"/>
          </a:p>
        </p:txBody>
      </p:sp>
      <p:sp>
        <p:nvSpPr>
          <p:cNvPr id="7" name="Text 5"/>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Other limits: one month of data; ratings 1200–2000; run before teacher approval of the plan</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457200"/>
          </a:xfrm>
          <a:prstGeom prst="rect">
            <a:avLst/>
          </a:prstGeom>
          <a:noFill/>
          <a:ln/>
        </p:spPr>
        <p:txBody>
          <a:bodyPr wrap="square" lIns="0" tIns="0" rIns="0" bIns="0" rtlCol="0" anchor="t"/>
          <a:lstStyle/>
          <a:p>
            <a:pPr algn="l" indent="0" marL="0">
              <a:buNone/>
            </a:pPr>
            <a:r>
              <a:rPr lang="en-US" sz="2000" dirty="0">
                <a:solidFill>
                  <a:schemeClr val="accent5"/>
                </a:solidFill>
              </a:rPr>
              <a:t>Conclusions</a:t>
            </a:r>
            <a:endParaRPr lang="en-US" sz="2000" dirty="0"/>
          </a:p>
        </p:txBody>
      </p:sp>
      <p:sp>
        <p:nvSpPr>
          <p:cNvPr id="3" name="Text 1"/>
          <p:cNvSpPr txBox="1"/>
          <p:nvPr/>
        </p:nvSpPr>
        <p:spPr>
          <a:xfrm>
            <a:off x="457200" y="868680"/>
            <a:ext cx="8229600" cy="3108960"/>
          </a:xfrm>
          <a:prstGeom prst="rect">
            <a:avLst/>
          </a:prstGeom>
          <a:noFill/>
          <a:ln/>
        </p:spPr>
        <p:txBody>
          <a:bodyPr wrap="square" lIns="0" tIns="0" rIns="0" bIns="0" rtlCol="0" anchor="t"/>
          <a:lstStyle/>
          <a:p>
            <a:pPr indent="0" marL="0">
              <a:spcAft>
                <a:spcPts val="1800"/>
              </a:spcAft>
              <a:buNone/>
            </a:pPr>
            <a:r>
              <a:rPr lang="en-US" sz="2000" b="1" dirty="0">
                <a:solidFill>
                  <a:schemeClr val="bg1"/>
                </a:solidFill>
                <a:latin typeface="Arial" pitchFamily="34" charset="0"/>
                <a:ea typeface="Arial" pitchFamily="34" charset="-122"/>
                <a:cs typeface="Arial" pitchFamily="34" charset="-120"/>
              </a:rPr>
              <a:t>1. Lucky time winners played worse next game: </a:t>
            </a:r>
            <a:pPr indent="0" marL="0">
              <a:spcAft>
                <a:spcPts val="1800"/>
              </a:spcAft>
              <a:buNone/>
            </a:pPr>
            <a:r>
              <a:rPr lang="en-US" sz="2000" dirty="0">
                <a:solidFill>
                  <a:schemeClr val="bg1"/>
                </a:solidFill>
                <a:latin typeface="Arial" pitchFamily="34" charset="0"/>
                <a:ea typeface="Arial" pitchFamily="34" charset="-122"/>
                <a:cs typeface="Arial" pitchFamily="34" charset="-120"/>
              </a:rPr>
              <a:t>+1.96 cp per move (p = 0.003), about 53 rating points.</a:t>
            </a:r>
            <a:endParaRPr lang="en-US" sz="2000" dirty="0"/>
          </a:p>
          <a:p>
            <a:pPr indent="0" marL="0">
              <a:spcAft>
                <a:spcPts val="1800"/>
              </a:spcAft>
              <a:buNone/>
            </a:pPr>
            <a:r>
              <a:rPr lang="en-US" sz="2000" b="1" dirty="0">
                <a:solidFill>
                  <a:schemeClr val="bg1"/>
                </a:solidFill>
                <a:latin typeface="Arial" pitchFamily="34" charset="0"/>
                <a:ea typeface="Arial" pitchFamily="34" charset="-122"/>
                <a:cs typeface="Arial" pitchFamily="34" charset="-120"/>
              </a:rPr>
              <a:t>2. 'Players reset' was not supported, </a:t>
            </a:r>
            <a:pPr indent="0" marL="0">
              <a:spcAft>
                <a:spcPts val="1800"/>
              </a:spcAft>
              <a:buNone/>
            </a:pPr>
            <a:r>
              <a:rPr lang="en-US" sz="2000" dirty="0">
                <a:solidFill>
                  <a:schemeClr val="bg1"/>
                </a:solidFill>
                <a:latin typeface="Arial" pitchFamily="34" charset="0"/>
                <a:ea typeface="Arial" pitchFamily="34" charset="-122"/>
                <a:cs typeface="Arial" pitchFamily="34" charset="-120"/>
              </a:rPr>
              <a:t>but the result sits 0.04 cp short of the planned 'refuted' bar.</a:t>
            </a:r>
            <a:endParaRPr lang="en-US" sz="2000" dirty="0"/>
          </a:p>
          <a:p>
            <a:pPr indent="0" marL="0">
              <a:spcAft>
                <a:spcPts val="1800"/>
              </a:spcAft>
              <a:buNone/>
            </a:pPr>
            <a:r>
              <a:rPr lang="en-US" sz="2000" b="1" dirty="0">
                <a:solidFill>
                  <a:schemeClr val="bg1"/>
                </a:solidFill>
                <a:latin typeface="Arial" pitchFamily="34" charset="0"/>
                <a:ea typeface="Arial" pitchFamily="34" charset="-122"/>
                <a:cs typeface="Arial" pitchFamily="34" charset="-120"/>
              </a:rPr>
              <a:t>3. How you win barely matters; whether you deserved it might.</a:t>
            </a:r>
            <a:endParaRPr lang="en-US" sz="2000" dirty="0"/>
          </a:p>
        </p:txBody>
      </p:sp>
      <p:sp>
        <p:nvSpPr>
          <p:cNvPr id="4" name="Text 2"/>
          <p:cNvSpPr txBox="1"/>
          <p:nvPr/>
        </p:nvSpPr>
        <p:spPr>
          <a:xfrm>
            <a:off x="457200" y="4389120"/>
            <a:ext cx="8229600" cy="365760"/>
          </a:xfrm>
          <a:prstGeom prst="rect">
            <a:avLst/>
          </a:prstGeom>
          <a:noFill/>
          <a:ln/>
        </p:spPr>
        <p:txBody>
          <a:bodyPr wrap="square" lIns="0" tIns="0" rIns="0" bIns="0" rtlCol="0" anchor="t"/>
          <a:lstStyle/>
          <a:p>
            <a:pPr indent="0" marL="0">
              <a:buNone/>
            </a:pPr>
            <a:r>
              <a:rPr lang="en-US" sz="1400" dirty="0">
                <a:solidFill>
                  <a:srgbClr val="A0BBDD"/>
                </a:solidFill>
                <a:latin typeface="Arial" pitchFamily="34" charset="0"/>
                <a:ea typeface="Arial" pitchFamily="34" charset="-122"/>
                <a:cs typeface="Arial" pitchFamily="34" charset="-120"/>
              </a:rPr>
              <a:t>Code, data and both preregistrations: github.com/KaranaGulati/ContinuedLearningResearch</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References</a:t>
            </a:r>
            <a:endParaRPr lang="en-US" sz="2600" dirty="0"/>
          </a:p>
        </p:txBody>
      </p:sp>
      <p:sp>
        <p:nvSpPr>
          <p:cNvPr id="3" name="Text 1"/>
          <p:cNvSpPr txBox="1"/>
          <p:nvPr/>
        </p:nvSpPr>
        <p:spPr>
          <a:xfrm>
            <a:off x="457200" y="1188720"/>
            <a:ext cx="8229600" cy="3383280"/>
          </a:xfrm>
          <a:prstGeom prst="rect">
            <a:avLst/>
          </a:prstGeom>
          <a:noFill/>
          <a:ln/>
        </p:spPr>
        <p:txBody>
          <a:bodyPr wrap="square" lIns="0" tIns="0" rIns="0" bIns="0" rtlCol="0" anchor="t"/>
          <a:lstStyle/>
          <a:p>
            <a:pPr indent="0" marL="0">
              <a:spcAft>
                <a:spcPts val="1000"/>
              </a:spcAft>
              <a:buNone/>
            </a:pPr>
            <a:r>
              <a:rPr lang="en-US" sz="1400" dirty="0">
                <a:solidFill>
                  <a:schemeClr val="tx1"/>
                </a:solidFill>
                <a:latin typeface="Arial" pitchFamily="34" charset="0"/>
                <a:ea typeface="Arial" pitchFamily="34" charset="-122"/>
                <a:cs typeface="Arial" pitchFamily="34" charset="-120"/>
              </a:rPr>
              <a:t>Backus, Cubel, Guid, Sanchez-Pages &amp; Lopez Manas (2023). Quantitative Economics, 14(1), 349-380.</a:t>
            </a:r>
            <a:endParaRPr lang="en-US" sz="1400" dirty="0"/>
          </a:p>
          <a:p>
            <a:pPr indent="0" marL="0">
              <a:spcAft>
                <a:spcPts val="1000"/>
              </a:spcAft>
              <a:buNone/>
            </a:pPr>
            <a:r>
              <a:rPr lang="en-US" sz="1400" dirty="0">
                <a:solidFill>
                  <a:schemeClr val="tx1"/>
                </a:solidFill>
                <a:latin typeface="Arial" pitchFamily="34" charset="0"/>
                <a:ea typeface="Arial" pitchFamily="34" charset="-122"/>
                <a:cs typeface="Arial" pitchFamily="34" charset="-120"/>
              </a:rPr>
              <a:t>Chowdhary, Iacopini &amp; Battiston (2023). Scientific Reports, 13, 2113.</a:t>
            </a:r>
            <a:endParaRPr lang="en-US" sz="1400" dirty="0"/>
          </a:p>
          <a:p>
            <a:pPr indent="0" marL="0">
              <a:spcAft>
                <a:spcPts val="1000"/>
              </a:spcAft>
              <a:buNone/>
            </a:pPr>
            <a:r>
              <a:rPr lang="en-US" sz="1400" dirty="0">
                <a:solidFill>
                  <a:schemeClr val="tx1"/>
                </a:solidFill>
                <a:latin typeface="Arial" pitchFamily="34" charset="0"/>
                <a:ea typeface="Arial" pitchFamily="34" charset="-122"/>
                <a:cs typeface="Arial" pitchFamily="34" charset="-120"/>
              </a:rPr>
              <a:t>Gee, Seese, Curley &amp; Ward (2025). Journal of Quantitative Analysis in Sports, 22(2), 117-132. Preprint arXiv:2503.21713.</a:t>
            </a:r>
            <a:endParaRPr lang="en-US" sz="1400" dirty="0"/>
          </a:p>
          <a:p>
            <a:pPr indent="0" marL="0">
              <a:spcAft>
                <a:spcPts val="1000"/>
              </a:spcAft>
              <a:buNone/>
            </a:pPr>
            <a:r>
              <a:rPr lang="en-US" sz="1400" dirty="0">
                <a:solidFill>
                  <a:schemeClr val="tx1"/>
                </a:solidFill>
                <a:latin typeface="Arial" pitchFamily="34" charset="0"/>
                <a:ea typeface="Arial" pitchFamily="34" charset="-122"/>
                <a:cs typeface="Arial" pitchFamily="34" charset="-120"/>
              </a:rPr>
              <a:t>Guid &amp; Bratko (2006). Computer analysis of world chess champions. ICGA Journal, 29(2), 65-73.</a:t>
            </a:r>
            <a:endParaRPr lang="en-US" sz="1400" dirty="0"/>
          </a:p>
          <a:p>
            <a:pPr indent="0" marL="0">
              <a:spcAft>
                <a:spcPts val="1000"/>
              </a:spcAft>
              <a:buNone/>
            </a:pPr>
            <a:r>
              <a:rPr lang="en-US" sz="1400" dirty="0">
                <a:solidFill>
                  <a:schemeClr val="tx1"/>
                </a:solidFill>
                <a:latin typeface="Arial" pitchFamily="34" charset="0"/>
                <a:ea typeface="Arial" pitchFamily="34" charset="-122"/>
                <a:cs typeface="Arial" pitchFamily="34" charset="-120"/>
              </a:rPr>
              <a:t>Lichess open database (2026). database.lichess.org, CC0.</a:t>
            </a:r>
            <a:endParaRPr lang="en-US" sz="1400" dirty="0"/>
          </a:p>
          <a:p>
            <a:pPr indent="0" marL="0">
              <a:spcAft>
                <a:spcPts val="1000"/>
              </a:spcAft>
              <a:buNone/>
            </a:pPr>
            <a:r>
              <a:rPr lang="en-US" sz="1400" dirty="0">
                <a:solidFill>
                  <a:schemeClr val="tx1"/>
                </a:solidFill>
                <a:latin typeface="Arial" pitchFamily="34" charset="0"/>
                <a:ea typeface="Arial" pitchFamily="34" charset="-122"/>
                <a:cs typeface="Arial" pitchFamily="34" charset="-120"/>
              </a:rPr>
              <a:t>Karana Gulati (2026). Study 1 and study 2 preregistrations and results. github.com/KaranaGulati/ContinuedLearningResearch.</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Appendix: glossary of every term used</a:t>
            </a:r>
            <a:endParaRPr lang="en-US" sz="26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468880"/>
                <a:gridCol w="5760720"/>
              </a:tblGrid>
              <a:tr h="329184">
                <a:tc>
                  <a:txBody>
                    <a:bodyPr/>
                    <a:lstStyle/>
                    <a:p>
                      <a:pPr indent="0" marL="0">
                        <a:buNone/>
                      </a:pPr>
                      <a:r>
                        <a:rPr lang="en-US" sz="1300" b="1" dirty="0">
                          <a:solidFill>
                            <a:srgbClr val="FFFFFF"/>
                          </a:solidFill>
                          <a:latin typeface="Arial" pitchFamily="34" charset="0"/>
                          <a:ea typeface="Arial" pitchFamily="34" charset="-122"/>
                          <a:cs typeface="Arial" pitchFamily="34" charset="-120"/>
                        </a:rPr>
                        <a:t>Term</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Meaning</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Centipawn (cp)</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1/100 of a pawn; the unit of a chess computer's score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ACPL</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average score lost per move; lower is better</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Lucky time win</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won on time while losing by more than 1 pawn</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Regression</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line of best fit that separates several effects</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Standard error (SE)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how much an estimate would wobble with other games</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Confidence interval</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range of values the data can believe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p-value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how often a gap this big appears if there is no real effect</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Equivalence test (TOST)</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checks a difference is inside a 'too small to matter' zone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Preregistration</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the plan, dated and saved before scoring the data</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Chess Study 2">
  <a:themeElements>
    <a:clrScheme name="Chess Study 2">
      <a:dk1>
        <a:srgbClr val="2D2D2D"/>
      </a:dk1>
      <a:lt1>
        <a:srgbClr val="FFFFFF"/>
      </a:lt1>
      <a:dk2>
        <a:srgbClr val="1F4E79"/>
      </a:dk2>
      <a:lt2>
        <a:srgbClr val="EBF3FA"/>
      </a:lt2>
      <a:accent1>
        <a:srgbClr val="2E75B6"/>
      </a:accent1>
      <a:accent2>
        <a:srgbClr val="1F4E79"/>
      </a:accent2>
      <a:accent3>
        <a:srgbClr val="C27C0E"/>
      </a:accent3>
      <a:accent4>
        <a:srgbClr val="777777"/>
      </a:accent4>
      <a:accent5>
        <a:srgbClr val="A0BBDD"/>
      </a:accent5>
      <a:accent6>
        <a:srgbClr val="FFF2CC"/>
      </a:accent6>
      <a:hlink>
        <a:srgbClr val="2E75B6"/>
      </a:hlink>
      <a:folHlink>
        <a:srgbClr val="1F4E79"/>
      </a:folHlink>
    </a:clrScheme>
    <a:fontScheme name="Chess Study 2">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lucky wins make chess players play worse in their next game?</dc:title>
  <dc:subject>PptxGenJS Presentation</dc:subject>
  <dc:creator>Karana Gulati</dc:creator>
  <cp:lastModifiedBy>Karana Gulati</cp:lastModifiedBy>
  <cp:revision>1</cp:revision>
  <dcterms:created xsi:type="dcterms:W3CDTF">2026-10-13T03:31:42Z</dcterms:created>
  <dcterms:modified xsi:type="dcterms:W3CDTF">2026-10-13T03:31:42Z</dcterms:modified>
</cp:coreProperties>
</file>